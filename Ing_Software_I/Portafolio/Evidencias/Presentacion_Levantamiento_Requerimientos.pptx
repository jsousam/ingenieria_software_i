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3" d="100"/>
          <a:sy n="63" d="100"/>
        </p:scale>
        <p:origin x="78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909778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Buenos días/tardes. Hoy presentaré el tema Levantamiento de Requerimientos, la primera etapa clave del desarrollo de software. Veremos qué es, quiénes participan, cómo se hace, qué técnicas se usan y cómo se documenta y valida.</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orden de la presentación. Empezamos por los conceptos básicos y terminamos con problemas frecuentes y buenas prácticas. La investigación se basó en libros de texto de ingeniería de software y en la norma ISO/IEC/IEEE 29148.</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requerimiento es una necesidad expresada con suficiente claridad para poder diseñarla, construirla y probarla. Fíjense en el ejemplo: la necesidad está en lenguaje cotidiano; el requerimiento es preciso, indica quién, qué y en qué condiciones.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es solo preguntarle al cliente qué quiere. Los usuarios muchas veces no saben expresar lo que necesitan, usan el vocabulario de su área o dan por obvias ciertas cosas. Por eso el levantamiento implica descubrir, comprender y acordar.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Project Management Institute encontró en 2014 que el 47 % de los proyectos no exitosos fallan por una gestión inadecuada de los requerimientos, y que 5,1 % de cada dólar se desperdicia por lo mismo. Son datos de proyectos en general, no solo de software, pero muestran la magnitud del problema. Además, los autores clásicos coinciden en que corregir tarde es mucho más caro.</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requerimientos se pueden ver en tres niveles. Los de negocio explican el porqué del proyecto; los de usuario, qué necesitan hacer las personas; y los de sistema, qué debe hacer y cómo debe comportarse el software. En el ejemplo de la biblioteca se ve cómo cada nivel concreta al anterior.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funcionales describen servicios: qué hace el sistema. Los no funcionales describen propiedades: rendimiento, seguridad, usabilidad, disponibilidad. Un sistema con todas las funciones correctas pero lento o inseguro será rechazado, por eso los no funcionales deben analizarse desde el principio. Además se capturan reglas de negocio, interfaces y restricciones.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actor es cualquier persona o grupo afectado por el sistema o que puede influir en él. Si alguien no es consultado, su necesidad se convierte tarde o temprano en un requerimiento omitido. El analista actúa como puente: necesita escucha activa, pensamiento analítico y habilidades de negociación. También se pueden clasificar los actores según su interés e influencia para decidir cuánta atención dedicarles.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Proponemos seis etapas, adaptadas de Sommerville y Pressman: identificar, obtener, analizar, negociar, especificar y validar, acompañadas de gestión de cambios. Aunque se ven en secuencia, en la práctica se repiten: al validar con el usuario suelen aparecer requerimientos nuevos y se vuelve a obtener y analizar. Eso es normal.</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Ninguna técnica basta por sí sola; lo habitual es combinarlas. La entrevista es la más usada; los cuestionarios llegan a muchas personas; la observación revela lo que la gente realmente hace; los talleres JAD, desarrollados por IBM, resuelven conflictos en el momento; el análisis de documentos prepara las reuniones; y los prototipos permiten que el usuario reaccione ante algo tangible.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elección depende del número de actores, el tiempo, el presupuesto y la novedad del sistema. Si se reemplaza un sistema existente, la observación y el análisis de documentos aportan mucho; para un producto nuevo, los prototipos y talleres resultan más útiles.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Estas son las características que la norma ISO 29148 pide a cada requerimiento. Un ejemplo claro: decir que el sistema debe ser rápido no se puede medir; en cambio, indicar menos de 3 segundos con 200 usuarios sí. Y si un enunciado contiene una 'y', probablemente son dos requerimientos.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Hay tres formas principales de documentar. El documento de especificación, o ERS, con la estructura clásica de la norma IEEE 830, hoy reemplazada por la ISO 29148. Los casos de uso, que describen una interacción completa entre un actor y el sistema. Y las historias de usuario, muy usadas en metodologías ágiles, con criterios de aceptación.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Aquí vemos un fragmento de especificación para un sistema de préstamos de biblioteca universitaria. Observen que cada línea tiene un código único, una sola idea, un tipo y una prioridad. Esto facilita la trazabilidad y las pruebas.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MoSCoW clasifica los requerimientos en cuatro categorías: debe, debería, podría y no por ahora. Sirve para negociar con los actores y decidir qué se entrega primero. Es recomendable que la categoría 'debe' no ocupe toda la capacidad del equipo, para dejar margen a imprevistos.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Validar es preguntar si estamos definiendo el sistema correcto; no confundir con verificar, que comprueba que lo construido cumple lo especificado. Los requerimientos van a cambiar; lo peligroso es el cambio sin control. Por eso se define una línea base y un procedimiento de cambios, y se mantiene la trazabilidad.</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los enfoques secuenciales el levantamiento se concentra al inicio y se produce un ERS aprobado. En los ágiles, los requerimientos se registran como historias en un backlog priorizado y se refinan en cada iteración con retroalimentación del cliente. No desaparece el levantamiento; se distribuye durante el proyecto.</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Pressman agrupa las dificultades en problemas de alcance, de comprensión y de volatilidad. En la práctica se ven como ambigüedad, alcance que crece, requerimientos que los usuarios no mencionan por obvios, y poca disponibilidad de los actores. Las buenas prácticas ayudan a evitarlos: involucrar a los usuarios, usar glosario, combinar técnicas y controlar los cambios.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concluir: el levantamiento es la base sobre la que se apoya todo el proyecto. Requiere descubrir, analizar y acordar; combinar técnicas; redactar requerimientos claros y verificables; y gestionar los cambios de forma ordenada. Muchas gracias. Quedo atento(a) a sus preguntas.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3.png"/><Relationship Id="rId7"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22.png"/></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23.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545"/>
        </a:solidFill>
        <a:effectLst/>
      </p:bgPr>
    </p:bg>
    <p:spTree>
      <p:nvGrpSpPr>
        <p:cNvPr id="1" name=""/>
        <p:cNvGrpSpPr/>
        <p:nvPr/>
      </p:nvGrpSpPr>
      <p:grpSpPr>
        <a:xfrm>
          <a:off x="0" y="0"/>
          <a:ext cx="0" cy="0"/>
          <a:chOff x="0" y="0"/>
          <a:chExt cx="0" cy="0"/>
        </a:xfrm>
      </p:grpSpPr>
      <p:sp>
        <p:nvSpPr>
          <p:cNvPr id="2" name="Text 0"/>
          <p:cNvSpPr txBox="1"/>
          <p:nvPr/>
        </p:nvSpPr>
        <p:spPr>
          <a:xfrm>
            <a:off x="822960" y="1097280"/>
            <a:ext cx="8229600" cy="411480"/>
          </a:xfrm>
          <a:prstGeom prst="rect">
            <a:avLst/>
          </a:prstGeom>
          <a:noFill/>
          <a:ln/>
        </p:spPr>
        <p:txBody>
          <a:bodyPr wrap="square" lIns="0" tIns="0" rIns="0" bIns="0" rtlCol="0" anchor="ctr"/>
          <a:lstStyle/>
          <a:p>
            <a:pPr marL="0" indent="0">
              <a:buNone/>
            </a:pPr>
            <a:r>
              <a:rPr lang="en-US" sz="1800" b="1" dirty="0">
                <a:solidFill>
                  <a:srgbClr val="F2A541"/>
                </a:solidFill>
                <a:latin typeface="Calibri" pitchFamily="34" charset="0"/>
                <a:ea typeface="Calibri" pitchFamily="34" charset="-122"/>
                <a:cs typeface="Calibri" pitchFamily="34" charset="-120"/>
              </a:rPr>
              <a:t>Ingeniería de Software Aplicada I</a:t>
            </a:r>
            <a:endParaRPr lang="en-US" sz="1800" dirty="0"/>
          </a:p>
        </p:txBody>
      </p:sp>
      <p:sp>
        <p:nvSpPr>
          <p:cNvPr id="3" name="Text 1"/>
          <p:cNvSpPr txBox="1"/>
          <p:nvPr/>
        </p:nvSpPr>
        <p:spPr>
          <a:xfrm>
            <a:off x="822960" y="1691640"/>
            <a:ext cx="7863840" cy="2286000"/>
          </a:xfrm>
          <a:prstGeom prst="rect">
            <a:avLst/>
          </a:prstGeom>
          <a:noFill/>
          <a:ln/>
        </p:spPr>
        <p:txBody>
          <a:bodyPr wrap="square" lIns="0" tIns="0" rIns="0" bIns="0" rtlCol="0" anchor="t"/>
          <a:lstStyle/>
          <a:p>
            <a:pPr marL="0" indent="0">
              <a:buNone/>
            </a:pPr>
            <a:r>
              <a:rPr lang="en-US" sz="5400" b="1" dirty="0">
                <a:solidFill>
                  <a:srgbClr val="FFFFFF"/>
                </a:solidFill>
                <a:latin typeface="Cambria" pitchFamily="34" charset="0"/>
                <a:ea typeface="Cambria" pitchFamily="34" charset="-122"/>
                <a:cs typeface="Cambria" pitchFamily="34" charset="-120"/>
              </a:rPr>
              <a:t>Levantamiento de requerimientos</a:t>
            </a:r>
            <a:endParaRPr lang="en-US" sz="5400" dirty="0"/>
          </a:p>
        </p:txBody>
      </p:sp>
      <p:sp>
        <p:nvSpPr>
          <p:cNvPr id="4" name="Text 2"/>
          <p:cNvSpPr txBox="1"/>
          <p:nvPr/>
        </p:nvSpPr>
        <p:spPr>
          <a:xfrm>
            <a:off x="822960" y="4114800"/>
            <a:ext cx="7498080" cy="548640"/>
          </a:xfrm>
          <a:prstGeom prst="rect">
            <a:avLst/>
          </a:prstGeom>
          <a:noFill/>
          <a:ln/>
        </p:spPr>
        <p:txBody>
          <a:bodyPr wrap="square" lIns="0" tIns="0" rIns="0" bIns="0" rtlCol="0" anchor="t"/>
          <a:lstStyle/>
          <a:p>
            <a:pPr marL="0" indent="0">
              <a:buNone/>
            </a:pPr>
            <a:r>
              <a:rPr lang="en-US" sz="2200" i="1" dirty="0">
                <a:solidFill>
                  <a:srgbClr val="CADCE0"/>
                </a:solidFill>
                <a:latin typeface="Calibri" pitchFamily="34" charset="0"/>
                <a:ea typeface="Calibri" pitchFamily="34" charset="-122"/>
                <a:cs typeface="Calibri" pitchFamily="34" charset="-120"/>
              </a:rPr>
              <a:t>Cómo descubrir lo que el software realmente debe hacer</a:t>
            </a:r>
            <a:endParaRPr lang="en-US" sz="2200" dirty="0"/>
          </a:p>
        </p:txBody>
      </p:sp>
      <p:sp>
        <p:nvSpPr>
          <p:cNvPr id="5" name="Text 3"/>
          <p:cNvSpPr txBox="1"/>
          <p:nvPr/>
        </p:nvSpPr>
        <p:spPr>
          <a:xfrm>
            <a:off x="822960" y="5212080"/>
            <a:ext cx="7680960" cy="1097280"/>
          </a:xfrm>
          <a:prstGeom prst="rect">
            <a:avLst/>
          </a:prstGeom>
          <a:noFill/>
          <a:ln/>
        </p:spPr>
        <p:txBody>
          <a:bodyPr wrap="square" lIns="0" tIns="0" rIns="0" bIns="0" rtlCol="0" anchor="t"/>
          <a:lstStyle/>
          <a:p>
            <a:pPr marL="0" indent="0">
              <a:spcAft>
                <a:spcPts val="400"/>
              </a:spcAft>
              <a:buNone/>
            </a:pPr>
            <a:r>
              <a:rPr lang="en-US" sz="1600" dirty="0">
                <a:solidFill>
                  <a:srgbClr val="FFFFFF"/>
                </a:solidFill>
                <a:latin typeface="Calibri" pitchFamily="34" charset="0"/>
                <a:ea typeface="Calibri" pitchFamily="34" charset="-122"/>
                <a:cs typeface="Calibri" pitchFamily="34" charset="-120"/>
              </a:rPr>
              <a:t>Universidad Tecnológica de Panamá · Sede Panamá Oeste</a:t>
            </a:r>
            <a:endParaRPr lang="en-US" sz="1600" dirty="0"/>
          </a:p>
          <a:p>
            <a:pPr marL="0" indent="0">
              <a:spcAft>
                <a:spcPts val="400"/>
              </a:spcAft>
              <a:buNone/>
            </a:pPr>
            <a:r>
              <a:rPr lang="en-US" sz="1600" dirty="0">
                <a:solidFill>
                  <a:srgbClr val="FFFFFF"/>
                </a:solidFill>
                <a:latin typeface="Calibri" pitchFamily="34" charset="0"/>
                <a:ea typeface="Calibri" pitchFamily="34" charset="-122"/>
                <a:cs typeface="Calibri" pitchFamily="34" charset="-120"/>
              </a:rPr>
              <a:t>Profesora: Susan Janette Oliva Rivera</a:t>
            </a:r>
            <a:endParaRPr lang="en-US" sz="1600" dirty="0"/>
          </a:p>
          <a:p>
            <a:pPr marL="0" indent="0">
              <a:spcAft>
                <a:spcPts val="400"/>
              </a:spcAft>
              <a:buNone/>
            </a:pPr>
            <a:r>
              <a:rPr lang="en-US" sz="1600" dirty="0">
                <a:solidFill>
                  <a:srgbClr val="FFFFFF"/>
                </a:solidFill>
                <a:latin typeface="Calibri" pitchFamily="34" charset="0"/>
                <a:ea typeface="Calibri" pitchFamily="34" charset="-122"/>
                <a:cs typeface="Calibri" pitchFamily="34" charset="-120"/>
              </a:rPr>
              <a:t>Presentado por: Luis Madrid, José Sousa, Roderick Justiniani, Luis Montalvo</a:t>
            </a:r>
            <a:endParaRPr lang="en-US" sz="1600" dirty="0"/>
          </a:p>
        </p:txBody>
      </p:sp>
      <p:sp>
        <p:nvSpPr>
          <p:cNvPr id="6" name="Shape 4"/>
          <p:cNvSpPr/>
          <p:nvPr/>
        </p:nvSpPr>
        <p:spPr>
          <a:xfrm>
            <a:off x="9052560" y="1463040"/>
            <a:ext cx="2377440" cy="2377440"/>
          </a:xfrm>
          <a:prstGeom prst="ellipse">
            <a:avLst/>
          </a:prstGeom>
          <a:solidFill>
            <a:srgbClr val="1B7F79"/>
          </a:solidFill>
          <a:ln w="12700">
            <a:solidFill>
              <a:srgbClr val="1B7F79"/>
            </a:solidFill>
            <a:prstDash val="solid"/>
          </a:ln>
        </p:spPr>
      </p:sp>
      <p:pic>
        <p:nvPicPr>
          <p:cNvPr id="7" name="Image 0" descr="preencoded.png"/>
          <p:cNvPicPr>
            <a:picLocks noChangeAspect="1"/>
          </p:cNvPicPr>
          <p:nvPr/>
        </p:nvPicPr>
        <p:blipFill>
          <a:blip r:embed="rId3"/>
          <a:stretch>
            <a:fillRect/>
          </a:stretch>
        </p:blipFill>
        <p:spPr>
          <a:xfrm>
            <a:off x="9623146" y="2033626"/>
            <a:ext cx="1236269" cy="1236269"/>
          </a:xfrm>
          <a:prstGeom prst="rect">
            <a:avLst/>
          </a:prstGeom>
        </p:spPr>
      </p:pic>
      <p:sp>
        <p:nvSpPr>
          <p:cNvPr id="8" name="Shape 5"/>
          <p:cNvSpPr/>
          <p:nvPr/>
        </p:nvSpPr>
        <p:spPr>
          <a:xfrm>
            <a:off x="10424160" y="3474720"/>
            <a:ext cx="1371600" cy="1371600"/>
          </a:xfrm>
          <a:prstGeom prst="ellipse">
            <a:avLst/>
          </a:prstGeom>
          <a:solidFill>
            <a:srgbClr val="F2A541"/>
          </a:solidFill>
          <a:ln w="12700">
            <a:solidFill>
              <a:srgbClr val="F2A541"/>
            </a:solidFill>
            <a:prstDash val="solid"/>
          </a:ln>
        </p:spPr>
      </p:sp>
      <p:pic>
        <p:nvPicPr>
          <p:cNvPr id="9" name="Image 1" descr="preencoded.png"/>
          <p:cNvPicPr>
            <a:picLocks noChangeAspect="1"/>
          </p:cNvPicPr>
          <p:nvPr/>
        </p:nvPicPr>
        <p:blipFill>
          <a:blip r:embed="rId4"/>
          <a:stretch>
            <a:fillRect/>
          </a:stretch>
        </p:blipFill>
        <p:spPr>
          <a:xfrm>
            <a:off x="10780776" y="3831336"/>
            <a:ext cx="658368" cy="658368"/>
          </a:xfrm>
          <a:prstGeom prst="rect">
            <a:avLst/>
          </a:prstGeom>
        </p:spPr>
      </p:pic>
      <p:sp>
        <p:nvSpPr>
          <p:cNvPr id="10" name="Shape 6"/>
          <p:cNvSpPr/>
          <p:nvPr/>
        </p:nvSpPr>
        <p:spPr>
          <a:xfrm>
            <a:off x="8869680" y="4206240"/>
            <a:ext cx="1005840" cy="1005840"/>
          </a:xfrm>
          <a:prstGeom prst="ellipse">
            <a:avLst/>
          </a:prstGeom>
          <a:solidFill>
            <a:srgbClr val="2C6E9B"/>
          </a:solidFill>
          <a:ln w="12700">
            <a:solidFill>
              <a:srgbClr val="2C6E9B"/>
            </a:solidFill>
            <a:prstDash val="solid"/>
          </a:ln>
        </p:spPr>
      </p:sp>
      <p:pic>
        <p:nvPicPr>
          <p:cNvPr id="11" name="Image 2" descr="preencoded.png"/>
          <p:cNvPicPr>
            <a:picLocks noChangeAspect="1"/>
          </p:cNvPicPr>
          <p:nvPr/>
        </p:nvPicPr>
        <p:blipFill>
          <a:blip r:embed="rId5"/>
          <a:stretch>
            <a:fillRect/>
          </a:stretch>
        </p:blipFill>
        <p:spPr>
          <a:xfrm>
            <a:off x="9131198" y="4467758"/>
            <a:ext cx="482803" cy="48280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777240"/>
          </a:xfrm>
          <a:prstGeom prst="rect">
            <a:avLst/>
          </a:prstGeom>
          <a:noFill/>
          <a:ln/>
        </p:spPr>
        <p:txBody>
          <a:bodyPr wrap="square" lIns="0" tIns="0" rIns="0" bIns="0" rtlCol="0" anchor="ctr"/>
          <a:lstStyle/>
          <a:p>
            <a:pPr marL="0" indent="0">
              <a:buNone/>
            </a:pPr>
            <a:r>
              <a:rPr lang="en-US" sz="3400" b="1" dirty="0">
                <a:solidFill>
                  <a:srgbClr val="0B2545"/>
                </a:solidFill>
                <a:latin typeface="Cambria" pitchFamily="34" charset="0"/>
                <a:ea typeface="Cambria" pitchFamily="34" charset="-122"/>
                <a:cs typeface="Cambria" pitchFamily="34" charset="-120"/>
              </a:rPr>
              <a:t>¿Qué vamos a ver?</a:t>
            </a:r>
            <a:endParaRPr lang="en-US" sz="3400" dirty="0"/>
          </a:p>
        </p:txBody>
      </p:sp>
      <p:sp>
        <p:nvSpPr>
          <p:cNvPr id="3" name="Shape 1"/>
          <p:cNvSpPr/>
          <p:nvPr/>
        </p:nvSpPr>
        <p:spPr>
          <a:xfrm>
            <a:off x="548640" y="1417320"/>
            <a:ext cx="7680960" cy="548640"/>
          </a:xfrm>
          <a:prstGeom prst="roundRect">
            <a:avLst>
              <a:gd name="adj" fmla="val 20000"/>
            </a:avLst>
          </a:prstGeom>
          <a:solidFill>
            <a:srgbClr val="EAF2F1"/>
          </a:solidFill>
          <a:ln w="9525">
            <a:solidFill>
              <a:srgbClr val="D5E3E1"/>
            </a:solidFill>
            <a:prstDash val="solid"/>
          </a:ln>
        </p:spPr>
      </p:sp>
      <p:sp>
        <p:nvSpPr>
          <p:cNvPr id="4" name="Shape 2"/>
          <p:cNvSpPr/>
          <p:nvPr/>
        </p:nvSpPr>
        <p:spPr>
          <a:xfrm>
            <a:off x="685800" y="1490472"/>
            <a:ext cx="402336" cy="402336"/>
          </a:xfrm>
          <a:prstGeom prst="ellipse">
            <a:avLst/>
          </a:prstGeom>
          <a:solidFill>
            <a:srgbClr val="1B7F79"/>
          </a:solidFill>
          <a:ln w="12700">
            <a:solidFill>
              <a:srgbClr val="1B7F79"/>
            </a:solidFill>
            <a:prstDash val="solid"/>
          </a:ln>
        </p:spPr>
      </p:sp>
      <p:sp>
        <p:nvSpPr>
          <p:cNvPr id="5" name="Text 3"/>
          <p:cNvSpPr txBox="1"/>
          <p:nvPr/>
        </p:nvSpPr>
        <p:spPr>
          <a:xfrm>
            <a:off x="685800" y="1490472"/>
            <a:ext cx="402336" cy="402336"/>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txBox="1"/>
          <p:nvPr/>
        </p:nvSpPr>
        <p:spPr>
          <a:xfrm>
            <a:off x="1280160" y="1417320"/>
            <a:ext cx="6766560" cy="548640"/>
          </a:xfrm>
          <a:prstGeom prst="rect">
            <a:avLst/>
          </a:prstGeom>
          <a:noFill/>
          <a:ln/>
        </p:spPr>
        <p:txBody>
          <a:bodyPr wrap="square" lIns="0" tIns="0" rIns="0" bIns="0" rtlCol="0" anchor="ctr"/>
          <a:lstStyle/>
          <a:p>
            <a:pPr marL="0" indent="0">
              <a:buNone/>
            </a:pPr>
            <a:r>
              <a:rPr lang="en-US" sz="1900" dirty="0">
                <a:solidFill>
                  <a:srgbClr val="1F2933"/>
                </a:solidFill>
                <a:latin typeface="Calibri" pitchFamily="34" charset="0"/>
                <a:ea typeface="Calibri" pitchFamily="34" charset="-122"/>
                <a:cs typeface="Calibri" pitchFamily="34" charset="-120"/>
              </a:rPr>
              <a:t>Fundamentos y tipos de requerimientos</a:t>
            </a:r>
            <a:endParaRPr lang="en-US" sz="1900" dirty="0"/>
          </a:p>
        </p:txBody>
      </p:sp>
      <p:sp>
        <p:nvSpPr>
          <p:cNvPr id="7" name="Shape 5"/>
          <p:cNvSpPr/>
          <p:nvPr/>
        </p:nvSpPr>
        <p:spPr>
          <a:xfrm>
            <a:off x="548640" y="2075688"/>
            <a:ext cx="7680960" cy="548640"/>
          </a:xfrm>
          <a:prstGeom prst="roundRect">
            <a:avLst>
              <a:gd name="adj" fmla="val 20000"/>
            </a:avLst>
          </a:prstGeom>
          <a:solidFill>
            <a:srgbClr val="FFFFFF"/>
          </a:solidFill>
          <a:ln w="9525">
            <a:solidFill>
              <a:srgbClr val="D5E3E1"/>
            </a:solidFill>
            <a:prstDash val="solid"/>
          </a:ln>
        </p:spPr>
      </p:sp>
      <p:sp>
        <p:nvSpPr>
          <p:cNvPr id="8" name="Shape 6"/>
          <p:cNvSpPr/>
          <p:nvPr/>
        </p:nvSpPr>
        <p:spPr>
          <a:xfrm>
            <a:off x="685800" y="2148840"/>
            <a:ext cx="402336" cy="402336"/>
          </a:xfrm>
          <a:prstGeom prst="ellipse">
            <a:avLst/>
          </a:prstGeom>
          <a:solidFill>
            <a:srgbClr val="1B7F79"/>
          </a:solidFill>
          <a:ln w="12700">
            <a:solidFill>
              <a:srgbClr val="1B7F79"/>
            </a:solidFill>
            <a:prstDash val="solid"/>
          </a:ln>
        </p:spPr>
      </p:sp>
      <p:sp>
        <p:nvSpPr>
          <p:cNvPr id="9" name="Text 7"/>
          <p:cNvSpPr txBox="1"/>
          <p:nvPr/>
        </p:nvSpPr>
        <p:spPr>
          <a:xfrm>
            <a:off x="685800" y="2148840"/>
            <a:ext cx="402336" cy="402336"/>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0" name="Text 8"/>
          <p:cNvSpPr txBox="1"/>
          <p:nvPr/>
        </p:nvSpPr>
        <p:spPr>
          <a:xfrm>
            <a:off x="1280160" y="2075688"/>
            <a:ext cx="6766560" cy="548640"/>
          </a:xfrm>
          <a:prstGeom prst="rect">
            <a:avLst/>
          </a:prstGeom>
          <a:noFill/>
          <a:ln/>
        </p:spPr>
        <p:txBody>
          <a:bodyPr wrap="square" lIns="0" tIns="0" rIns="0" bIns="0" rtlCol="0" anchor="ctr"/>
          <a:lstStyle/>
          <a:p>
            <a:pPr marL="0" indent="0">
              <a:buNone/>
            </a:pPr>
            <a:r>
              <a:rPr lang="en-US" sz="1900" dirty="0">
                <a:solidFill>
                  <a:srgbClr val="1F2933"/>
                </a:solidFill>
                <a:latin typeface="Calibri" pitchFamily="34" charset="0"/>
                <a:ea typeface="Calibri" pitchFamily="34" charset="-122"/>
                <a:cs typeface="Calibri" pitchFamily="34" charset="-120"/>
              </a:rPr>
              <a:t>Actores involucrados</a:t>
            </a:r>
            <a:endParaRPr lang="en-US" sz="1900" dirty="0"/>
          </a:p>
        </p:txBody>
      </p:sp>
      <p:sp>
        <p:nvSpPr>
          <p:cNvPr id="11" name="Shape 9"/>
          <p:cNvSpPr/>
          <p:nvPr/>
        </p:nvSpPr>
        <p:spPr>
          <a:xfrm>
            <a:off x="548640" y="2734056"/>
            <a:ext cx="7680960" cy="548640"/>
          </a:xfrm>
          <a:prstGeom prst="roundRect">
            <a:avLst>
              <a:gd name="adj" fmla="val 20000"/>
            </a:avLst>
          </a:prstGeom>
          <a:solidFill>
            <a:srgbClr val="EAF2F1"/>
          </a:solidFill>
          <a:ln w="9525">
            <a:solidFill>
              <a:srgbClr val="D5E3E1"/>
            </a:solidFill>
            <a:prstDash val="solid"/>
          </a:ln>
        </p:spPr>
      </p:sp>
      <p:sp>
        <p:nvSpPr>
          <p:cNvPr id="12" name="Shape 10"/>
          <p:cNvSpPr/>
          <p:nvPr/>
        </p:nvSpPr>
        <p:spPr>
          <a:xfrm>
            <a:off x="685800" y="2807208"/>
            <a:ext cx="402336" cy="402336"/>
          </a:xfrm>
          <a:prstGeom prst="ellipse">
            <a:avLst/>
          </a:prstGeom>
          <a:solidFill>
            <a:srgbClr val="1B7F79"/>
          </a:solidFill>
          <a:ln w="12700">
            <a:solidFill>
              <a:srgbClr val="1B7F79"/>
            </a:solidFill>
            <a:prstDash val="solid"/>
          </a:ln>
        </p:spPr>
      </p:sp>
      <p:sp>
        <p:nvSpPr>
          <p:cNvPr id="13" name="Text 11"/>
          <p:cNvSpPr txBox="1"/>
          <p:nvPr/>
        </p:nvSpPr>
        <p:spPr>
          <a:xfrm>
            <a:off x="685800" y="2807208"/>
            <a:ext cx="402336" cy="402336"/>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4" name="Text 12"/>
          <p:cNvSpPr txBox="1"/>
          <p:nvPr/>
        </p:nvSpPr>
        <p:spPr>
          <a:xfrm>
            <a:off x="1280160" y="2734056"/>
            <a:ext cx="6766560" cy="548640"/>
          </a:xfrm>
          <a:prstGeom prst="rect">
            <a:avLst/>
          </a:prstGeom>
          <a:noFill/>
          <a:ln/>
        </p:spPr>
        <p:txBody>
          <a:bodyPr wrap="square" lIns="0" tIns="0" rIns="0" bIns="0" rtlCol="0" anchor="ctr"/>
          <a:lstStyle/>
          <a:p>
            <a:pPr marL="0" indent="0">
              <a:buNone/>
            </a:pPr>
            <a:r>
              <a:rPr lang="en-US" sz="1900" dirty="0">
                <a:solidFill>
                  <a:srgbClr val="1F2933"/>
                </a:solidFill>
                <a:latin typeface="Calibri" pitchFamily="34" charset="0"/>
                <a:ea typeface="Calibri" pitchFamily="34" charset="-122"/>
                <a:cs typeface="Calibri" pitchFamily="34" charset="-120"/>
              </a:rPr>
              <a:t>Proceso de levantamiento</a:t>
            </a:r>
            <a:endParaRPr lang="en-US" sz="1900" dirty="0"/>
          </a:p>
        </p:txBody>
      </p:sp>
      <p:sp>
        <p:nvSpPr>
          <p:cNvPr id="15" name="Shape 13"/>
          <p:cNvSpPr/>
          <p:nvPr/>
        </p:nvSpPr>
        <p:spPr>
          <a:xfrm>
            <a:off x="548640" y="3392424"/>
            <a:ext cx="7680960" cy="548640"/>
          </a:xfrm>
          <a:prstGeom prst="roundRect">
            <a:avLst>
              <a:gd name="adj" fmla="val 20000"/>
            </a:avLst>
          </a:prstGeom>
          <a:solidFill>
            <a:srgbClr val="FFFFFF"/>
          </a:solidFill>
          <a:ln w="9525">
            <a:solidFill>
              <a:srgbClr val="D5E3E1"/>
            </a:solidFill>
            <a:prstDash val="solid"/>
          </a:ln>
        </p:spPr>
      </p:sp>
      <p:sp>
        <p:nvSpPr>
          <p:cNvPr id="16" name="Shape 14"/>
          <p:cNvSpPr/>
          <p:nvPr/>
        </p:nvSpPr>
        <p:spPr>
          <a:xfrm>
            <a:off x="685800" y="3465576"/>
            <a:ext cx="402336" cy="402336"/>
          </a:xfrm>
          <a:prstGeom prst="ellipse">
            <a:avLst/>
          </a:prstGeom>
          <a:solidFill>
            <a:srgbClr val="1B7F79"/>
          </a:solidFill>
          <a:ln w="12700">
            <a:solidFill>
              <a:srgbClr val="1B7F79"/>
            </a:solidFill>
            <a:prstDash val="solid"/>
          </a:ln>
        </p:spPr>
      </p:sp>
      <p:sp>
        <p:nvSpPr>
          <p:cNvPr id="17" name="Text 15"/>
          <p:cNvSpPr txBox="1"/>
          <p:nvPr/>
        </p:nvSpPr>
        <p:spPr>
          <a:xfrm>
            <a:off x="685800" y="3465576"/>
            <a:ext cx="402336" cy="402336"/>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8" name="Text 16"/>
          <p:cNvSpPr txBox="1"/>
          <p:nvPr/>
        </p:nvSpPr>
        <p:spPr>
          <a:xfrm>
            <a:off x="1280160" y="3392424"/>
            <a:ext cx="6766560" cy="548640"/>
          </a:xfrm>
          <a:prstGeom prst="rect">
            <a:avLst/>
          </a:prstGeom>
          <a:noFill/>
          <a:ln/>
        </p:spPr>
        <p:txBody>
          <a:bodyPr wrap="square" lIns="0" tIns="0" rIns="0" bIns="0" rtlCol="0" anchor="ctr"/>
          <a:lstStyle/>
          <a:p>
            <a:pPr marL="0" indent="0">
              <a:buNone/>
            </a:pPr>
            <a:r>
              <a:rPr lang="en-US" sz="1900" dirty="0">
                <a:solidFill>
                  <a:srgbClr val="1F2933"/>
                </a:solidFill>
                <a:latin typeface="Calibri" pitchFamily="34" charset="0"/>
                <a:ea typeface="Calibri" pitchFamily="34" charset="-122"/>
                <a:cs typeface="Calibri" pitchFamily="34" charset="-120"/>
              </a:rPr>
              <a:t>Técnicas de recopilación de información</a:t>
            </a:r>
            <a:endParaRPr lang="en-US" sz="1900" dirty="0"/>
          </a:p>
        </p:txBody>
      </p:sp>
      <p:sp>
        <p:nvSpPr>
          <p:cNvPr id="19" name="Shape 17"/>
          <p:cNvSpPr/>
          <p:nvPr/>
        </p:nvSpPr>
        <p:spPr>
          <a:xfrm>
            <a:off x="548640" y="4050792"/>
            <a:ext cx="7680960" cy="548640"/>
          </a:xfrm>
          <a:prstGeom prst="roundRect">
            <a:avLst>
              <a:gd name="adj" fmla="val 20000"/>
            </a:avLst>
          </a:prstGeom>
          <a:solidFill>
            <a:srgbClr val="EAF2F1"/>
          </a:solidFill>
          <a:ln w="9525">
            <a:solidFill>
              <a:srgbClr val="D5E3E1"/>
            </a:solidFill>
            <a:prstDash val="solid"/>
          </a:ln>
        </p:spPr>
      </p:sp>
      <p:sp>
        <p:nvSpPr>
          <p:cNvPr id="20" name="Shape 18"/>
          <p:cNvSpPr/>
          <p:nvPr/>
        </p:nvSpPr>
        <p:spPr>
          <a:xfrm>
            <a:off x="685800" y="4123944"/>
            <a:ext cx="402336" cy="402336"/>
          </a:xfrm>
          <a:prstGeom prst="ellipse">
            <a:avLst/>
          </a:prstGeom>
          <a:solidFill>
            <a:srgbClr val="1B7F79"/>
          </a:solidFill>
          <a:ln w="12700">
            <a:solidFill>
              <a:srgbClr val="1B7F79"/>
            </a:solidFill>
            <a:prstDash val="solid"/>
          </a:ln>
        </p:spPr>
      </p:sp>
      <p:sp>
        <p:nvSpPr>
          <p:cNvPr id="21" name="Text 19"/>
          <p:cNvSpPr txBox="1"/>
          <p:nvPr/>
        </p:nvSpPr>
        <p:spPr>
          <a:xfrm>
            <a:off x="685800" y="4123944"/>
            <a:ext cx="402336" cy="402336"/>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22" name="Text 20"/>
          <p:cNvSpPr txBox="1"/>
          <p:nvPr/>
        </p:nvSpPr>
        <p:spPr>
          <a:xfrm>
            <a:off x="1280160" y="4050792"/>
            <a:ext cx="6766560" cy="548640"/>
          </a:xfrm>
          <a:prstGeom prst="rect">
            <a:avLst/>
          </a:prstGeom>
          <a:noFill/>
          <a:ln/>
        </p:spPr>
        <p:txBody>
          <a:bodyPr wrap="square" lIns="0" tIns="0" rIns="0" bIns="0" rtlCol="0" anchor="ctr"/>
          <a:lstStyle/>
          <a:p>
            <a:pPr marL="0" indent="0">
              <a:buNone/>
            </a:pPr>
            <a:r>
              <a:rPr lang="en-US" sz="1900" dirty="0">
                <a:solidFill>
                  <a:srgbClr val="1F2933"/>
                </a:solidFill>
                <a:latin typeface="Calibri" pitchFamily="34" charset="0"/>
                <a:ea typeface="Calibri" pitchFamily="34" charset="-122"/>
                <a:cs typeface="Calibri" pitchFamily="34" charset="-120"/>
              </a:rPr>
              <a:t>Especificación y ejemplo práctico</a:t>
            </a:r>
            <a:endParaRPr lang="en-US" sz="1900" dirty="0"/>
          </a:p>
        </p:txBody>
      </p:sp>
      <p:sp>
        <p:nvSpPr>
          <p:cNvPr id="23" name="Shape 21"/>
          <p:cNvSpPr/>
          <p:nvPr/>
        </p:nvSpPr>
        <p:spPr>
          <a:xfrm>
            <a:off x="548640" y="4709160"/>
            <a:ext cx="7680960" cy="548640"/>
          </a:xfrm>
          <a:prstGeom prst="roundRect">
            <a:avLst>
              <a:gd name="adj" fmla="val 20000"/>
            </a:avLst>
          </a:prstGeom>
          <a:solidFill>
            <a:srgbClr val="FFFFFF"/>
          </a:solidFill>
          <a:ln w="9525">
            <a:solidFill>
              <a:srgbClr val="D5E3E1"/>
            </a:solidFill>
            <a:prstDash val="solid"/>
          </a:ln>
        </p:spPr>
      </p:sp>
      <p:sp>
        <p:nvSpPr>
          <p:cNvPr id="24" name="Shape 22"/>
          <p:cNvSpPr/>
          <p:nvPr/>
        </p:nvSpPr>
        <p:spPr>
          <a:xfrm>
            <a:off x="685800" y="4782312"/>
            <a:ext cx="402336" cy="402336"/>
          </a:xfrm>
          <a:prstGeom prst="ellipse">
            <a:avLst/>
          </a:prstGeom>
          <a:solidFill>
            <a:srgbClr val="1B7F79"/>
          </a:solidFill>
          <a:ln w="12700">
            <a:solidFill>
              <a:srgbClr val="1B7F79"/>
            </a:solidFill>
            <a:prstDash val="solid"/>
          </a:ln>
        </p:spPr>
      </p:sp>
      <p:sp>
        <p:nvSpPr>
          <p:cNvPr id="25" name="Text 23"/>
          <p:cNvSpPr txBox="1"/>
          <p:nvPr/>
        </p:nvSpPr>
        <p:spPr>
          <a:xfrm>
            <a:off x="685800" y="4782312"/>
            <a:ext cx="402336" cy="402336"/>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6</a:t>
            </a:r>
            <a:endParaRPr lang="en-US" sz="1600" dirty="0"/>
          </a:p>
        </p:txBody>
      </p:sp>
      <p:sp>
        <p:nvSpPr>
          <p:cNvPr id="26" name="Text 24"/>
          <p:cNvSpPr txBox="1"/>
          <p:nvPr/>
        </p:nvSpPr>
        <p:spPr>
          <a:xfrm>
            <a:off x="1280160" y="4709160"/>
            <a:ext cx="6766560" cy="548640"/>
          </a:xfrm>
          <a:prstGeom prst="rect">
            <a:avLst/>
          </a:prstGeom>
          <a:noFill/>
          <a:ln/>
        </p:spPr>
        <p:txBody>
          <a:bodyPr wrap="square" lIns="0" tIns="0" rIns="0" bIns="0" rtlCol="0" anchor="ctr"/>
          <a:lstStyle/>
          <a:p>
            <a:pPr marL="0" indent="0">
              <a:buNone/>
            </a:pPr>
            <a:r>
              <a:rPr lang="en-US" sz="1900" dirty="0">
                <a:solidFill>
                  <a:srgbClr val="1F2933"/>
                </a:solidFill>
                <a:latin typeface="Calibri" pitchFamily="34" charset="0"/>
                <a:ea typeface="Calibri" pitchFamily="34" charset="-122"/>
                <a:cs typeface="Calibri" pitchFamily="34" charset="-120"/>
              </a:rPr>
              <a:t>Priorización, validación y cambios</a:t>
            </a:r>
            <a:endParaRPr lang="en-US" sz="1900" dirty="0"/>
          </a:p>
        </p:txBody>
      </p:sp>
      <p:sp>
        <p:nvSpPr>
          <p:cNvPr id="27" name="Shape 25"/>
          <p:cNvSpPr/>
          <p:nvPr/>
        </p:nvSpPr>
        <p:spPr>
          <a:xfrm>
            <a:off x="548640" y="5367528"/>
            <a:ext cx="7680960" cy="548640"/>
          </a:xfrm>
          <a:prstGeom prst="roundRect">
            <a:avLst>
              <a:gd name="adj" fmla="val 20000"/>
            </a:avLst>
          </a:prstGeom>
          <a:solidFill>
            <a:srgbClr val="EAF2F1"/>
          </a:solidFill>
          <a:ln w="9525">
            <a:solidFill>
              <a:srgbClr val="D5E3E1"/>
            </a:solidFill>
            <a:prstDash val="solid"/>
          </a:ln>
        </p:spPr>
      </p:sp>
      <p:sp>
        <p:nvSpPr>
          <p:cNvPr id="28" name="Shape 26"/>
          <p:cNvSpPr/>
          <p:nvPr/>
        </p:nvSpPr>
        <p:spPr>
          <a:xfrm>
            <a:off x="685800" y="5440680"/>
            <a:ext cx="402336" cy="402336"/>
          </a:xfrm>
          <a:prstGeom prst="ellipse">
            <a:avLst/>
          </a:prstGeom>
          <a:solidFill>
            <a:srgbClr val="1B7F79"/>
          </a:solidFill>
          <a:ln w="12700">
            <a:solidFill>
              <a:srgbClr val="1B7F79"/>
            </a:solidFill>
            <a:prstDash val="solid"/>
          </a:ln>
        </p:spPr>
      </p:sp>
      <p:sp>
        <p:nvSpPr>
          <p:cNvPr id="29" name="Text 27"/>
          <p:cNvSpPr txBox="1"/>
          <p:nvPr/>
        </p:nvSpPr>
        <p:spPr>
          <a:xfrm>
            <a:off x="685800" y="5440680"/>
            <a:ext cx="402336" cy="402336"/>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7</a:t>
            </a:r>
            <a:endParaRPr lang="en-US" sz="1600" dirty="0"/>
          </a:p>
        </p:txBody>
      </p:sp>
      <p:sp>
        <p:nvSpPr>
          <p:cNvPr id="30" name="Text 28"/>
          <p:cNvSpPr txBox="1"/>
          <p:nvPr/>
        </p:nvSpPr>
        <p:spPr>
          <a:xfrm>
            <a:off x="1280160" y="5367528"/>
            <a:ext cx="6766560" cy="548640"/>
          </a:xfrm>
          <a:prstGeom prst="rect">
            <a:avLst/>
          </a:prstGeom>
          <a:noFill/>
          <a:ln/>
        </p:spPr>
        <p:txBody>
          <a:bodyPr wrap="square" lIns="0" tIns="0" rIns="0" bIns="0" rtlCol="0" anchor="ctr"/>
          <a:lstStyle/>
          <a:p>
            <a:pPr marL="0" indent="0">
              <a:buNone/>
            </a:pPr>
            <a:r>
              <a:rPr lang="en-US" sz="1900" dirty="0">
                <a:solidFill>
                  <a:srgbClr val="1F2933"/>
                </a:solidFill>
                <a:latin typeface="Calibri" pitchFamily="34" charset="0"/>
                <a:ea typeface="Calibri" pitchFamily="34" charset="-122"/>
                <a:cs typeface="Calibri" pitchFamily="34" charset="-120"/>
              </a:rPr>
              <a:t>Tradicional vs. ágil, problemas y buenas prácticas</a:t>
            </a:r>
            <a:endParaRPr lang="en-US" sz="1900" dirty="0"/>
          </a:p>
        </p:txBody>
      </p:sp>
      <p:sp>
        <p:nvSpPr>
          <p:cNvPr id="31" name="Shape 29"/>
          <p:cNvSpPr/>
          <p:nvPr/>
        </p:nvSpPr>
        <p:spPr>
          <a:xfrm>
            <a:off x="8686800" y="1417320"/>
            <a:ext cx="2926080" cy="4526280"/>
          </a:xfrm>
          <a:prstGeom prst="roundRect">
            <a:avLst>
              <a:gd name="adj" fmla="val 3750"/>
            </a:avLst>
          </a:prstGeom>
          <a:solidFill>
            <a:srgbClr val="0B2545"/>
          </a:solidFill>
          <a:ln w="9525">
            <a:solidFill>
              <a:srgbClr val="0B2545"/>
            </a:solidFill>
            <a:prstDash val="solid"/>
          </a:ln>
        </p:spPr>
      </p:sp>
      <p:sp>
        <p:nvSpPr>
          <p:cNvPr id="32" name="Shape 30"/>
          <p:cNvSpPr/>
          <p:nvPr/>
        </p:nvSpPr>
        <p:spPr>
          <a:xfrm>
            <a:off x="9464040" y="1828800"/>
            <a:ext cx="1371600" cy="1371600"/>
          </a:xfrm>
          <a:prstGeom prst="ellipse">
            <a:avLst/>
          </a:prstGeom>
          <a:solidFill>
            <a:srgbClr val="F2A541"/>
          </a:solidFill>
          <a:ln w="12700">
            <a:solidFill>
              <a:srgbClr val="F2A541"/>
            </a:solidFill>
            <a:prstDash val="solid"/>
          </a:ln>
        </p:spPr>
      </p:sp>
      <p:pic>
        <p:nvPicPr>
          <p:cNvPr id="33" name="Image 0" descr="preencoded.png"/>
          <p:cNvPicPr>
            <a:picLocks noChangeAspect="1"/>
          </p:cNvPicPr>
          <p:nvPr/>
        </p:nvPicPr>
        <p:blipFill>
          <a:blip r:embed="rId3"/>
          <a:stretch>
            <a:fillRect/>
          </a:stretch>
        </p:blipFill>
        <p:spPr>
          <a:xfrm>
            <a:off x="9820656" y="2185416"/>
            <a:ext cx="658368" cy="658368"/>
          </a:xfrm>
          <a:prstGeom prst="rect">
            <a:avLst/>
          </a:prstGeom>
        </p:spPr>
      </p:pic>
      <p:sp>
        <p:nvSpPr>
          <p:cNvPr id="35" name="Text 32"/>
          <p:cNvSpPr txBox="1"/>
          <p:nvPr/>
        </p:nvSpPr>
        <p:spPr>
          <a:xfrm>
            <a:off x="11155680" y="6355080"/>
            <a:ext cx="548640" cy="274320"/>
          </a:xfrm>
          <a:prstGeom prst="rect">
            <a:avLst/>
          </a:prstGeom>
          <a:noFill/>
          <a:ln/>
        </p:spPr>
        <p:txBody>
          <a:bodyPr wrap="square" lIns="0" tIns="0" rIns="0" bIns="0" rtlCol="0" anchor="ctr"/>
          <a:lstStyle/>
          <a:p>
            <a:pPr marL="0" indent="0" algn="r">
              <a:buNone/>
            </a:pPr>
            <a:r>
              <a:rPr lang="en-US" sz="1100" dirty="0">
                <a:solidFill>
                  <a:srgbClr val="5B6770"/>
                </a:solidFill>
                <a:latin typeface="Calibri" pitchFamily="34" charset="0"/>
                <a:ea typeface="Calibri" pitchFamily="34" charset="-122"/>
                <a:cs typeface="Calibri" pitchFamily="34" charset="-120"/>
              </a:rPr>
              <a:t>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777240"/>
          </a:xfrm>
          <a:prstGeom prst="rect">
            <a:avLst/>
          </a:prstGeom>
          <a:noFill/>
          <a:ln/>
        </p:spPr>
        <p:txBody>
          <a:bodyPr wrap="square" lIns="0" tIns="0" rIns="0" bIns="0" rtlCol="0" anchor="ctr"/>
          <a:lstStyle/>
          <a:p>
            <a:pPr marL="0" indent="0">
              <a:buNone/>
            </a:pPr>
            <a:r>
              <a:rPr lang="en-US" sz="3400" b="1" dirty="0">
                <a:solidFill>
                  <a:srgbClr val="0B2545"/>
                </a:solidFill>
                <a:latin typeface="Cambria" pitchFamily="34" charset="0"/>
                <a:ea typeface="Cambria" pitchFamily="34" charset="-122"/>
                <a:cs typeface="Cambria" pitchFamily="34" charset="-120"/>
              </a:rPr>
              <a:t>¿Qué es un requerimiento?</a:t>
            </a:r>
            <a:endParaRPr lang="en-US" sz="3400" dirty="0"/>
          </a:p>
        </p:txBody>
      </p:sp>
      <p:sp>
        <p:nvSpPr>
          <p:cNvPr id="3" name="Shape 1"/>
          <p:cNvSpPr/>
          <p:nvPr/>
        </p:nvSpPr>
        <p:spPr>
          <a:xfrm>
            <a:off x="548640" y="1417320"/>
            <a:ext cx="5120640" cy="4480560"/>
          </a:xfrm>
          <a:prstGeom prst="roundRect">
            <a:avLst>
              <a:gd name="adj" fmla="val 2449"/>
            </a:avLst>
          </a:prstGeom>
          <a:solidFill>
            <a:srgbClr val="0B2545"/>
          </a:solidFill>
          <a:ln w="9525">
            <a:solidFill>
              <a:srgbClr val="0B2545"/>
            </a:solidFill>
            <a:prstDash val="solid"/>
          </a:ln>
        </p:spPr>
      </p:sp>
      <p:sp>
        <p:nvSpPr>
          <p:cNvPr id="4" name="Text 2"/>
          <p:cNvSpPr txBox="1"/>
          <p:nvPr/>
        </p:nvSpPr>
        <p:spPr>
          <a:xfrm>
            <a:off x="868680" y="1691640"/>
            <a:ext cx="4480560" cy="365760"/>
          </a:xfrm>
          <a:prstGeom prst="rect">
            <a:avLst/>
          </a:prstGeom>
          <a:noFill/>
          <a:ln/>
        </p:spPr>
        <p:txBody>
          <a:bodyPr wrap="square" lIns="0" tIns="0" rIns="0" bIns="0" rtlCol="0" anchor="t"/>
          <a:lstStyle/>
          <a:p>
            <a:pPr marL="0" indent="0">
              <a:buNone/>
            </a:pPr>
            <a:r>
              <a:rPr lang="en-US" sz="1600" b="1" dirty="0">
                <a:solidFill>
                  <a:srgbClr val="F2A541"/>
                </a:solidFill>
                <a:latin typeface="Calibri" pitchFamily="34" charset="0"/>
                <a:ea typeface="Calibri" pitchFamily="34" charset="-122"/>
                <a:cs typeface="Calibri" pitchFamily="34" charset="-120"/>
              </a:rPr>
              <a:t>Definición</a:t>
            </a:r>
            <a:endParaRPr lang="en-US" sz="1600" dirty="0"/>
          </a:p>
        </p:txBody>
      </p:sp>
      <p:sp>
        <p:nvSpPr>
          <p:cNvPr id="5" name="Text 3"/>
          <p:cNvSpPr txBox="1"/>
          <p:nvPr/>
        </p:nvSpPr>
        <p:spPr>
          <a:xfrm>
            <a:off x="868680" y="2194560"/>
            <a:ext cx="4480560" cy="2651760"/>
          </a:xfrm>
          <a:prstGeom prst="rect">
            <a:avLst/>
          </a:prstGeom>
          <a:noFill/>
          <a:ln/>
        </p:spPr>
        <p:txBody>
          <a:bodyPr wrap="square" lIns="0" tIns="0" rIns="0" bIns="0" rtlCol="0" anchor="t"/>
          <a:lstStyle/>
          <a:p>
            <a:pPr marL="0" indent="0">
              <a:buNone/>
            </a:pPr>
            <a:r>
              <a:rPr lang="en-US" sz="2400" dirty="0">
                <a:solidFill>
                  <a:srgbClr val="FFFFFF"/>
                </a:solidFill>
                <a:latin typeface="Cambria" pitchFamily="34" charset="0"/>
                <a:ea typeface="Cambria" pitchFamily="34" charset="-122"/>
                <a:cs typeface="Cambria" pitchFamily="34" charset="-120"/>
              </a:rPr>
              <a:t>Una declaración que expresa una necesidad de los usuarios o de la organización, junto con sus condiciones y restricciones, y que el sistema debe satisfacer.</a:t>
            </a:r>
            <a:endParaRPr lang="en-US" sz="2400" dirty="0"/>
          </a:p>
        </p:txBody>
      </p:sp>
      <p:sp>
        <p:nvSpPr>
          <p:cNvPr id="6" name="Text 4"/>
          <p:cNvSpPr txBox="1"/>
          <p:nvPr/>
        </p:nvSpPr>
        <p:spPr>
          <a:xfrm>
            <a:off x="868680" y="5212080"/>
            <a:ext cx="4480560" cy="365760"/>
          </a:xfrm>
          <a:prstGeom prst="rect">
            <a:avLst/>
          </a:prstGeom>
          <a:noFill/>
          <a:ln/>
        </p:spPr>
        <p:txBody>
          <a:bodyPr wrap="square" lIns="0" tIns="0" rIns="0" bIns="0" rtlCol="0" anchor="t"/>
          <a:lstStyle/>
          <a:p>
            <a:pPr marL="0" indent="0">
              <a:buNone/>
            </a:pPr>
            <a:r>
              <a:rPr lang="en-US" sz="1300" i="1" dirty="0">
                <a:solidFill>
                  <a:srgbClr val="CADCE0"/>
                </a:solidFill>
                <a:latin typeface="Calibri" pitchFamily="34" charset="0"/>
                <a:ea typeface="Calibri" pitchFamily="34" charset="-122"/>
                <a:cs typeface="Calibri" pitchFamily="34" charset="-120"/>
              </a:rPr>
              <a:t>ISO/IEC/IEEE 29148 (2018)</a:t>
            </a:r>
            <a:endParaRPr lang="en-US" sz="1300" dirty="0"/>
          </a:p>
        </p:txBody>
      </p:sp>
      <p:sp>
        <p:nvSpPr>
          <p:cNvPr id="7" name="Text 5"/>
          <p:cNvSpPr txBox="1"/>
          <p:nvPr/>
        </p:nvSpPr>
        <p:spPr>
          <a:xfrm>
            <a:off x="6126480" y="1417320"/>
            <a:ext cx="5486400" cy="365760"/>
          </a:xfrm>
          <a:prstGeom prst="rect">
            <a:avLst/>
          </a:prstGeom>
          <a:noFill/>
          <a:ln/>
        </p:spPr>
        <p:txBody>
          <a:bodyPr wrap="square" lIns="0" tIns="0" rIns="0" bIns="0" rtlCol="0" anchor="t"/>
          <a:lstStyle/>
          <a:p>
            <a:pPr marL="0" indent="0">
              <a:buNone/>
            </a:pPr>
            <a:r>
              <a:rPr lang="en-US" sz="1800" b="1" dirty="0">
                <a:solidFill>
                  <a:srgbClr val="0B2545"/>
                </a:solidFill>
                <a:latin typeface="Calibri" pitchFamily="34" charset="0"/>
                <a:ea typeface="Calibri" pitchFamily="34" charset="-122"/>
                <a:cs typeface="Calibri" pitchFamily="34" charset="-120"/>
              </a:rPr>
              <a:t>De la necesidad al requerimiento</a:t>
            </a:r>
            <a:endParaRPr lang="en-US" sz="1800" dirty="0"/>
          </a:p>
        </p:txBody>
      </p:sp>
      <p:sp>
        <p:nvSpPr>
          <p:cNvPr id="8" name="Shape 6"/>
          <p:cNvSpPr/>
          <p:nvPr/>
        </p:nvSpPr>
        <p:spPr>
          <a:xfrm>
            <a:off x="6126480" y="1920240"/>
            <a:ext cx="5486400" cy="1600200"/>
          </a:xfrm>
          <a:prstGeom prst="roundRect">
            <a:avLst>
              <a:gd name="adj" fmla="val 6857"/>
            </a:avLst>
          </a:prstGeom>
          <a:solidFill>
            <a:srgbClr val="EAF2F1"/>
          </a:solidFill>
          <a:ln w="9525">
            <a:solidFill>
              <a:srgbClr val="D5E3E1"/>
            </a:solidFill>
            <a:prstDash val="solid"/>
          </a:ln>
        </p:spPr>
      </p:sp>
      <p:sp>
        <p:nvSpPr>
          <p:cNvPr id="9" name="Text 7"/>
          <p:cNvSpPr txBox="1"/>
          <p:nvPr/>
        </p:nvSpPr>
        <p:spPr>
          <a:xfrm>
            <a:off x="6355080" y="2011680"/>
            <a:ext cx="5029200" cy="320040"/>
          </a:xfrm>
          <a:prstGeom prst="rect">
            <a:avLst/>
          </a:prstGeom>
          <a:noFill/>
          <a:ln/>
        </p:spPr>
        <p:txBody>
          <a:bodyPr wrap="square" lIns="0" tIns="0" rIns="0" bIns="0" rtlCol="0" anchor="t"/>
          <a:lstStyle/>
          <a:p>
            <a:pPr marL="0" indent="0">
              <a:buNone/>
            </a:pPr>
            <a:r>
              <a:rPr lang="en-US" sz="1300" b="1" dirty="0">
                <a:solidFill>
                  <a:srgbClr val="1B7F79"/>
                </a:solidFill>
                <a:latin typeface="Calibri" pitchFamily="34" charset="0"/>
                <a:ea typeface="Calibri" pitchFamily="34" charset="-122"/>
                <a:cs typeface="Calibri" pitchFamily="34" charset="-120"/>
              </a:rPr>
              <a:t>Necesidad (lenguaje cotidiano)</a:t>
            </a:r>
            <a:endParaRPr lang="en-US" sz="1300" dirty="0"/>
          </a:p>
        </p:txBody>
      </p:sp>
      <p:sp>
        <p:nvSpPr>
          <p:cNvPr id="10" name="Text 8"/>
          <p:cNvSpPr txBox="1"/>
          <p:nvPr/>
        </p:nvSpPr>
        <p:spPr>
          <a:xfrm>
            <a:off x="6355080" y="2377440"/>
            <a:ext cx="5029200" cy="1005840"/>
          </a:xfrm>
          <a:prstGeom prst="rect">
            <a:avLst/>
          </a:prstGeom>
          <a:noFill/>
          <a:ln/>
        </p:spPr>
        <p:txBody>
          <a:bodyPr wrap="square" lIns="0" tIns="0" rIns="0" bIns="0" rtlCol="0" anchor="t"/>
          <a:lstStyle/>
          <a:p>
            <a:pPr marL="0" indent="0">
              <a:buNone/>
            </a:pPr>
            <a:r>
              <a:rPr lang="en-US" sz="1900" i="1" dirty="0">
                <a:solidFill>
                  <a:srgbClr val="1F2933"/>
                </a:solidFill>
                <a:latin typeface="Calibri" pitchFamily="34" charset="0"/>
                <a:ea typeface="Calibri" pitchFamily="34" charset="-122"/>
                <a:cs typeface="Calibri" pitchFamily="34" charset="-120"/>
              </a:rPr>
              <a:t>“Los estudiantes deben poder consultar sus calificaciones en línea.”</a:t>
            </a:r>
            <a:endParaRPr lang="en-US" sz="1900" dirty="0"/>
          </a:p>
        </p:txBody>
      </p:sp>
      <p:sp>
        <p:nvSpPr>
          <p:cNvPr id="11" name="Text 9"/>
          <p:cNvSpPr txBox="1"/>
          <p:nvPr/>
        </p:nvSpPr>
        <p:spPr>
          <a:xfrm>
            <a:off x="8412480" y="3547872"/>
            <a:ext cx="914400" cy="365760"/>
          </a:xfrm>
          <a:prstGeom prst="rect">
            <a:avLst/>
          </a:prstGeom>
          <a:noFill/>
          <a:ln/>
        </p:spPr>
        <p:txBody>
          <a:bodyPr wrap="square" lIns="0" tIns="0" rIns="0" bIns="0" rtlCol="0" anchor="ctr"/>
          <a:lstStyle/>
          <a:p>
            <a:pPr marL="0" indent="0" algn="ctr">
              <a:buNone/>
            </a:pPr>
            <a:r>
              <a:rPr lang="en-US" sz="2000" dirty="0">
                <a:solidFill>
                  <a:srgbClr val="F2A541"/>
                </a:solidFill>
                <a:latin typeface="Calibri" pitchFamily="34" charset="0"/>
                <a:ea typeface="Calibri" pitchFamily="34" charset="-122"/>
                <a:cs typeface="Calibri" pitchFamily="34" charset="-120"/>
              </a:rPr>
              <a:t>▼</a:t>
            </a:r>
            <a:endParaRPr lang="en-US" sz="2000" dirty="0"/>
          </a:p>
        </p:txBody>
      </p:sp>
      <p:sp>
        <p:nvSpPr>
          <p:cNvPr id="12" name="Shape 10"/>
          <p:cNvSpPr/>
          <p:nvPr/>
        </p:nvSpPr>
        <p:spPr>
          <a:xfrm>
            <a:off x="6126480" y="3931920"/>
            <a:ext cx="5486400" cy="1783080"/>
          </a:xfrm>
          <a:prstGeom prst="roundRect">
            <a:avLst>
              <a:gd name="adj" fmla="val 6154"/>
            </a:avLst>
          </a:prstGeom>
          <a:solidFill>
            <a:srgbClr val="FFFFFF"/>
          </a:solidFill>
          <a:ln w="9525">
            <a:solidFill>
              <a:srgbClr val="1B7F79"/>
            </a:solidFill>
            <a:prstDash val="solid"/>
          </a:ln>
        </p:spPr>
      </p:sp>
      <p:sp>
        <p:nvSpPr>
          <p:cNvPr id="13" name="Text 11"/>
          <p:cNvSpPr txBox="1"/>
          <p:nvPr/>
        </p:nvSpPr>
        <p:spPr>
          <a:xfrm>
            <a:off x="6355080" y="4023360"/>
            <a:ext cx="5029200" cy="320040"/>
          </a:xfrm>
          <a:prstGeom prst="rect">
            <a:avLst/>
          </a:prstGeom>
          <a:noFill/>
          <a:ln/>
        </p:spPr>
        <p:txBody>
          <a:bodyPr wrap="square" lIns="0" tIns="0" rIns="0" bIns="0" rtlCol="0" anchor="t"/>
          <a:lstStyle/>
          <a:p>
            <a:pPr marL="0" indent="0">
              <a:buNone/>
            </a:pPr>
            <a:r>
              <a:rPr lang="en-US" sz="1300" b="1" dirty="0">
                <a:solidFill>
                  <a:srgbClr val="1B7F79"/>
                </a:solidFill>
                <a:latin typeface="Calibri" pitchFamily="34" charset="0"/>
                <a:ea typeface="Calibri" pitchFamily="34" charset="-122"/>
                <a:cs typeface="Calibri" pitchFamily="34" charset="-120"/>
              </a:rPr>
              <a:t>Requerimiento (preciso y verificable)</a:t>
            </a:r>
            <a:endParaRPr lang="en-US" sz="1300" dirty="0"/>
          </a:p>
        </p:txBody>
      </p:sp>
      <p:sp>
        <p:nvSpPr>
          <p:cNvPr id="14" name="Text 12"/>
          <p:cNvSpPr txBox="1"/>
          <p:nvPr/>
        </p:nvSpPr>
        <p:spPr>
          <a:xfrm>
            <a:off x="6355080" y="4389120"/>
            <a:ext cx="5029200" cy="1188720"/>
          </a:xfrm>
          <a:prstGeom prst="rect">
            <a:avLst/>
          </a:prstGeom>
          <a:noFill/>
          <a:ln/>
        </p:spPr>
        <p:txBody>
          <a:bodyPr wrap="square" lIns="0" tIns="0" rIns="0" bIns="0" rtlCol="0" anchor="t"/>
          <a:lstStyle/>
          <a:p>
            <a:pPr marL="0" indent="0">
              <a:buNone/>
            </a:pPr>
            <a:r>
              <a:rPr lang="en-US" sz="1900" i="1" dirty="0">
                <a:solidFill>
                  <a:srgbClr val="1F2933"/>
                </a:solidFill>
                <a:latin typeface="Calibri" pitchFamily="34" charset="0"/>
                <a:ea typeface="Calibri" pitchFamily="34" charset="-122"/>
                <a:cs typeface="Calibri" pitchFamily="34" charset="-120"/>
              </a:rPr>
              <a:t>“El sistema mostrará al estudiante autenticado la lista de calificaciones del período en curso.”</a:t>
            </a:r>
            <a:endParaRPr lang="en-US" sz="1900" dirty="0"/>
          </a:p>
        </p:txBody>
      </p:sp>
      <p:sp>
        <p:nvSpPr>
          <p:cNvPr id="15" name="Text 13"/>
          <p:cNvSpPr txBox="1"/>
          <p:nvPr/>
        </p:nvSpPr>
        <p:spPr>
          <a:xfrm>
            <a:off x="11155680" y="6355080"/>
            <a:ext cx="548640" cy="274320"/>
          </a:xfrm>
          <a:prstGeom prst="rect">
            <a:avLst/>
          </a:prstGeom>
          <a:noFill/>
          <a:ln/>
        </p:spPr>
        <p:txBody>
          <a:bodyPr wrap="square" lIns="0" tIns="0" rIns="0" bIns="0" rtlCol="0" anchor="ctr"/>
          <a:lstStyle/>
          <a:p>
            <a:pPr marL="0" indent="0" algn="r">
              <a:buNone/>
            </a:pPr>
            <a:r>
              <a:rPr lang="en-US" sz="1100" dirty="0">
                <a:solidFill>
                  <a:srgbClr val="5B6770"/>
                </a:solidFill>
                <a:latin typeface="Calibri" pitchFamily="34" charset="0"/>
                <a:ea typeface="Calibri" pitchFamily="34" charset="-122"/>
                <a:cs typeface="Calibri" pitchFamily="34" charset="-120"/>
              </a:rPr>
              <a:t>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777240"/>
          </a:xfrm>
          <a:prstGeom prst="rect">
            <a:avLst/>
          </a:prstGeom>
          <a:noFill/>
          <a:ln/>
        </p:spPr>
        <p:txBody>
          <a:bodyPr wrap="square" lIns="0" tIns="0" rIns="0" bIns="0" rtlCol="0" anchor="ctr"/>
          <a:lstStyle/>
          <a:p>
            <a:pPr marL="0" indent="0">
              <a:buNone/>
            </a:pPr>
            <a:r>
              <a:rPr lang="en-US" sz="3400" b="1" dirty="0">
                <a:solidFill>
                  <a:srgbClr val="0B2545"/>
                </a:solidFill>
                <a:latin typeface="Cambria" pitchFamily="34" charset="0"/>
                <a:ea typeface="Cambria" pitchFamily="34" charset="-122"/>
                <a:cs typeface="Cambria" pitchFamily="34" charset="-120"/>
              </a:rPr>
              <a:t>¿Qué es el levantamiento de requerimientos?</a:t>
            </a:r>
            <a:endParaRPr lang="en-US" sz="3400" dirty="0"/>
          </a:p>
        </p:txBody>
      </p:sp>
      <p:sp>
        <p:nvSpPr>
          <p:cNvPr id="3" name="Text 1"/>
          <p:cNvSpPr txBox="1"/>
          <p:nvPr/>
        </p:nvSpPr>
        <p:spPr>
          <a:xfrm>
            <a:off x="548640" y="1371600"/>
            <a:ext cx="11064240" cy="1097280"/>
          </a:xfrm>
          <a:prstGeom prst="rect">
            <a:avLst/>
          </a:prstGeom>
          <a:noFill/>
          <a:ln/>
        </p:spPr>
        <p:txBody>
          <a:bodyPr wrap="square" lIns="0" tIns="0" rIns="0" bIns="0" rtlCol="0" anchor="t"/>
          <a:lstStyle/>
          <a:p>
            <a:pPr marL="0" indent="0">
              <a:buNone/>
            </a:pPr>
            <a:r>
              <a:rPr lang="en-US" sz="2200" dirty="0">
                <a:solidFill>
                  <a:srgbClr val="1F2933"/>
                </a:solidFill>
                <a:latin typeface="Calibri" pitchFamily="34" charset="0"/>
                <a:ea typeface="Calibri" pitchFamily="34" charset="-122"/>
                <a:cs typeface="Calibri" pitchFamily="34" charset="-120"/>
              </a:rPr>
              <a:t>Conjunto de actividades con las que el equipo descubre, comprende y registra lo que necesitan los actores de un proyecto de software, antes de diseñarlo y construirlo.</a:t>
            </a:r>
            <a:endParaRPr lang="en-US" sz="2200" dirty="0"/>
          </a:p>
        </p:txBody>
      </p:sp>
      <p:sp>
        <p:nvSpPr>
          <p:cNvPr id="4" name="Shape 2"/>
          <p:cNvSpPr/>
          <p:nvPr/>
        </p:nvSpPr>
        <p:spPr>
          <a:xfrm>
            <a:off x="548640" y="2743200"/>
            <a:ext cx="3566160" cy="2560320"/>
          </a:xfrm>
          <a:prstGeom prst="roundRect">
            <a:avLst>
              <a:gd name="adj" fmla="val 4286"/>
            </a:avLst>
          </a:prstGeom>
          <a:solidFill>
            <a:srgbClr val="EAF2F1"/>
          </a:solidFill>
          <a:ln w="9525">
            <a:solidFill>
              <a:srgbClr val="D5E3E1"/>
            </a:solidFill>
            <a:prstDash val="solid"/>
          </a:ln>
        </p:spPr>
      </p:sp>
      <p:sp>
        <p:nvSpPr>
          <p:cNvPr id="5" name="Shape 3"/>
          <p:cNvSpPr/>
          <p:nvPr/>
        </p:nvSpPr>
        <p:spPr>
          <a:xfrm>
            <a:off x="1874520" y="2971800"/>
            <a:ext cx="914400" cy="914400"/>
          </a:xfrm>
          <a:prstGeom prst="ellipse">
            <a:avLst/>
          </a:prstGeom>
          <a:solidFill>
            <a:srgbClr val="1B7F79"/>
          </a:solidFill>
          <a:ln w="12700">
            <a:solidFill>
              <a:srgbClr val="1B7F79"/>
            </a:solidFill>
            <a:prstDash val="solid"/>
          </a:ln>
        </p:spPr>
      </p:sp>
      <p:pic>
        <p:nvPicPr>
          <p:cNvPr id="6" name="Image 0" descr="preencoded.png"/>
          <p:cNvPicPr>
            <a:picLocks noChangeAspect="1"/>
          </p:cNvPicPr>
          <p:nvPr/>
        </p:nvPicPr>
        <p:blipFill>
          <a:blip r:embed="rId3"/>
          <a:stretch>
            <a:fillRect/>
          </a:stretch>
        </p:blipFill>
        <p:spPr>
          <a:xfrm>
            <a:off x="2093976" y="3191256"/>
            <a:ext cx="475488" cy="475488"/>
          </a:xfrm>
          <a:prstGeom prst="rect">
            <a:avLst/>
          </a:prstGeom>
        </p:spPr>
      </p:pic>
      <p:sp>
        <p:nvSpPr>
          <p:cNvPr id="7" name="Text 4"/>
          <p:cNvSpPr txBox="1"/>
          <p:nvPr/>
        </p:nvSpPr>
        <p:spPr>
          <a:xfrm>
            <a:off x="731520" y="4023360"/>
            <a:ext cx="3200400" cy="457200"/>
          </a:xfrm>
          <a:prstGeom prst="rect">
            <a:avLst/>
          </a:prstGeom>
          <a:noFill/>
          <a:ln/>
        </p:spPr>
        <p:txBody>
          <a:bodyPr wrap="square" lIns="0" tIns="0" rIns="0" bIns="0" rtlCol="0" anchor="t"/>
          <a:lstStyle/>
          <a:p>
            <a:pPr marL="0" indent="0" algn="ctr">
              <a:buNone/>
            </a:pPr>
            <a:r>
              <a:rPr lang="en-US" sz="2200" b="1" dirty="0">
                <a:solidFill>
                  <a:srgbClr val="0B2545"/>
                </a:solidFill>
                <a:latin typeface="Calibri" pitchFamily="34" charset="0"/>
                <a:ea typeface="Calibri" pitchFamily="34" charset="-122"/>
                <a:cs typeface="Calibri" pitchFamily="34" charset="-120"/>
              </a:rPr>
              <a:t>Descubrir</a:t>
            </a:r>
            <a:endParaRPr lang="en-US" sz="2200" dirty="0"/>
          </a:p>
        </p:txBody>
      </p:sp>
      <p:sp>
        <p:nvSpPr>
          <p:cNvPr id="8" name="Text 5"/>
          <p:cNvSpPr txBox="1"/>
          <p:nvPr/>
        </p:nvSpPr>
        <p:spPr>
          <a:xfrm>
            <a:off x="822960" y="4526280"/>
            <a:ext cx="3017520" cy="685800"/>
          </a:xfrm>
          <a:prstGeom prst="rect">
            <a:avLst/>
          </a:prstGeom>
          <a:noFill/>
          <a:ln/>
        </p:spPr>
        <p:txBody>
          <a:bodyPr wrap="square" lIns="0" tIns="0" rIns="0" bIns="0" rtlCol="0" anchor="t"/>
          <a:lstStyle/>
          <a:p>
            <a:pPr marL="0" indent="0" algn="ctr">
              <a:buNone/>
            </a:pPr>
            <a:r>
              <a:rPr lang="en-US" sz="1600" dirty="0">
                <a:solidFill>
                  <a:srgbClr val="1F2933"/>
                </a:solidFill>
                <a:latin typeface="Calibri" pitchFamily="34" charset="0"/>
                <a:ea typeface="Calibri" pitchFamily="34" charset="-122"/>
                <a:cs typeface="Calibri" pitchFamily="34" charset="-120"/>
              </a:rPr>
              <a:t>Qué problema hay y quién lo tiene</a:t>
            </a:r>
            <a:endParaRPr lang="en-US" sz="1600" dirty="0"/>
          </a:p>
        </p:txBody>
      </p:sp>
      <p:sp>
        <p:nvSpPr>
          <p:cNvPr id="9" name="Shape 6"/>
          <p:cNvSpPr/>
          <p:nvPr/>
        </p:nvSpPr>
        <p:spPr>
          <a:xfrm>
            <a:off x="4297680" y="2743200"/>
            <a:ext cx="3566160" cy="2560320"/>
          </a:xfrm>
          <a:prstGeom prst="roundRect">
            <a:avLst>
              <a:gd name="adj" fmla="val 4286"/>
            </a:avLst>
          </a:prstGeom>
          <a:solidFill>
            <a:srgbClr val="EAF2F1"/>
          </a:solidFill>
          <a:ln w="9525">
            <a:solidFill>
              <a:srgbClr val="D5E3E1"/>
            </a:solidFill>
            <a:prstDash val="solid"/>
          </a:ln>
        </p:spPr>
      </p:sp>
      <p:sp>
        <p:nvSpPr>
          <p:cNvPr id="10" name="Shape 7"/>
          <p:cNvSpPr/>
          <p:nvPr/>
        </p:nvSpPr>
        <p:spPr>
          <a:xfrm>
            <a:off x="5623560" y="2971800"/>
            <a:ext cx="914400" cy="914400"/>
          </a:xfrm>
          <a:prstGeom prst="ellipse">
            <a:avLst/>
          </a:prstGeom>
          <a:solidFill>
            <a:srgbClr val="2C6E9B"/>
          </a:solidFill>
          <a:ln w="12700">
            <a:solidFill>
              <a:srgbClr val="2C6E9B"/>
            </a:solidFill>
            <a:prstDash val="solid"/>
          </a:ln>
        </p:spPr>
      </p:sp>
      <p:pic>
        <p:nvPicPr>
          <p:cNvPr id="11" name="Image 1" descr="preencoded.png"/>
          <p:cNvPicPr>
            <a:picLocks noChangeAspect="1"/>
          </p:cNvPicPr>
          <p:nvPr/>
        </p:nvPicPr>
        <p:blipFill>
          <a:blip r:embed="rId4"/>
          <a:stretch>
            <a:fillRect/>
          </a:stretch>
        </p:blipFill>
        <p:spPr>
          <a:xfrm>
            <a:off x="5843016" y="3191256"/>
            <a:ext cx="475488" cy="475488"/>
          </a:xfrm>
          <a:prstGeom prst="rect">
            <a:avLst/>
          </a:prstGeom>
        </p:spPr>
      </p:pic>
      <p:sp>
        <p:nvSpPr>
          <p:cNvPr id="12" name="Text 8"/>
          <p:cNvSpPr txBox="1"/>
          <p:nvPr/>
        </p:nvSpPr>
        <p:spPr>
          <a:xfrm>
            <a:off x="4480560" y="4023360"/>
            <a:ext cx="3200400" cy="457200"/>
          </a:xfrm>
          <a:prstGeom prst="rect">
            <a:avLst/>
          </a:prstGeom>
          <a:noFill/>
          <a:ln/>
        </p:spPr>
        <p:txBody>
          <a:bodyPr wrap="square" lIns="0" tIns="0" rIns="0" bIns="0" rtlCol="0" anchor="t"/>
          <a:lstStyle/>
          <a:p>
            <a:pPr marL="0" indent="0" algn="ctr">
              <a:buNone/>
            </a:pPr>
            <a:r>
              <a:rPr lang="en-US" sz="2200" b="1" dirty="0">
                <a:solidFill>
                  <a:srgbClr val="0B2545"/>
                </a:solidFill>
                <a:latin typeface="Calibri" pitchFamily="34" charset="0"/>
                <a:ea typeface="Calibri" pitchFamily="34" charset="-122"/>
                <a:cs typeface="Calibri" pitchFamily="34" charset="-120"/>
              </a:rPr>
              <a:t>Comprender</a:t>
            </a:r>
            <a:endParaRPr lang="en-US" sz="2200" dirty="0"/>
          </a:p>
        </p:txBody>
      </p:sp>
      <p:sp>
        <p:nvSpPr>
          <p:cNvPr id="13" name="Text 9"/>
          <p:cNvSpPr txBox="1"/>
          <p:nvPr/>
        </p:nvSpPr>
        <p:spPr>
          <a:xfrm>
            <a:off x="4572000" y="4526280"/>
            <a:ext cx="3017520" cy="685800"/>
          </a:xfrm>
          <a:prstGeom prst="rect">
            <a:avLst/>
          </a:prstGeom>
          <a:noFill/>
          <a:ln/>
        </p:spPr>
        <p:txBody>
          <a:bodyPr wrap="square" lIns="0" tIns="0" rIns="0" bIns="0" rtlCol="0" anchor="t"/>
          <a:lstStyle/>
          <a:p>
            <a:pPr marL="0" indent="0" algn="ctr">
              <a:buNone/>
            </a:pPr>
            <a:r>
              <a:rPr lang="en-US" sz="1600" dirty="0">
                <a:solidFill>
                  <a:srgbClr val="1F2933"/>
                </a:solidFill>
                <a:latin typeface="Calibri" pitchFamily="34" charset="0"/>
                <a:ea typeface="Calibri" pitchFamily="34" charset="-122"/>
                <a:cs typeface="Calibri" pitchFamily="34" charset="-120"/>
              </a:rPr>
              <a:t>Analizar, contrastar y organizar la información</a:t>
            </a:r>
            <a:endParaRPr lang="en-US" sz="1600" dirty="0"/>
          </a:p>
        </p:txBody>
      </p:sp>
      <p:sp>
        <p:nvSpPr>
          <p:cNvPr id="14" name="Shape 10"/>
          <p:cNvSpPr/>
          <p:nvPr/>
        </p:nvSpPr>
        <p:spPr>
          <a:xfrm>
            <a:off x="8046720" y="2743200"/>
            <a:ext cx="3566160" cy="2560320"/>
          </a:xfrm>
          <a:prstGeom prst="roundRect">
            <a:avLst>
              <a:gd name="adj" fmla="val 4286"/>
            </a:avLst>
          </a:prstGeom>
          <a:solidFill>
            <a:srgbClr val="EAF2F1"/>
          </a:solidFill>
          <a:ln w="9525">
            <a:solidFill>
              <a:srgbClr val="D5E3E1"/>
            </a:solidFill>
            <a:prstDash val="solid"/>
          </a:ln>
        </p:spPr>
      </p:sp>
      <p:sp>
        <p:nvSpPr>
          <p:cNvPr id="15" name="Shape 11"/>
          <p:cNvSpPr/>
          <p:nvPr/>
        </p:nvSpPr>
        <p:spPr>
          <a:xfrm>
            <a:off x="9372600" y="2971800"/>
            <a:ext cx="914400" cy="914400"/>
          </a:xfrm>
          <a:prstGeom prst="ellipse">
            <a:avLst/>
          </a:prstGeom>
          <a:solidFill>
            <a:srgbClr val="0B2545"/>
          </a:solidFill>
          <a:ln w="12700">
            <a:solidFill>
              <a:srgbClr val="0B2545"/>
            </a:solidFill>
            <a:prstDash val="solid"/>
          </a:ln>
        </p:spPr>
      </p:sp>
      <p:pic>
        <p:nvPicPr>
          <p:cNvPr id="16" name="Image 2" descr="preencoded.png"/>
          <p:cNvPicPr>
            <a:picLocks noChangeAspect="1"/>
          </p:cNvPicPr>
          <p:nvPr/>
        </p:nvPicPr>
        <p:blipFill>
          <a:blip r:embed="rId5"/>
          <a:stretch>
            <a:fillRect/>
          </a:stretch>
        </p:blipFill>
        <p:spPr>
          <a:xfrm>
            <a:off x="9592056" y="3191256"/>
            <a:ext cx="475488" cy="475488"/>
          </a:xfrm>
          <a:prstGeom prst="rect">
            <a:avLst/>
          </a:prstGeom>
        </p:spPr>
      </p:pic>
      <p:sp>
        <p:nvSpPr>
          <p:cNvPr id="17" name="Text 12"/>
          <p:cNvSpPr txBox="1"/>
          <p:nvPr/>
        </p:nvSpPr>
        <p:spPr>
          <a:xfrm>
            <a:off x="8229600" y="4023360"/>
            <a:ext cx="3200400" cy="457200"/>
          </a:xfrm>
          <a:prstGeom prst="rect">
            <a:avLst/>
          </a:prstGeom>
          <a:noFill/>
          <a:ln/>
        </p:spPr>
        <p:txBody>
          <a:bodyPr wrap="square" lIns="0" tIns="0" rIns="0" bIns="0" rtlCol="0" anchor="t"/>
          <a:lstStyle/>
          <a:p>
            <a:pPr marL="0" indent="0" algn="ctr">
              <a:buNone/>
            </a:pPr>
            <a:r>
              <a:rPr lang="en-US" sz="2200" b="1" dirty="0">
                <a:solidFill>
                  <a:srgbClr val="0B2545"/>
                </a:solidFill>
                <a:latin typeface="Calibri" pitchFamily="34" charset="0"/>
                <a:ea typeface="Calibri" pitchFamily="34" charset="-122"/>
                <a:cs typeface="Calibri" pitchFamily="34" charset="-120"/>
              </a:rPr>
              <a:t>Acordar</a:t>
            </a:r>
            <a:endParaRPr lang="en-US" sz="2200" dirty="0"/>
          </a:p>
        </p:txBody>
      </p:sp>
      <p:sp>
        <p:nvSpPr>
          <p:cNvPr id="18" name="Text 13"/>
          <p:cNvSpPr txBox="1"/>
          <p:nvPr/>
        </p:nvSpPr>
        <p:spPr>
          <a:xfrm>
            <a:off x="8321040" y="4526280"/>
            <a:ext cx="3017520" cy="685800"/>
          </a:xfrm>
          <a:prstGeom prst="rect">
            <a:avLst/>
          </a:prstGeom>
          <a:noFill/>
          <a:ln/>
        </p:spPr>
        <p:txBody>
          <a:bodyPr wrap="square" lIns="0" tIns="0" rIns="0" bIns="0" rtlCol="0" anchor="t"/>
          <a:lstStyle/>
          <a:p>
            <a:pPr marL="0" indent="0" algn="ctr">
              <a:buNone/>
            </a:pPr>
            <a:r>
              <a:rPr lang="en-US" sz="1600" dirty="0">
                <a:solidFill>
                  <a:srgbClr val="1F2933"/>
                </a:solidFill>
                <a:latin typeface="Calibri" pitchFamily="34" charset="0"/>
                <a:ea typeface="Calibri" pitchFamily="34" charset="-122"/>
                <a:cs typeface="Calibri" pitchFamily="34" charset="-120"/>
              </a:rPr>
              <a:t>Negociar y confirmar con los actores</a:t>
            </a:r>
            <a:endParaRPr lang="en-US" sz="1600" dirty="0"/>
          </a:p>
        </p:txBody>
      </p:sp>
      <p:sp>
        <p:nvSpPr>
          <p:cNvPr id="19" name="Text 14"/>
          <p:cNvSpPr txBox="1"/>
          <p:nvPr/>
        </p:nvSpPr>
        <p:spPr>
          <a:xfrm>
            <a:off x="548640" y="5623560"/>
            <a:ext cx="11064240" cy="548640"/>
          </a:xfrm>
          <a:prstGeom prst="rect">
            <a:avLst/>
          </a:prstGeom>
          <a:noFill/>
          <a:ln/>
        </p:spPr>
        <p:txBody>
          <a:bodyPr wrap="square" lIns="0" tIns="0" rIns="0" bIns="0" rtlCol="0" anchor="t"/>
          <a:lstStyle/>
          <a:p>
            <a:pPr marL="0" indent="0">
              <a:buNone/>
            </a:pPr>
            <a:r>
              <a:rPr lang="en-US" sz="1500" i="1" dirty="0">
                <a:solidFill>
                  <a:srgbClr val="5B6770"/>
                </a:solidFill>
                <a:latin typeface="Calibri" pitchFamily="34" charset="0"/>
                <a:ea typeface="Calibri" pitchFamily="34" charset="-122"/>
                <a:cs typeface="Calibri" pitchFamily="34" charset="-120"/>
              </a:rPr>
              <a:t>También se le llama obtención, captura, educción o toma de requerimientos; en inglés, requirements elicitation.</a:t>
            </a:r>
            <a:endParaRPr lang="en-US" sz="1500" dirty="0"/>
          </a:p>
        </p:txBody>
      </p:sp>
      <p:sp>
        <p:nvSpPr>
          <p:cNvPr id="20" name="Text 15"/>
          <p:cNvSpPr txBox="1"/>
          <p:nvPr/>
        </p:nvSpPr>
        <p:spPr>
          <a:xfrm>
            <a:off x="11155680" y="6355080"/>
            <a:ext cx="548640" cy="274320"/>
          </a:xfrm>
          <a:prstGeom prst="rect">
            <a:avLst/>
          </a:prstGeom>
          <a:noFill/>
          <a:ln/>
        </p:spPr>
        <p:txBody>
          <a:bodyPr wrap="square" lIns="0" tIns="0" rIns="0" bIns="0" rtlCol="0" anchor="ctr"/>
          <a:lstStyle/>
          <a:p>
            <a:pPr marL="0" indent="0" algn="r">
              <a:buNone/>
            </a:pPr>
            <a:r>
              <a:rPr lang="en-US" sz="1100" dirty="0">
                <a:solidFill>
                  <a:srgbClr val="5B6770"/>
                </a:solidFill>
                <a:latin typeface="Calibri" pitchFamily="34" charset="0"/>
                <a:ea typeface="Calibri" pitchFamily="34" charset="-122"/>
                <a:cs typeface="Calibri" pitchFamily="34" charset="-120"/>
              </a:rPr>
              <a:t>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777240"/>
          </a:xfrm>
          <a:prstGeom prst="rect">
            <a:avLst/>
          </a:prstGeom>
          <a:noFill/>
          <a:ln/>
        </p:spPr>
        <p:txBody>
          <a:bodyPr wrap="square" lIns="0" tIns="0" rIns="0" bIns="0" rtlCol="0" anchor="ctr"/>
          <a:lstStyle/>
          <a:p>
            <a:pPr marL="0" indent="0">
              <a:buNone/>
            </a:pPr>
            <a:r>
              <a:rPr lang="en-US" sz="3400" b="1" dirty="0">
                <a:solidFill>
                  <a:srgbClr val="0B2545"/>
                </a:solidFill>
                <a:latin typeface="Cambria" pitchFamily="34" charset="0"/>
                <a:ea typeface="Cambria" pitchFamily="34" charset="-122"/>
                <a:cs typeface="Cambria" pitchFamily="34" charset="-120"/>
              </a:rPr>
              <a:t>¿Por qué es tan importante?</a:t>
            </a:r>
            <a:endParaRPr lang="en-US" sz="3400" dirty="0"/>
          </a:p>
        </p:txBody>
      </p:sp>
      <p:sp>
        <p:nvSpPr>
          <p:cNvPr id="3" name="Shape 1"/>
          <p:cNvSpPr/>
          <p:nvPr/>
        </p:nvSpPr>
        <p:spPr>
          <a:xfrm>
            <a:off x="548640" y="1417320"/>
            <a:ext cx="3566160" cy="4206240"/>
          </a:xfrm>
          <a:prstGeom prst="roundRect">
            <a:avLst>
              <a:gd name="adj" fmla="val 3077"/>
            </a:avLst>
          </a:prstGeom>
          <a:solidFill>
            <a:srgbClr val="1B7F79"/>
          </a:solidFill>
          <a:ln w="9525">
            <a:solidFill>
              <a:srgbClr val="1B7F79"/>
            </a:solidFill>
            <a:prstDash val="solid"/>
          </a:ln>
        </p:spPr>
      </p:sp>
      <p:sp>
        <p:nvSpPr>
          <p:cNvPr id="4" name="Text 2"/>
          <p:cNvSpPr txBox="1"/>
          <p:nvPr/>
        </p:nvSpPr>
        <p:spPr>
          <a:xfrm>
            <a:off x="731520" y="1691640"/>
            <a:ext cx="3200400" cy="1280160"/>
          </a:xfrm>
          <a:prstGeom prst="rect">
            <a:avLst/>
          </a:prstGeom>
          <a:noFill/>
          <a:ln/>
        </p:spPr>
        <p:txBody>
          <a:bodyPr wrap="square" lIns="0" tIns="0" rIns="0" bIns="0" rtlCol="0" anchor="ctr"/>
          <a:lstStyle/>
          <a:p>
            <a:pPr marL="0" indent="0" algn="ctr">
              <a:buNone/>
            </a:pPr>
            <a:r>
              <a:rPr lang="en-US" sz="6600" b="1" dirty="0">
                <a:solidFill>
                  <a:srgbClr val="F2A541"/>
                </a:solidFill>
                <a:latin typeface="Cambria" pitchFamily="34" charset="0"/>
                <a:ea typeface="Cambria" pitchFamily="34" charset="-122"/>
                <a:cs typeface="Cambria" pitchFamily="34" charset="-120"/>
              </a:rPr>
              <a:t>47 %</a:t>
            </a:r>
            <a:endParaRPr lang="en-US" sz="6600" dirty="0"/>
          </a:p>
        </p:txBody>
      </p:sp>
      <p:sp>
        <p:nvSpPr>
          <p:cNvPr id="5" name="Text 3"/>
          <p:cNvSpPr txBox="1"/>
          <p:nvPr/>
        </p:nvSpPr>
        <p:spPr>
          <a:xfrm>
            <a:off x="822960" y="3108960"/>
            <a:ext cx="3017520" cy="2286000"/>
          </a:xfrm>
          <a:prstGeom prst="rect">
            <a:avLst/>
          </a:prstGeom>
          <a:noFill/>
          <a:ln/>
        </p:spPr>
        <p:txBody>
          <a:bodyPr wrap="square" lIns="0" tIns="0" rIns="0" bIns="0" rtlCol="0" anchor="t"/>
          <a:lstStyle/>
          <a:p>
            <a:pPr marL="0" indent="0" algn="ctr">
              <a:buNone/>
            </a:pPr>
            <a:r>
              <a:rPr lang="en-US" sz="2000" dirty="0">
                <a:solidFill>
                  <a:srgbClr val="FFFFFF"/>
                </a:solidFill>
                <a:latin typeface="Calibri" pitchFamily="34" charset="0"/>
                <a:ea typeface="Calibri" pitchFamily="34" charset="-122"/>
                <a:cs typeface="Calibri" pitchFamily="34" charset="-120"/>
              </a:rPr>
              <a:t>de los proyectos no exitosos no alcanzan sus metas por una gestión inadecuada de los requerimientos</a:t>
            </a:r>
            <a:endParaRPr lang="en-US" sz="2000" dirty="0"/>
          </a:p>
        </p:txBody>
      </p:sp>
      <p:sp>
        <p:nvSpPr>
          <p:cNvPr id="6" name="Shape 4"/>
          <p:cNvSpPr/>
          <p:nvPr/>
        </p:nvSpPr>
        <p:spPr>
          <a:xfrm>
            <a:off x="4297680" y="1417320"/>
            <a:ext cx="3566160" cy="4206240"/>
          </a:xfrm>
          <a:prstGeom prst="roundRect">
            <a:avLst>
              <a:gd name="adj" fmla="val 3077"/>
            </a:avLst>
          </a:prstGeom>
          <a:solidFill>
            <a:srgbClr val="0B2545"/>
          </a:solidFill>
          <a:ln w="9525">
            <a:solidFill>
              <a:srgbClr val="0B2545"/>
            </a:solidFill>
            <a:prstDash val="solid"/>
          </a:ln>
        </p:spPr>
      </p:sp>
      <p:sp>
        <p:nvSpPr>
          <p:cNvPr id="7" name="Text 5"/>
          <p:cNvSpPr txBox="1"/>
          <p:nvPr/>
        </p:nvSpPr>
        <p:spPr>
          <a:xfrm>
            <a:off x="4480560" y="1691640"/>
            <a:ext cx="3200400" cy="1280160"/>
          </a:xfrm>
          <a:prstGeom prst="rect">
            <a:avLst/>
          </a:prstGeom>
          <a:noFill/>
          <a:ln/>
        </p:spPr>
        <p:txBody>
          <a:bodyPr wrap="square" lIns="0" tIns="0" rIns="0" bIns="0" rtlCol="0" anchor="ctr"/>
          <a:lstStyle/>
          <a:p>
            <a:pPr marL="0" indent="0" algn="ctr">
              <a:buNone/>
            </a:pPr>
            <a:r>
              <a:rPr lang="en-US" sz="6600" b="1" dirty="0">
                <a:solidFill>
                  <a:srgbClr val="F2A541"/>
                </a:solidFill>
                <a:latin typeface="Cambria" pitchFamily="34" charset="0"/>
                <a:ea typeface="Cambria" pitchFamily="34" charset="-122"/>
                <a:cs typeface="Cambria" pitchFamily="34" charset="-120"/>
              </a:rPr>
              <a:t>5,1 %</a:t>
            </a:r>
            <a:endParaRPr lang="en-US" sz="6600" dirty="0"/>
          </a:p>
        </p:txBody>
      </p:sp>
      <p:sp>
        <p:nvSpPr>
          <p:cNvPr id="8" name="Text 6"/>
          <p:cNvSpPr txBox="1"/>
          <p:nvPr/>
        </p:nvSpPr>
        <p:spPr>
          <a:xfrm>
            <a:off x="4572000" y="3108960"/>
            <a:ext cx="3017520" cy="2286000"/>
          </a:xfrm>
          <a:prstGeom prst="rect">
            <a:avLst/>
          </a:prstGeom>
          <a:noFill/>
          <a:ln/>
        </p:spPr>
        <p:txBody>
          <a:bodyPr wrap="square" lIns="0" tIns="0" rIns="0" bIns="0" rtlCol="0" anchor="t"/>
          <a:lstStyle/>
          <a:p>
            <a:pPr marL="0" indent="0" algn="ctr">
              <a:buNone/>
            </a:pPr>
            <a:r>
              <a:rPr lang="en-US" sz="2000" dirty="0">
                <a:solidFill>
                  <a:srgbClr val="FFFFFF"/>
                </a:solidFill>
                <a:latin typeface="Calibri" pitchFamily="34" charset="0"/>
                <a:ea typeface="Calibri" pitchFamily="34" charset="-122"/>
                <a:cs typeface="Calibri" pitchFamily="34" charset="-120"/>
              </a:rPr>
              <a:t>de cada dólar invertido en proyectos se desperdicia por una mala gestión de los requerimientos</a:t>
            </a:r>
            <a:endParaRPr lang="en-US" sz="2000" dirty="0"/>
          </a:p>
        </p:txBody>
      </p:sp>
      <p:sp>
        <p:nvSpPr>
          <p:cNvPr id="9" name="Shape 7"/>
          <p:cNvSpPr/>
          <p:nvPr/>
        </p:nvSpPr>
        <p:spPr>
          <a:xfrm>
            <a:off x="8046720" y="1417320"/>
            <a:ext cx="3566160" cy="4206240"/>
          </a:xfrm>
          <a:prstGeom prst="roundRect">
            <a:avLst>
              <a:gd name="adj" fmla="val 3077"/>
            </a:avLst>
          </a:prstGeom>
          <a:solidFill>
            <a:srgbClr val="EAF2F1"/>
          </a:solidFill>
          <a:ln w="9525">
            <a:solidFill>
              <a:srgbClr val="D5E3E1"/>
            </a:solidFill>
            <a:prstDash val="solid"/>
          </a:ln>
        </p:spPr>
      </p:sp>
      <p:sp>
        <p:nvSpPr>
          <p:cNvPr id="10" name="Shape 8"/>
          <p:cNvSpPr/>
          <p:nvPr/>
        </p:nvSpPr>
        <p:spPr>
          <a:xfrm>
            <a:off x="9189720" y="1691640"/>
            <a:ext cx="1280160" cy="1280160"/>
          </a:xfrm>
          <a:prstGeom prst="ellipse">
            <a:avLst/>
          </a:prstGeom>
          <a:solidFill>
            <a:srgbClr val="F2A541"/>
          </a:solidFill>
          <a:ln w="12700">
            <a:solidFill>
              <a:srgbClr val="F2A541"/>
            </a:solidFill>
            <a:prstDash val="solid"/>
          </a:ln>
        </p:spPr>
      </p:sp>
      <p:pic>
        <p:nvPicPr>
          <p:cNvPr id="11" name="Image 0" descr="preencoded.png"/>
          <p:cNvPicPr>
            <a:picLocks noChangeAspect="1"/>
          </p:cNvPicPr>
          <p:nvPr/>
        </p:nvPicPr>
        <p:blipFill>
          <a:blip r:embed="rId3"/>
          <a:stretch>
            <a:fillRect/>
          </a:stretch>
        </p:blipFill>
        <p:spPr>
          <a:xfrm>
            <a:off x="9509760" y="2011680"/>
            <a:ext cx="640080" cy="640080"/>
          </a:xfrm>
          <a:prstGeom prst="rect">
            <a:avLst/>
          </a:prstGeom>
        </p:spPr>
      </p:pic>
      <p:sp>
        <p:nvSpPr>
          <p:cNvPr id="12" name="Text 9"/>
          <p:cNvSpPr txBox="1"/>
          <p:nvPr/>
        </p:nvSpPr>
        <p:spPr>
          <a:xfrm>
            <a:off x="8229600" y="3154680"/>
            <a:ext cx="3200400" cy="457200"/>
          </a:xfrm>
          <a:prstGeom prst="rect">
            <a:avLst/>
          </a:prstGeom>
          <a:noFill/>
          <a:ln/>
        </p:spPr>
        <p:txBody>
          <a:bodyPr wrap="square" lIns="0" tIns="0" rIns="0" bIns="0" rtlCol="0" anchor="t"/>
          <a:lstStyle/>
          <a:p>
            <a:pPr marL="0" indent="0" algn="ctr">
              <a:buNone/>
            </a:pPr>
            <a:r>
              <a:rPr lang="en-US" sz="2000" b="1" dirty="0">
                <a:solidFill>
                  <a:srgbClr val="0B2545"/>
                </a:solidFill>
                <a:latin typeface="Calibri" pitchFamily="34" charset="0"/>
                <a:ea typeface="Calibri" pitchFamily="34" charset="-122"/>
                <a:cs typeface="Calibri" pitchFamily="34" charset="-120"/>
              </a:rPr>
              <a:t>El error se encarece</a:t>
            </a:r>
            <a:endParaRPr lang="en-US" sz="2000" dirty="0"/>
          </a:p>
        </p:txBody>
      </p:sp>
      <p:sp>
        <p:nvSpPr>
          <p:cNvPr id="13" name="Text 10"/>
          <p:cNvSpPr txBox="1"/>
          <p:nvPr/>
        </p:nvSpPr>
        <p:spPr>
          <a:xfrm>
            <a:off x="8321040" y="3703320"/>
            <a:ext cx="3017520" cy="1828800"/>
          </a:xfrm>
          <a:prstGeom prst="rect">
            <a:avLst/>
          </a:prstGeom>
          <a:noFill/>
          <a:ln/>
        </p:spPr>
        <p:txBody>
          <a:bodyPr wrap="square" lIns="0" tIns="0" rIns="0" bIns="0" rtlCol="0" anchor="t"/>
          <a:lstStyle/>
          <a:p>
            <a:pPr marL="0" indent="0" algn="ctr">
              <a:buNone/>
            </a:pPr>
            <a:r>
              <a:rPr lang="en-US" sz="1800" dirty="0">
                <a:solidFill>
                  <a:srgbClr val="1F2933"/>
                </a:solidFill>
                <a:latin typeface="Calibri" pitchFamily="34" charset="0"/>
                <a:ea typeface="Calibri" pitchFamily="34" charset="-122"/>
                <a:cs typeface="Calibri" pitchFamily="34" charset="-120"/>
              </a:rPr>
              <a:t>Cuanto más tarde se detecta un error de requerimientos, más costoso es corregirlo: afecta al diseño, al código y a las pruebas.</a:t>
            </a:r>
            <a:endParaRPr lang="en-US" sz="1800" dirty="0"/>
          </a:p>
        </p:txBody>
      </p:sp>
      <p:sp>
        <p:nvSpPr>
          <p:cNvPr id="14" name="Text 11"/>
          <p:cNvSpPr txBox="1"/>
          <p:nvPr/>
        </p:nvSpPr>
        <p:spPr>
          <a:xfrm>
            <a:off x="548640" y="6355080"/>
            <a:ext cx="10424160" cy="274320"/>
          </a:xfrm>
          <a:prstGeom prst="rect">
            <a:avLst/>
          </a:prstGeom>
          <a:noFill/>
          <a:ln/>
        </p:spPr>
        <p:txBody>
          <a:bodyPr wrap="square" lIns="0" tIns="0" rIns="0" bIns="0" rtlCol="0" anchor="ctr"/>
          <a:lstStyle/>
          <a:p>
            <a:pPr marL="0" indent="0">
              <a:buNone/>
            </a:pPr>
            <a:endParaRPr lang="en-US" sz="1050" dirty="0"/>
          </a:p>
        </p:txBody>
      </p:sp>
      <p:sp>
        <p:nvSpPr>
          <p:cNvPr id="15" name="Text 12"/>
          <p:cNvSpPr txBox="1"/>
          <p:nvPr/>
        </p:nvSpPr>
        <p:spPr>
          <a:xfrm>
            <a:off x="11155680" y="6355080"/>
            <a:ext cx="548640" cy="274320"/>
          </a:xfrm>
          <a:prstGeom prst="rect">
            <a:avLst/>
          </a:prstGeom>
          <a:noFill/>
          <a:ln/>
        </p:spPr>
        <p:txBody>
          <a:bodyPr wrap="square" lIns="0" tIns="0" rIns="0" bIns="0" rtlCol="0" anchor="ctr"/>
          <a:lstStyle/>
          <a:p>
            <a:pPr marL="0" indent="0" algn="r">
              <a:buNone/>
            </a:pPr>
            <a:r>
              <a:rPr lang="en-US" sz="1100" dirty="0">
                <a:solidFill>
                  <a:srgbClr val="5B6770"/>
                </a:solidFill>
                <a:latin typeface="Calibri" pitchFamily="34" charset="0"/>
                <a:ea typeface="Calibri" pitchFamily="34" charset="-122"/>
                <a:cs typeface="Calibri" pitchFamily="34" charset="-120"/>
              </a:rPr>
              <a:t>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777240"/>
          </a:xfrm>
          <a:prstGeom prst="rect">
            <a:avLst/>
          </a:prstGeom>
          <a:noFill/>
          <a:ln/>
        </p:spPr>
        <p:txBody>
          <a:bodyPr wrap="square" lIns="0" tIns="0" rIns="0" bIns="0" rtlCol="0" anchor="ctr"/>
          <a:lstStyle/>
          <a:p>
            <a:pPr marL="0" indent="0">
              <a:buNone/>
            </a:pPr>
            <a:r>
              <a:rPr lang="en-US" sz="3400" b="1" dirty="0">
                <a:solidFill>
                  <a:srgbClr val="0B2545"/>
                </a:solidFill>
                <a:latin typeface="Cambria" pitchFamily="34" charset="0"/>
                <a:ea typeface="Cambria" pitchFamily="34" charset="-122"/>
                <a:cs typeface="Cambria" pitchFamily="34" charset="-120"/>
              </a:rPr>
              <a:t>Niveles de requerimientos</a:t>
            </a:r>
            <a:endParaRPr lang="en-US" sz="3400" dirty="0"/>
          </a:p>
        </p:txBody>
      </p:sp>
      <p:pic>
        <p:nvPicPr>
          <p:cNvPr id="3" name="Image 0" descr="img/fig2_niveles.png"/>
          <p:cNvPicPr>
            <a:picLocks noChangeAspect="1"/>
          </p:cNvPicPr>
          <p:nvPr/>
        </p:nvPicPr>
        <p:blipFill>
          <a:blip r:embed="rId3"/>
          <a:stretch>
            <a:fillRect/>
          </a:stretch>
        </p:blipFill>
        <p:spPr>
          <a:xfrm>
            <a:off x="457200" y="1463040"/>
            <a:ext cx="6583680" cy="3346704"/>
          </a:xfrm>
          <a:prstGeom prst="rect">
            <a:avLst/>
          </a:prstGeom>
        </p:spPr>
      </p:pic>
      <p:sp>
        <p:nvSpPr>
          <p:cNvPr id="4" name="Text 1"/>
          <p:cNvSpPr txBox="1"/>
          <p:nvPr/>
        </p:nvSpPr>
        <p:spPr>
          <a:xfrm>
            <a:off x="7406640" y="1417320"/>
            <a:ext cx="4206240" cy="365760"/>
          </a:xfrm>
          <a:prstGeom prst="rect">
            <a:avLst/>
          </a:prstGeom>
          <a:noFill/>
          <a:ln/>
        </p:spPr>
        <p:txBody>
          <a:bodyPr wrap="square" lIns="0" tIns="0" rIns="0" bIns="0" rtlCol="0" anchor="t"/>
          <a:lstStyle/>
          <a:p>
            <a:pPr marL="0" indent="0">
              <a:buNone/>
            </a:pPr>
            <a:r>
              <a:rPr lang="en-US" sz="1600" b="1" dirty="0">
                <a:solidFill>
                  <a:srgbClr val="0B2545"/>
                </a:solidFill>
                <a:latin typeface="Calibri" pitchFamily="34" charset="0"/>
                <a:ea typeface="Calibri" pitchFamily="34" charset="-122"/>
                <a:cs typeface="Calibri" pitchFamily="34" charset="-120"/>
              </a:rPr>
              <a:t>Ejemplo: biblioteca universitaria</a:t>
            </a:r>
            <a:endParaRPr lang="en-US" sz="1600" dirty="0"/>
          </a:p>
        </p:txBody>
      </p:sp>
      <p:sp>
        <p:nvSpPr>
          <p:cNvPr id="5" name="Shape 2"/>
          <p:cNvSpPr/>
          <p:nvPr/>
        </p:nvSpPr>
        <p:spPr>
          <a:xfrm>
            <a:off x="7406640" y="1920240"/>
            <a:ext cx="4206240" cy="1188720"/>
          </a:xfrm>
          <a:prstGeom prst="roundRect">
            <a:avLst>
              <a:gd name="adj" fmla="val 9231"/>
            </a:avLst>
          </a:prstGeom>
          <a:solidFill>
            <a:srgbClr val="EAF2F1"/>
          </a:solidFill>
          <a:ln w="9525">
            <a:solidFill>
              <a:srgbClr val="D5E3E1"/>
            </a:solidFill>
            <a:prstDash val="solid"/>
          </a:ln>
        </p:spPr>
      </p:sp>
      <p:sp>
        <p:nvSpPr>
          <p:cNvPr id="6" name="Shape 3"/>
          <p:cNvSpPr/>
          <p:nvPr/>
        </p:nvSpPr>
        <p:spPr>
          <a:xfrm>
            <a:off x="7589520" y="2286000"/>
            <a:ext cx="457200" cy="457200"/>
          </a:xfrm>
          <a:prstGeom prst="ellipse">
            <a:avLst/>
          </a:prstGeom>
          <a:solidFill>
            <a:srgbClr val="1B7F79"/>
          </a:solidFill>
          <a:ln w="12700">
            <a:solidFill>
              <a:srgbClr val="1B7F79"/>
            </a:solidFill>
            <a:prstDash val="solid"/>
          </a:ln>
        </p:spPr>
      </p:sp>
      <p:sp>
        <p:nvSpPr>
          <p:cNvPr id="7" name="Text 4"/>
          <p:cNvSpPr txBox="1"/>
          <p:nvPr/>
        </p:nvSpPr>
        <p:spPr>
          <a:xfrm>
            <a:off x="8183880" y="2011680"/>
            <a:ext cx="3291840" cy="365760"/>
          </a:xfrm>
          <a:prstGeom prst="rect">
            <a:avLst/>
          </a:prstGeom>
          <a:noFill/>
          <a:ln/>
        </p:spPr>
        <p:txBody>
          <a:bodyPr wrap="square" lIns="0" tIns="0" rIns="0" bIns="0" rtlCol="0" anchor="t"/>
          <a:lstStyle/>
          <a:p>
            <a:pPr marL="0" indent="0">
              <a:buNone/>
            </a:pPr>
            <a:r>
              <a:rPr lang="en-US" sz="1600" b="1" dirty="0">
                <a:solidFill>
                  <a:srgbClr val="1B7F79"/>
                </a:solidFill>
                <a:latin typeface="Calibri" pitchFamily="34" charset="0"/>
                <a:ea typeface="Calibri" pitchFamily="34" charset="-122"/>
                <a:cs typeface="Calibri" pitchFamily="34" charset="-120"/>
              </a:rPr>
              <a:t>Negocio</a:t>
            </a:r>
            <a:endParaRPr lang="en-US" sz="1600" dirty="0"/>
          </a:p>
        </p:txBody>
      </p:sp>
      <p:sp>
        <p:nvSpPr>
          <p:cNvPr id="8" name="Text 5"/>
          <p:cNvSpPr txBox="1"/>
          <p:nvPr/>
        </p:nvSpPr>
        <p:spPr>
          <a:xfrm>
            <a:off x="8183880" y="2377440"/>
            <a:ext cx="3291840" cy="685800"/>
          </a:xfrm>
          <a:prstGeom prst="rect">
            <a:avLst/>
          </a:prstGeom>
          <a:noFill/>
          <a:ln/>
        </p:spPr>
        <p:txBody>
          <a:bodyPr wrap="square" lIns="0" tIns="0" rIns="0" bIns="0" rtlCol="0" anchor="t"/>
          <a:lstStyle/>
          <a:p>
            <a:pPr marL="0" indent="0">
              <a:buNone/>
            </a:pPr>
            <a:r>
              <a:rPr lang="en-US" sz="1400" dirty="0">
                <a:solidFill>
                  <a:srgbClr val="1F2933"/>
                </a:solidFill>
                <a:latin typeface="Calibri" pitchFamily="34" charset="0"/>
                <a:ea typeface="Calibri" pitchFamily="34" charset="-122"/>
                <a:cs typeface="Calibri" pitchFamily="34" charset="-120"/>
              </a:rPr>
              <a:t>Reducir el tiempo que el personal dedica a controlar los préstamos.</a:t>
            </a:r>
            <a:endParaRPr lang="en-US" sz="1400" dirty="0"/>
          </a:p>
        </p:txBody>
      </p:sp>
      <p:sp>
        <p:nvSpPr>
          <p:cNvPr id="9" name="Shape 6"/>
          <p:cNvSpPr/>
          <p:nvPr/>
        </p:nvSpPr>
        <p:spPr>
          <a:xfrm>
            <a:off x="7406640" y="3291840"/>
            <a:ext cx="4206240" cy="1188720"/>
          </a:xfrm>
          <a:prstGeom prst="roundRect">
            <a:avLst>
              <a:gd name="adj" fmla="val 9231"/>
            </a:avLst>
          </a:prstGeom>
          <a:solidFill>
            <a:srgbClr val="EAF2F1"/>
          </a:solidFill>
          <a:ln w="9525">
            <a:solidFill>
              <a:srgbClr val="D5E3E1"/>
            </a:solidFill>
            <a:prstDash val="solid"/>
          </a:ln>
        </p:spPr>
      </p:sp>
      <p:sp>
        <p:nvSpPr>
          <p:cNvPr id="10" name="Shape 7"/>
          <p:cNvSpPr/>
          <p:nvPr/>
        </p:nvSpPr>
        <p:spPr>
          <a:xfrm>
            <a:off x="7589520" y="3657600"/>
            <a:ext cx="457200" cy="457200"/>
          </a:xfrm>
          <a:prstGeom prst="ellipse">
            <a:avLst/>
          </a:prstGeom>
          <a:solidFill>
            <a:srgbClr val="2C6E9B"/>
          </a:solidFill>
          <a:ln w="12700">
            <a:solidFill>
              <a:srgbClr val="2C6E9B"/>
            </a:solidFill>
            <a:prstDash val="solid"/>
          </a:ln>
        </p:spPr>
      </p:sp>
      <p:sp>
        <p:nvSpPr>
          <p:cNvPr id="11" name="Text 8"/>
          <p:cNvSpPr txBox="1"/>
          <p:nvPr/>
        </p:nvSpPr>
        <p:spPr>
          <a:xfrm>
            <a:off x="8183880" y="3383280"/>
            <a:ext cx="3291840" cy="365760"/>
          </a:xfrm>
          <a:prstGeom prst="rect">
            <a:avLst/>
          </a:prstGeom>
          <a:noFill/>
          <a:ln/>
        </p:spPr>
        <p:txBody>
          <a:bodyPr wrap="square" lIns="0" tIns="0" rIns="0" bIns="0" rtlCol="0" anchor="t"/>
          <a:lstStyle/>
          <a:p>
            <a:pPr marL="0" indent="0">
              <a:buNone/>
            </a:pPr>
            <a:r>
              <a:rPr lang="en-US" sz="1600" b="1" dirty="0">
                <a:solidFill>
                  <a:srgbClr val="2C6E9B"/>
                </a:solidFill>
                <a:latin typeface="Calibri" pitchFamily="34" charset="0"/>
                <a:ea typeface="Calibri" pitchFamily="34" charset="-122"/>
                <a:cs typeface="Calibri" pitchFamily="34" charset="-120"/>
              </a:rPr>
              <a:t>Usuario</a:t>
            </a:r>
            <a:endParaRPr lang="en-US" sz="1600" dirty="0"/>
          </a:p>
        </p:txBody>
      </p:sp>
      <p:sp>
        <p:nvSpPr>
          <p:cNvPr id="12" name="Text 9"/>
          <p:cNvSpPr txBox="1"/>
          <p:nvPr/>
        </p:nvSpPr>
        <p:spPr>
          <a:xfrm>
            <a:off x="8183880" y="3749040"/>
            <a:ext cx="3291840" cy="685800"/>
          </a:xfrm>
          <a:prstGeom prst="rect">
            <a:avLst/>
          </a:prstGeom>
          <a:noFill/>
          <a:ln/>
        </p:spPr>
        <p:txBody>
          <a:bodyPr wrap="square" lIns="0" tIns="0" rIns="0" bIns="0" rtlCol="0" anchor="t"/>
          <a:lstStyle/>
          <a:p>
            <a:pPr marL="0" indent="0">
              <a:buNone/>
            </a:pPr>
            <a:r>
              <a:rPr lang="en-US" sz="1400" dirty="0">
                <a:solidFill>
                  <a:srgbClr val="1F2933"/>
                </a:solidFill>
                <a:latin typeface="Calibri" pitchFamily="34" charset="0"/>
                <a:ea typeface="Calibri" pitchFamily="34" charset="-122"/>
                <a:cs typeface="Calibri" pitchFamily="34" charset="-120"/>
              </a:rPr>
              <a:t>El bibliotecario necesita registrar un préstamo en pocos pasos.</a:t>
            </a:r>
            <a:endParaRPr lang="en-US" sz="1400" dirty="0"/>
          </a:p>
        </p:txBody>
      </p:sp>
      <p:sp>
        <p:nvSpPr>
          <p:cNvPr id="13" name="Shape 10"/>
          <p:cNvSpPr/>
          <p:nvPr/>
        </p:nvSpPr>
        <p:spPr>
          <a:xfrm>
            <a:off x="7406640" y="4663440"/>
            <a:ext cx="4206240" cy="1188720"/>
          </a:xfrm>
          <a:prstGeom prst="roundRect">
            <a:avLst>
              <a:gd name="adj" fmla="val 9231"/>
            </a:avLst>
          </a:prstGeom>
          <a:solidFill>
            <a:srgbClr val="EAF2F1"/>
          </a:solidFill>
          <a:ln w="9525">
            <a:solidFill>
              <a:srgbClr val="D5E3E1"/>
            </a:solidFill>
            <a:prstDash val="solid"/>
          </a:ln>
        </p:spPr>
      </p:sp>
      <p:sp>
        <p:nvSpPr>
          <p:cNvPr id="14" name="Shape 11"/>
          <p:cNvSpPr/>
          <p:nvPr/>
        </p:nvSpPr>
        <p:spPr>
          <a:xfrm>
            <a:off x="7589520" y="5029200"/>
            <a:ext cx="457200" cy="457200"/>
          </a:xfrm>
          <a:prstGeom prst="ellipse">
            <a:avLst/>
          </a:prstGeom>
          <a:solidFill>
            <a:srgbClr val="0B2545"/>
          </a:solidFill>
          <a:ln w="12700">
            <a:solidFill>
              <a:srgbClr val="0B2545"/>
            </a:solidFill>
            <a:prstDash val="solid"/>
          </a:ln>
        </p:spPr>
      </p:sp>
      <p:sp>
        <p:nvSpPr>
          <p:cNvPr id="15" name="Text 12"/>
          <p:cNvSpPr txBox="1"/>
          <p:nvPr/>
        </p:nvSpPr>
        <p:spPr>
          <a:xfrm>
            <a:off x="8183880" y="4754880"/>
            <a:ext cx="3291840" cy="365760"/>
          </a:xfrm>
          <a:prstGeom prst="rect">
            <a:avLst/>
          </a:prstGeom>
          <a:noFill/>
          <a:ln/>
        </p:spPr>
        <p:txBody>
          <a:bodyPr wrap="square" lIns="0" tIns="0" rIns="0" bIns="0" rtlCol="0" anchor="t"/>
          <a:lstStyle/>
          <a:p>
            <a:pPr marL="0" indent="0">
              <a:buNone/>
            </a:pPr>
            <a:r>
              <a:rPr lang="en-US" sz="1600" b="1" dirty="0">
                <a:solidFill>
                  <a:srgbClr val="0B2545"/>
                </a:solidFill>
                <a:latin typeface="Calibri" pitchFamily="34" charset="0"/>
                <a:ea typeface="Calibri" pitchFamily="34" charset="-122"/>
                <a:cs typeface="Calibri" pitchFamily="34" charset="-120"/>
              </a:rPr>
              <a:t>Sistema</a:t>
            </a:r>
            <a:endParaRPr lang="en-US" sz="1600" dirty="0"/>
          </a:p>
        </p:txBody>
      </p:sp>
      <p:sp>
        <p:nvSpPr>
          <p:cNvPr id="16" name="Text 13"/>
          <p:cNvSpPr txBox="1"/>
          <p:nvPr/>
        </p:nvSpPr>
        <p:spPr>
          <a:xfrm>
            <a:off x="8183880" y="5120640"/>
            <a:ext cx="3291840" cy="685800"/>
          </a:xfrm>
          <a:prstGeom prst="rect">
            <a:avLst/>
          </a:prstGeom>
          <a:noFill/>
          <a:ln/>
        </p:spPr>
        <p:txBody>
          <a:bodyPr wrap="square" lIns="0" tIns="0" rIns="0" bIns="0" rtlCol="0" anchor="t"/>
          <a:lstStyle/>
          <a:p>
            <a:pPr marL="0" indent="0">
              <a:buNone/>
            </a:pPr>
            <a:r>
              <a:rPr lang="en-US" sz="1400" dirty="0">
                <a:solidFill>
                  <a:srgbClr val="1F2933"/>
                </a:solidFill>
                <a:latin typeface="Calibri" pitchFamily="34" charset="0"/>
                <a:ea typeface="Calibri" pitchFamily="34" charset="-122"/>
                <a:cs typeface="Calibri" pitchFamily="34" charset="-120"/>
              </a:rPr>
              <a:t>El sistema registrará el préstamo y calculará la fecha de devolución.</a:t>
            </a:r>
            <a:endParaRPr lang="en-US" sz="1400" dirty="0"/>
          </a:p>
        </p:txBody>
      </p:sp>
      <p:sp>
        <p:nvSpPr>
          <p:cNvPr id="17" name="Text 14"/>
          <p:cNvSpPr txBox="1"/>
          <p:nvPr/>
        </p:nvSpPr>
        <p:spPr>
          <a:xfrm>
            <a:off x="548640" y="5257800"/>
            <a:ext cx="6400800" cy="457200"/>
          </a:xfrm>
          <a:prstGeom prst="rect">
            <a:avLst/>
          </a:prstGeom>
          <a:noFill/>
          <a:ln/>
        </p:spPr>
        <p:txBody>
          <a:bodyPr wrap="square" lIns="0" tIns="0" rIns="0" bIns="0" rtlCol="0" anchor="t"/>
          <a:lstStyle/>
          <a:p>
            <a:pPr marL="0" indent="0">
              <a:buNone/>
            </a:pPr>
            <a:r>
              <a:rPr lang="en-US" sz="1600" i="1" dirty="0">
                <a:solidFill>
                  <a:srgbClr val="5B6770"/>
                </a:solidFill>
                <a:latin typeface="Calibri" pitchFamily="34" charset="0"/>
                <a:ea typeface="Calibri" pitchFamily="34" charset="-122"/>
                <a:cs typeface="Calibri" pitchFamily="34" charset="-120"/>
              </a:rPr>
              <a:t>Cada nivel se deriva del anterior y lo hace más concreto.</a:t>
            </a:r>
            <a:endParaRPr lang="en-US" sz="1600" dirty="0"/>
          </a:p>
        </p:txBody>
      </p:sp>
      <p:sp>
        <p:nvSpPr>
          <p:cNvPr id="18" name="Text 15"/>
          <p:cNvSpPr txBox="1"/>
          <p:nvPr/>
        </p:nvSpPr>
        <p:spPr>
          <a:xfrm>
            <a:off x="548640" y="6355080"/>
            <a:ext cx="10424160" cy="274320"/>
          </a:xfrm>
          <a:prstGeom prst="rect">
            <a:avLst/>
          </a:prstGeom>
          <a:noFill/>
          <a:ln/>
        </p:spPr>
        <p:txBody>
          <a:bodyPr wrap="square" lIns="0" tIns="0" rIns="0" bIns="0" rtlCol="0" anchor="ctr"/>
          <a:lstStyle/>
          <a:p>
            <a:pPr marL="0" indent="0">
              <a:buNone/>
            </a:pPr>
            <a:endParaRPr lang="en-US" sz="1050" dirty="0"/>
          </a:p>
        </p:txBody>
      </p:sp>
      <p:sp>
        <p:nvSpPr>
          <p:cNvPr id="19" name="Text 16"/>
          <p:cNvSpPr txBox="1"/>
          <p:nvPr/>
        </p:nvSpPr>
        <p:spPr>
          <a:xfrm>
            <a:off x="11155680" y="6355080"/>
            <a:ext cx="548640" cy="274320"/>
          </a:xfrm>
          <a:prstGeom prst="rect">
            <a:avLst/>
          </a:prstGeom>
          <a:noFill/>
          <a:ln/>
        </p:spPr>
        <p:txBody>
          <a:bodyPr wrap="square" lIns="0" tIns="0" rIns="0" bIns="0" rtlCol="0" anchor="ctr"/>
          <a:lstStyle/>
          <a:p>
            <a:pPr marL="0" indent="0" algn="r">
              <a:buNone/>
            </a:pPr>
            <a:r>
              <a:rPr lang="en-US" sz="1100" dirty="0">
                <a:solidFill>
                  <a:srgbClr val="5B6770"/>
                </a:solidFill>
                <a:latin typeface="Calibri" pitchFamily="34" charset="0"/>
                <a:ea typeface="Calibri" pitchFamily="34" charset="-122"/>
                <a:cs typeface="Calibri" pitchFamily="34" charset="-120"/>
              </a:rPr>
              <a:t>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777240"/>
          </a:xfrm>
          <a:prstGeom prst="rect">
            <a:avLst/>
          </a:prstGeom>
          <a:noFill/>
          <a:ln/>
        </p:spPr>
        <p:txBody>
          <a:bodyPr wrap="square" lIns="0" tIns="0" rIns="0" bIns="0" rtlCol="0" anchor="ctr"/>
          <a:lstStyle/>
          <a:p>
            <a:pPr marL="0" indent="0">
              <a:buNone/>
            </a:pPr>
            <a:r>
              <a:rPr lang="en-US" sz="3400" b="1" dirty="0">
                <a:solidFill>
                  <a:srgbClr val="0B2545"/>
                </a:solidFill>
                <a:latin typeface="Cambria" pitchFamily="34" charset="0"/>
                <a:ea typeface="Cambria" pitchFamily="34" charset="-122"/>
                <a:cs typeface="Cambria" pitchFamily="34" charset="-120"/>
              </a:rPr>
              <a:t>Requerimientos funcionales y no funcionales</a:t>
            </a:r>
            <a:endParaRPr lang="en-US" sz="3400" dirty="0"/>
          </a:p>
        </p:txBody>
      </p:sp>
      <p:sp>
        <p:nvSpPr>
          <p:cNvPr id="3" name="Shape 1"/>
          <p:cNvSpPr/>
          <p:nvPr/>
        </p:nvSpPr>
        <p:spPr>
          <a:xfrm>
            <a:off x="548640" y="1417320"/>
            <a:ext cx="5394960" cy="3520440"/>
          </a:xfrm>
          <a:prstGeom prst="roundRect">
            <a:avLst>
              <a:gd name="adj" fmla="val 3117"/>
            </a:avLst>
          </a:prstGeom>
          <a:solidFill>
            <a:srgbClr val="FFFFFF"/>
          </a:solidFill>
          <a:ln w="9525">
            <a:solidFill>
              <a:srgbClr val="1B7F79"/>
            </a:solidFill>
            <a:prstDash val="solid"/>
          </a:ln>
        </p:spPr>
      </p:sp>
      <p:sp>
        <p:nvSpPr>
          <p:cNvPr id="4" name="Shape 2"/>
          <p:cNvSpPr/>
          <p:nvPr/>
        </p:nvSpPr>
        <p:spPr>
          <a:xfrm>
            <a:off x="548640" y="1417320"/>
            <a:ext cx="5394960" cy="1051560"/>
          </a:xfrm>
          <a:prstGeom prst="roundRect">
            <a:avLst>
              <a:gd name="adj" fmla="val 10435"/>
            </a:avLst>
          </a:prstGeom>
          <a:solidFill>
            <a:srgbClr val="1B7F79"/>
          </a:solidFill>
          <a:ln w="12700">
            <a:solidFill>
              <a:srgbClr val="1B7F79"/>
            </a:solidFill>
            <a:prstDash val="solid"/>
          </a:ln>
        </p:spPr>
      </p:sp>
      <p:sp>
        <p:nvSpPr>
          <p:cNvPr id="5" name="Text 3"/>
          <p:cNvSpPr txBox="1"/>
          <p:nvPr/>
        </p:nvSpPr>
        <p:spPr>
          <a:xfrm>
            <a:off x="822960" y="1481328"/>
            <a:ext cx="4846320" cy="502920"/>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Funcionales</a:t>
            </a:r>
            <a:endParaRPr lang="en-US" sz="2600" dirty="0"/>
          </a:p>
        </p:txBody>
      </p:sp>
      <p:sp>
        <p:nvSpPr>
          <p:cNvPr id="6" name="Text 4"/>
          <p:cNvSpPr txBox="1"/>
          <p:nvPr/>
        </p:nvSpPr>
        <p:spPr>
          <a:xfrm>
            <a:off x="822960" y="1993392"/>
            <a:ext cx="4846320" cy="365760"/>
          </a:xfrm>
          <a:prstGeom prst="rect">
            <a:avLst/>
          </a:prstGeom>
          <a:noFill/>
          <a:ln/>
        </p:spPr>
        <p:txBody>
          <a:bodyPr wrap="square" lIns="0" tIns="0" rIns="0" bIns="0" rtlCol="0" anchor="ctr"/>
          <a:lstStyle/>
          <a:p>
            <a:pPr marL="0" indent="0">
              <a:buNone/>
            </a:pPr>
            <a:r>
              <a:rPr lang="en-US" sz="1600" i="1" dirty="0">
                <a:solidFill>
                  <a:srgbClr val="FFFFFF"/>
                </a:solidFill>
                <a:latin typeface="Calibri" pitchFamily="34" charset="0"/>
                <a:ea typeface="Calibri" pitchFamily="34" charset="-122"/>
                <a:cs typeface="Calibri" pitchFamily="34" charset="-120"/>
              </a:rPr>
              <a:t>¿Qué debe hacer el sistema?</a:t>
            </a:r>
            <a:endParaRPr lang="en-US" sz="1600" dirty="0"/>
          </a:p>
        </p:txBody>
      </p:sp>
      <p:sp>
        <p:nvSpPr>
          <p:cNvPr id="7" name="Text 5"/>
          <p:cNvSpPr txBox="1"/>
          <p:nvPr/>
        </p:nvSpPr>
        <p:spPr>
          <a:xfrm>
            <a:off x="868680" y="2743200"/>
            <a:ext cx="4754880" cy="2103120"/>
          </a:xfrm>
          <a:prstGeom prst="rect">
            <a:avLst/>
          </a:prstGeom>
          <a:noFill/>
          <a:ln/>
        </p:spPr>
        <p:txBody>
          <a:bodyPr wrap="square" lIns="0" tIns="0" rIns="0" bIns="0" rtlCol="0" anchor="t"/>
          <a:lstStyle/>
          <a:p>
            <a:pPr marL="203200" indent="-203200">
              <a:spcAft>
                <a:spcPts val="1600"/>
              </a:spcAft>
              <a:buSzPct val="100000"/>
              <a:buChar char="•"/>
            </a:pPr>
            <a:r>
              <a:rPr lang="en-US" sz="2000" dirty="0">
                <a:solidFill>
                  <a:srgbClr val="1F2933"/>
                </a:solidFill>
                <a:latin typeface="Calibri" pitchFamily="34" charset="0"/>
                <a:ea typeface="Calibri" pitchFamily="34" charset="-122"/>
                <a:cs typeface="Calibri" pitchFamily="34" charset="-120"/>
              </a:rPr>
              <a:t>Registrar un nuevo estudiante</a:t>
            </a:r>
            <a:endParaRPr lang="en-US" sz="2000" dirty="0"/>
          </a:p>
          <a:p>
            <a:pPr marL="203200" indent="-203200">
              <a:spcAft>
                <a:spcPts val="1600"/>
              </a:spcAft>
              <a:buSzPct val="100000"/>
              <a:buChar char="•"/>
            </a:pPr>
            <a:r>
              <a:rPr lang="en-US" sz="2000" dirty="0">
                <a:solidFill>
                  <a:srgbClr val="1F2933"/>
                </a:solidFill>
                <a:latin typeface="Calibri" pitchFamily="34" charset="0"/>
                <a:ea typeface="Calibri" pitchFamily="34" charset="-122"/>
                <a:cs typeface="Calibri" pitchFamily="34" charset="-120"/>
              </a:rPr>
              <a:t>Generar un reporte mensual de préstamos</a:t>
            </a:r>
            <a:endParaRPr lang="en-US" sz="2000" dirty="0"/>
          </a:p>
          <a:p>
            <a:pPr marL="203200" indent="-203200">
              <a:spcAft>
                <a:spcPts val="1600"/>
              </a:spcAft>
              <a:buSzPct val="100000"/>
              <a:buChar char="•"/>
            </a:pPr>
            <a:r>
              <a:rPr lang="en-US" sz="2000" dirty="0">
                <a:solidFill>
                  <a:srgbClr val="1F2933"/>
                </a:solidFill>
                <a:latin typeface="Calibri" pitchFamily="34" charset="0"/>
                <a:ea typeface="Calibri" pitchFamily="34" charset="-122"/>
                <a:cs typeface="Calibri" pitchFamily="34" charset="-120"/>
              </a:rPr>
              <a:t>Enviar confirmación al completar una reserva</a:t>
            </a:r>
            <a:endParaRPr lang="en-US" sz="2000" dirty="0"/>
          </a:p>
        </p:txBody>
      </p:sp>
      <p:sp>
        <p:nvSpPr>
          <p:cNvPr id="8" name="Shape 6"/>
          <p:cNvSpPr/>
          <p:nvPr/>
        </p:nvSpPr>
        <p:spPr>
          <a:xfrm>
            <a:off x="6217920" y="1417320"/>
            <a:ext cx="5394960" cy="3520440"/>
          </a:xfrm>
          <a:prstGeom prst="roundRect">
            <a:avLst>
              <a:gd name="adj" fmla="val 3117"/>
            </a:avLst>
          </a:prstGeom>
          <a:solidFill>
            <a:srgbClr val="FFFFFF"/>
          </a:solidFill>
          <a:ln w="9525">
            <a:solidFill>
              <a:srgbClr val="2C6E9B"/>
            </a:solidFill>
            <a:prstDash val="solid"/>
          </a:ln>
        </p:spPr>
      </p:sp>
      <p:sp>
        <p:nvSpPr>
          <p:cNvPr id="9" name="Shape 7"/>
          <p:cNvSpPr/>
          <p:nvPr/>
        </p:nvSpPr>
        <p:spPr>
          <a:xfrm>
            <a:off x="6217920" y="1417320"/>
            <a:ext cx="5394960" cy="1051560"/>
          </a:xfrm>
          <a:prstGeom prst="roundRect">
            <a:avLst>
              <a:gd name="adj" fmla="val 10435"/>
            </a:avLst>
          </a:prstGeom>
          <a:solidFill>
            <a:srgbClr val="2C6E9B"/>
          </a:solidFill>
          <a:ln w="12700">
            <a:solidFill>
              <a:srgbClr val="2C6E9B"/>
            </a:solidFill>
            <a:prstDash val="solid"/>
          </a:ln>
        </p:spPr>
      </p:sp>
      <p:sp>
        <p:nvSpPr>
          <p:cNvPr id="10" name="Text 8"/>
          <p:cNvSpPr txBox="1"/>
          <p:nvPr/>
        </p:nvSpPr>
        <p:spPr>
          <a:xfrm>
            <a:off x="6492240" y="1481328"/>
            <a:ext cx="4846320" cy="502920"/>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No funcionales</a:t>
            </a:r>
            <a:endParaRPr lang="en-US" sz="2600" dirty="0"/>
          </a:p>
        </p:txBody>
      </p:sp>
      <p:sp>
        <p:nvSpPr>
          <p:cNvPr id="11" name="Text 9"/>
          <p:cNvSpPr txBox="1"/>
          <p:nvPr/>
        </p:nvSpPr>
        <p:spPr>
          <a:xfrm>
            <a:off x="6492240" y="1993392"/>
            <a:ext cx="4846320" cy="365760"/>
          </a:xfrm>
          <a:prstGeom prst="rect">
            <a:avLst/>
          </a:prstGeom>
          <a:noFill/>
          <a:ln/>
        </p:spPr>
        <p:txBody>
          <a:bodyPr wrap="square" lIns="0" tIns="0" rIns="0" bIns="0" rtlCol="0" anchor="ctr"/>
          <a:lstStyle/>
          <a:p>
            <a:pPr marL="0" indent="0">
              <a:buNone/>
            </a:pPr>
            <a:r>
              <a:rPr lang="en-US" sz="1600" i="1" dirty="0">
                <a:solidFill>
                  <a:srgbClr val="FFFFFF"/>
                </a:solidFill>
                <a:latin typeface="Calibri" pitchFamily="34" charset="0"/>
                <a:ea typeface="Calibri" pitchFamily="34" charset="-122"/>
                <a:cs typeface="Calibri" pitchFamily="34" charset="-120"/>
              </a:rPr>
              <a:t>¿Cómo debe comportarse?</a:t>
            </a:r>
            <a:endParaRPr lang="en-US" sz="1600" dirty="0"/>
          </a:p>
        </p:txBody>
      </p:sp>
      <p:sp>
        <p:nvSpPr>
          <p:cNvPr id="12" name="Text 10"/>
          <p:cNvSpPr txBox="1"/>
          <p:nvPr/>
        </p:nvSpPr>
        <p:spPr>
          <a:xfrm>
            <a:off x="6537960" y="2743200"/>
            <a:ext cx="4754880" cy="2103120"/>
          </a:xfrm>
          <a:prstGeom prst="rect">
            <a:avLst/>
          </a:prstGeom>
          <a:noFill/>
          <a:ln/>
        </p:spPr>
        <p:txBody>
          <a:bodyPr wrap="square" lIns="0" tIns="0" rIns="0" bIns="0" rtlCol="0" anchor="t"/>
          <a:lstStyle/>
          <a:p>
            <a:pPr marL="203200" indent="-203200">
              <a:spcAft>
                <a:spcPts val="1600"/>
              </a:spcAft>
              <a:buSzPct val="100000"/>
              <a:buChar char="•"/>
            </a:pPr>
            <a:r>
              <a:rPr lang="en-US" sz="2000" dirty="0">
                <a:solidFill>
                  <a:srgbClr val="1F2933"/>
                </a:solidFill>
                <a:latin typeface="Calibri" pitchFamily="34" charset="0"/>
                <a:ea typeface="Calibri" pitchFamily="34" charset="-122"/>
                <a:cs typeface="Calibri" pitchFamily="34" charset="-120"/>
              </a:rPr>
              <a:t>Rendimiento: respuesta en menos de 3 s</a:t>
            </a:r>
            <a:endParaRPr lang="en-US" sz="2000" dirty="0"/>
          </a:p>
          <a:p>
            <a:pPr marL="203200" indent="-203200">
              <a:spcAft>
                <a:spcPts val="1600"/>
              </a:spcAft>
              <a:buSzPct val="100000"/>
              <a:buChar char="•"/>
            </a:pPr>
            <a:r>
              <a:rPr lang="en-US" sz="2000" dirty="0">
                <a:solidFill>
                  <a:srgbClr val="1F2933"/>
                </a:solidFill>
                <a:latin typeface="Calibri" pitchFamily="34" charset="0"/>
                <a:ea typeface="Calibri" pitchFamily="34" charset="-122"/>
                <a:cs typeface="Calibri" pitchFamily="34" charset="-120"/>
              </a:rPr>
              <a:t>Seguridad: acceso con usuario y contraseña</a:t>
            </a:r>
            <a:endParaRPr lang="en-US" sz="2000" dirty="0"/>
          </a:p>
          <a:p>
            <a:pPr marL="203200" indent="-203200">
              <a:spcAft>
                <a:spcPts val="1600"/>
              </a:spcAft>
              <a:buSzPct val="100000"/>
              <a:buChar char="•"/>
            </a:pPr>
            <a:r>
              <a:rPr lang="en-US" sz="2000" dirty="0">
                <a:solidFill>
                  <a:srgbClr val="1F2933"/>
                </a:solidFill>
                <a:latin typeface="Calibri" pitchFamily="34" charset="0"/>
                <a:ea typeface="Calibri" pitchFamily="34" charset="-122"/>
                <a:cs typeface="Calibri" pitchFamily="34" charset="-120"/>
              </a:rPr>
              <a:t>Usabilidad, disponibilidad y compatibilidad</a:t>
            </a:r>
            <a:endParaRPr lang="en-US" sz="2000" dirty="0"/>
          </a:p>
        </p:txBody>
      </p:sp>
      <p:sp>
        <p:nvSpPr>
          <p:cNvPr id="13" name="Shape 11"/>
          <p:cNvSpPr/>
          <p:nvPr/>
        </p:nvSpPr>
        <p:spPr>
          <a:xfrm>
            <a:off x="548640" y="5166360"/>
            <a:ext cx="11064240" cy="960120"/>
          </a:xfrm>
          <a:prstGeom prst="roundRect">
            <a:avLst>
              <a:gd name="adj" fmla="val 11429"/>
            </a:avLst>
          </a:prstGeom>
          <a:solidFill>
            <a:srgbClr val="EAF2F1"/>
          </a:solidFill>
          <a:ln w="9525">
            <a:solidFill>
              <a:srgbClr val="D5E3E1"/>
            </a:solidFill>
            <a:prstDash val="solid"/>
          </a:ln>
        </p:spPr>
      </p:sp>
      <p:sp>
        <p:nvSpPr>
          <p:cNvPr id="14" name="Text 12"/>
          <p:cNvSpPr txBox="1"/>
          <p:nvPr/>
        </p:nvSpPr>
        <p:spPr>
          <a:xfrm>
            <a:off x="822960" y="5166360"/>
            <a:ext cx="10515600" cy="960120"/>
          </a:xfrm>
          <a:prstGeom prst="rect">
            <a:avLst/>
          </a:prstGeom>
          <a:noFill/>
          <a:ln/>
        </p:spPr>
        <p:txBody>
          <a:bodyPr wrap="square" lIns="0" tIns="0" rIns="0" bIns="0" rtlCol="0" anchor="ctr"/>
          <a:lstStyle/>
          <a:p>
            <a:pPr marL="0" indent="0">
              <a:buNone/>
            </a:pPr>
            <a:r>
              <a:rPr lang="en-US" sz="1600" b="1" dirty="0">
                <a:solidFill>
                  <a:srgbClr val="0B2545"/>
                </a:solidFill>
                <a:latin typeface="Calibri" pitchFamily="34" charset="0"/>
                <a:ea typeface="Calibri" pitchFamily="34" charset="-122"/>
                <a:cs typeface="Calibri" pitchFamily="34" charset="-120"/>
              </a:rPr>
              <a:t>También se capturan: </a:t>
            </a:r>
            <a:r>
              <a:rPr lang="en-US" sz="1600" dirty="0">
                <a:solidFill>
                  <a:srgbClr val="1F2933"/>
                </a:solidFill>
                <a:latin typeface="Calibri" pitchFamily="34" charset="0"/>
                <a:ea typeface="Calibri" pitchFamily="34" charset="-122"/>
                <a:cs typeface="Calibri" pitchFamily="34" charset="-120"/>
              </a:rPr>
              <a:t>reglas de negocio · requerimientos del dominio · interfaces externas · restricciones (tecnología, presupuesto, fecha de entrega)</a:t>
            </a:r>
            <a:endParaRPr lang="en-US" sz="1600" dirty="0"/>
          </a:p>
        </p:txBody>
      </p:sp>
      <p:sp>
        <p:nvSpPr>
          <p:cNvPr id="15" name="Text 13"/>
          <p:cNvSpPr txBox="1"/>
          <p:nvPr/>
        </p:nvSpPr>
        <p:spPr>
          <a:xfrm>
            <a:off x="11155680" y="6355080"/>
            <a:ext cx="548640" cy="274320"/>
          </a:xfrm>
          <a:prstGeom prst="rect">
            <a:avLst/>
          </a:prstGeom>
          <a:noFill/>
          <a:ln/>
        </p:spPr>
        <p:txBody>
          <a:bodyPr wrap="square" lIns="0" tIns="0" rIns="0" bIns="0" rtlCol="0" anchor="ctr"/>
          <a:lstStyle/>
          <a:p>
            <a:pPr marL="0" indent="0" algn="r">
              <a:buNone/>
            </a:pPr>
            <a:r>
              <a:rPr lang="en-US" sz="1100" dirty="0">
                <a:solidFill>
                  <a:srgbClr val="5B6770"/>
                </a:solidFill>
                <a:latin typeface="Calibri" pitchFamily="34" charset="0"/>
                <a:ea typeface="Calibri" pitchFamily="34" charset="-122"/>
                <a:cs typeface="Calibri" pitchFamily="34" charset="-120"/>
              </a:rPr>
              <a:t>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777240"/>
          </a:xfrm>
          <a:prstGeom prst="rect">
            <a:avLst/>
          </a:prstGeom>
          <a:noFill/>
          <a:ln/>
        </p:spPr>
        <p:txBody>
          <a:bodyPr wrap="square" lIns="0" tIns="0" rIns="0" bIns="0" rtlCol="0" anchor="ctr"/>
          <a:lstStyle/>
          <a:p>
            <a:pPr marL="0" indent="0">
              <a:buNone/>
            </a:pPr>
            <a:r>
              <a:rPr lang="en-US" sz="3400" b="1" dirty="0">
                <a:solidFill>
                  <a:srgbClr val="0B2545"/>
                </a:solidFill>
                <a:latin typeface="Cambria" pitchFamily="34" charset="0"/>
                <a:ea typeface="Cambria" pitchFamily="34" charset="-122"/>
                <a:cs typeface="Cambria" pitchFamily="34" charset="-120"/>
              </a:rPr>
              <a:t>Actores involucrados (stakeholders)</a:t>
            </a:r>
            <a:endParaRPr lang="en-US" sz="3400" dirty="0"/>
          </a:p>
        </p:txBody>
      </p:sp>
      <p:sp>
        <p:nvSpPr>
          <p:cNvPr id="3" name="Shape 1"/>
          <p:cNvSpPr/>
          <p:nvPr/>
        </p:nvSpPr>
        <p:spPr>
          <a:xfrm>
            <a:off x="548640" y="1371600"/>
            <a:ext cx="3566160" cy="1691640"/>
          </a:xfrm>
          <a:prstGeom prst="roundRect">
            <a:avLst>
              <a:gd name="adj" fmla="val 6486"/>
            </a:avLst>
          </a:prstGeom>
          <a:solidFill>
            <a:srgbClr val="EAF2F1"/>
          </a:solidFill>
          <a:ln w="9525">
            <a:solidFill>
              <a:srgbClr val="D5E3E1"/>
            </a:solidFill>
            <a:prstDash val="solid"/>
          </a:ln>
        </p:spPr>
      </p:sp>
      <p:sp>
        <p:nvSpPr>
          <p:cNvPr id="4" name="Shape 2"/>
          <p:cNvSpPr/>
          <p:nvPr/>
        </p:nvSpPr>
        <p:spPr>
          <a:xfrm>
            <a:off x="777240" y="1755648"/>
            <a:ext cx="914400" cy="914400"/>
          </a:xfrm>
          <a:prstGeom prst="ellipse">
            <a:avLst/>
          </a:prstGeom>
          <a:solidFill>
            <a:srgbClr val="1B7F79"/>
          </a:solidFill>
          <a:ln w="12700">
            <a:solidFill>
              <a:srgbClr val="1B7F79"/>
            </a:solidFill>
            <a:prstDash val="solid"/>
          </a:ln>
        </p:spPr>
      </p:sp>
      <p:pic>
        <p:nvPicPr>
          <p:cNvPr id="5" name="Image 0" descr="preencoded.png"/>
          <p:cNvPicPr>
            <a:picLocks noChangeAspect="1"/>
          </p:cNvPicPr>
          <p:nvPr/>
        </p:nvPicPr>
        <p:blipFill>
          <a:blip r:embed="rId3"/>
          <a:stretch>
            <a:fillRect/>
          </a:stretch>
        </p:blipFill>
        <p:spPr>
          <a:xfrm>
            <a:off x="996696" y="1975104"/>
            <a:ext cx="475488" cy="475488"/>
          </a:xfrm>
          <a:prstGeom prst="rect">
            <a:avLst/>
          </a:prstGeom>
        </p:spPr>
      </p:pic>
      <p:sp>
        <p:nvSpPr>
          <p:cNvPr id="6" name="Text 3"/>
          <p:cNvSpPr txBox="1"/>
          <p:nvPr/>
        </p:nvSpPr>
        <p:spPr>
          <a:xfrm>
            <a:off x="1920240" y="1691640"/>
            <a:ext cx="2103120" cy="640080"/>
          </a:xfrm>
          <a:prstGeom prst="rect">
            <a:avLst/>
          </a:prstGeom>
          <a:noFill/>
          <a:ln/>
        </p:spPr>
        <p:txBody>
          <a:bodyPr wrap="square" lIns="0" tIns="0" rIns="0" bIns="0" rtlCol="0" anchor="ctr"/>
          <a:lstStyle/>
          <a:p>
            <a:pPr marL="0" indent="0">
              <a:buNone/>
            </a:pPr>
            <a:r>
              <a:rPr lang="en-US" sz="1800" b="1" dirty="0">
                <a:solidFill>
                  <a:srgbClr val="0B2545"/>
                </a:solidFill>
                <a:latin typeface="Calibri" pitchFamily="34" charset="0"/>
                <a:ea typeface="Calibri" pitchFamily="34" charset="-122"/>
                <a:cs typeface="Calibri" pitchFamily="34" charset="-120"/>
              </a:rPr>
              <a:t>Usuarios finales</a:t>
            </a:r>
            <a:endParaRPr lang="en-US" sz="1800" dirty="0"/>
          </a:p>
        </p:txBody>
      </p:sp>
      <p:sp>
        <p:nvSpPr>
          <p:cNvPr id="7" name="Text 4"/>
          <p:cNvSpPr txBox="1"/>
          <p:nvPr/>
        </p:nvSpPr>
        <p:spPr>
          <a:xfrm>
            <a:off x="1920240" y="2331720"/>
            <a:ext cx="2103120" cy="548640"/>
          </a:xfrm>
          <a:prstGeom prst="rect">
            <a:avLst/>
          </a:prstGeom>
          <a:noFill/>
          <a:ln/>
        </p:spPr>
        <p:txBody>
          <a:bodyPr wrap="square" lIns="0" tIns="0" rIns="0" bIns="0" rtlCol="0" anchor="t"/>
          <a:lstStyle/>
          <a:p>
            <a:pPr marL="0" indent="0">
              <a:buNone/>
            </a:pPr>
            <a:r>
              <a:rPr lang="en-US" sz="1400" dirty="0">
                <a:solidFill>
                  <a:srgbClr val="1F2933"/>
                </a:solidFill>
                <a:latin typeface="Calibri" pitchFamily="34" charset="0"/>
                <a:ea typeface="Calibri" pitchFamily="34" charset="-122"/>
                <a:cs typeface="Calibri" pitchFamily="34" charset="-120"/>
              </a:rPr>
              <a:t>Usan el sistema a diario</a:t>
            </a:r>
            <a:endParaRPr lang="en-US" sz="1400" dirty="0"/>
          </a:p>
        </p:txBody>
      </p:sp>
      <p:sp>
        <p:nvSpPr>
          <p:cNvPr id="8" name="Shape 5"/>
          <p:cNvSpPr/>
          <p:nvPr/>
        </p:nvSpPr>
        <p:spPr>
          <a:xfrm>
            <a:off x="4297680" y="1371600"/>
            <a:ext cx="3566160" cy="1691640"/>
          </a:xfrm>
          <a:prstGeom prst="roundRect">
            <a:avLst>
              <a:gd name="adj" fmla="val 6486"/>
            </a:avLst>
          </a:prstGeom>
          <a:solidFill>
            <a:srgbClr val="EAF2F1"/>
          </a:solidFill>
          <a:ln w="9525">
            <a:solidFill>
              <a:srgbClr val="D5E3E1"/>
            </a:solidFill>
            <a:prstDash val="solid"/>
          </a:ln>
        </p:spPr>
      </p:sp>
      <p:sp>
        <p:nvSpPr>
          <p:cNvPr id="9" name="Shape 6"/>
          <p:cNvSpPr/>
          <p:nvPr/>
        </p:nvSpPr>
        <p:spPr>
          <a:xfrm>
            <a:off x="4526280" y="1755648"/>
            <a:ext cx="914400" cy="914400"/>
          </a:xfrm>
          <a:prstGeom prst="ellipse">
            <a:avLst/>
          </a:prstGeom>
          <a:solidFill>
            <a:srgbClr val="2C6E9B"/>
          </a:solidFill>
          <a:ln w="12700">
            <a:solidFill>
              <a:srgbClr val="2C6E9B"/>
            </a:solidFill>
            <a:prstDash val="solid"/>
          </a:ln>
        </p:spPr>
      </p:sp>
      <p:pic>
        <p:nvPicPr>
          <p:cNvPr id="10" name="Image 1" descr="preencoded.png"/>
          <p:cNvPicPr>
            <a:picLocks noChangeAspect="1"/>
          </p:cNvPicPr>
          <p:nvPr/>
        </p:nvPicPr>
        <p:blipFill>
          <a:blip r:embed="rId4"/>
          <a:stretch>
            <a:fillRect/>
          </a:stretch>
        </p:blipFill>
        <p:spPr>
          <a:xfrm>
            <a:off x="4745736" y="1975104"/>
            <a:ext cx="475488" cy="475488"/>
          </a:xfrm>
          <a:prstGeom prst="rect">
            <a:avLst/>
          </a:prstGeom>
        </p:spPr>
      </p:pic>
      <p:sp>
        <p:nvSpPr>
          <p:cNvPr id="11" name="Text 7"/>
          <p:cNvSpPr txBox="1"/>
          <p:nvPr/>
        </p:nvSpPr>
        <p:spPr>
          <a:xfrm>
            <a:off x="5669280" y="1691640"/>
            <a:ext cx="2103120" cy="640080"/>
          </a:xfrm>
          <a:prstGeom prst="rect">
            <a:avLst/>
          </a:prstGeom>
          <a:noFill/>
          <a:ln/>
        </p:spPr>
        <p:txBody>
          <a:bodyPr wrap="square" lIns="0" tIns="0" rIns="0" bIns="0" rtlCol="0" anchor="ctr"/>
          <a:lstStyle/>
          <a:p>
            <a:pPr marL="0" indent="0">
              <a:buNone/>
            </a:pPr>
            <a:r>
              <a:rPr lang="en-US" sz="1800" b="1" dirty="0">
                <a:solidFill>
                  <a:srgbClr val="0B2545"/>
                </a:solidFill>
                <a:latin typeface="Calibri" pitchFamily="34" charset="0"/>
                <a:ea typeface="Calibri" pitchFamily="34" charset="-122"/>
                <a:cs typeface="Calibri" pitchFamily="34" charset="-120"/>
              </a:rPr>
              <a:t>Clientes y patrocinadores</a:t>
            </a:r>
            <a:endParaRPr lang="en-US" sz="1800" dirty="0"/>
          </a:p>
        </p:txBody>
      </p:sp>
      <p:sp>
        <p:nvSpPr>
          <p:cNvPr id="12" name="Text 8"/>
          <p:cNvSpPr txBox="1"/>
          <p:nvPr/>
        </p:nvSpPr>
        <p:spPr>
          <a:xfrm>
            <a:off x="5669280" y="2331720"/>
            <a:ext cx="2103120" cy="548640"/>
          </a:xfrm>
          <a:prstGeom prst="rect">
            <a:avLst/>
          </a:prstGeom>
          <a:noFill/>
          <a:ln/>
        </p:spPr>
        <p:txBody>
          <a:bodyPr wrap="square" lIns="0" tIns="0" rIns="0" bIns="0" rtlCol="0" anchor="t"/>
          <a:lstStyle/>
          <a:p>
            <a:pPr marL="0" indent="0">
              <a:buNone/>
            </a:pPr>
            <a:r>
              <a:rPr lang="en-US" sz="1400" dirty="0">
                <a:solidFill>
                  <a:srgbClr val="1F2933"/>
                </a:solidFill>
                <a:latin typeface="Calibri" pitchFamily="34" charset="0"/>
                <a:ea typeface="Calibri" pitchFamily="34" charset="-122"/>
                <a:cs typeface="Calibri" pitchFamily="34" charset="-120"/>
              </a:rPr>
              <a:t>Financian y aprueban</a:t>
            </a:r>
            <a:endParaRPr lang="en-US" sz="1400" dirty="0"/>
          </a:p>
        </p:txBody>
      </p:sp>
      <p:sp>
        <p:nvSpPr>
          <p:cNvPr id="13" name="Shape 9"/>
          <p:cNvSpPr/>
          <p:nvPr/>
        </p:nvSpPr>
        <p:spPr>
          <a:xfrm>
            <a:off x="8046720" y="1371600"/>
            <a:ext cx="3566160" cy="1691640"/>
          </a:xfrm>
          <a:prstGeom prst="roundRect">
            <a:avLst>
              <a:gd name="adj" fmla="val 6486"/>
            </a:avLst>
          </a:prstGeom>
          <a:solidFill>
            <a:srgbClr val="EAF2F1"/>
          </a:solidFill>
          <a:ln w="9525">
            <a:solidFill>
              <a:srgbClr val="D5E3E1"/>
            </a:solidFill>
            <a:prstDash val="solid"/>
          </a:ln>
        </p:spPr>
      </p:sp>
      <p:sp>
        <p:nvSpPr>
          <p:cNvPr id="14" name="Shape 10"/>
          <p:cNvSpPr/>
          <p:nvPr/>
        </p:nvSpPr>
        <p:spPr>
          <a:xfrm>
            <a:off x="8275320" y="1755648"/>
            <a:ext cx="914400" cy="914400"/>
          </a:xfrm>
          <a:prstGeom prst="ellipse">
            <a:avLst/>
          </a:prstGeom>
          <a:solidFill>
            <a:srgbClr val="0B2545"/>
          </a:solidFill>
          <a:ln w="12700">
            <a:solidFill>
              <a:srgbClr val="0B2545"/>
            </a:solidFill>
            <a:prstDash val="solid"/>
          </a:ln>
        </p:spPr>
      </p:sp>
      <p:pic>
        <p:nvPicPr>
          <p:cNvPr id="15" name="Image 2" descr="preencoded.png"/>
          <p:cNvPicPr>
            <a:picLocks noChangeAspect="1"/>
          </p:cNvPicPr>
          <p:nvPr/>
        </p:nvPicPr>
        <p:blipFill>
          <a:blip r:embed="rId5"/>
          <a:stretch>
            <a:fillRect/>
          </a:stretch>
        </p:blipFill>
        <p:spPr>
          <a:xfrm>
            <a:off x="8494776" y="1975104"/>
            <a:ext cx="475488" cy="475488"/>
          </a:xfrm>
          <a:prstGeom prst="rect">
            <a:avLst/>
          </a:prstGeom>
        </p:spPr>
      </p:pic>
      <p:sp>
        <p:nvSpPr>
          <p:cNvPr id="16" name="Text 11"/>
          <p:cNvSpPr txBox="1"/>
          <p:nvPr/>
        </p:nvSpPr>
        <p:spPr>
          <a:xfrm>
            <a:off x="9418320" y="1691640"/>
            <a:ext cx="2103120" cy="640080"/>
          </a:xfrm>
          <a:prstGeom prst="rect">
            <a:avLst/>
          </a:prstGeom>
          <a:noFill/>
          <a:ln/>
        </p:spPr>
        <p:txBody>
          <a:bodyPr wrap="square" lIns="0" tIns="0" rIns="0" bIns="0" rtlCol="0" anchor="ctr"/>
          <a:lstStyle/>
          <a:p>
            <a:pPr marL="0" indent="0">
              <a:buNone/>
            </a:pPr>
            <a:r>
              <a:rPr lang="en-US" sz="1800" b="1" dirty="0">
                <a:solidFill>
                  <a:srgbClr val="0B2545"/>
                </a:solidFill>
                <a:latin typeface="Calibri" pitchFamily="34" charset="0"/>
                <a:ea typeface="Calibri" pitchFamily="34" charset="-122"/>
                <a:cs typeface="Calibri" pitchFamily="34" charset="-120"/>
              </a:rPr>
              <a:t>Expertos del dominio</a:t>
            </a:r>
            <a:endParaRPr lang="en-US" sz="1800" dirty="0"/>
          </a:p>
        </p:txBody>
      </p:sp>
      <p:sp>
        <p:nvSpPr>
          <p:cNvPr id="17" name="Text 12"/>
          <p:cNvSpPr txBox="1"/>
          <p:nvPr/>
        </p:nvSpPr>
        <p:spPr>
          <a:xfrm>
            <a:off x="9418320" y="2331720"/>
            <a:ext cx="2103120" cy="548640"/>
          </a:xfrm>
          <a:prstGeom prst="rect">
            <a:avLst/>
          </a:prstGeom>
          <a:noFill/>
          <a:ln/>
        </p:spPr>
        <p:txBody>
          <a:bodyPr wrap="square" lIns="0" tIns="0" rIns="0" bIns="0" rtlCol="0" anchor="t"/>
          <a:lstStyle/>
          <a:p>
            <a:pPr marL="0" indent="0">
              <a:buNone/>
            </a:pPr>
            <a:r>
              <a:rPr lang="en-US" sz="1400" dirty="0">
                <a:solidFill>
                  <a:srgbClr val="1F2933"/>
                </a:solidFill>
                <a:latin typeface="Calibri" pitchFamily="34" charset="0"/>
                <a:ea typeface="Calibri" pitchFamily="34" charset="-122"/>
                <a:cs typeface="Calibri" pitchFamily="34" charset="-120"/>
              </a:rPr>
              <a:t>Conocen reglas y procesos</a:t>
            </a:r>
            <a:endParaRPr lang="en-US" sz="1400" dirty="0"/>
          </a:p>
        </p:txBody>
      </p:sp>
      <p:sp>
        <p:nvSpPr>
          <p:cNvPr id="18" name="Shape 13"/>
          <p:cNvSpPr/>
          <p:nvPr/>
        </p:nvSpPr>
        <p:spPr>
          <a:xfrm>
            <a:off x="548640" y="3246120"/>
            <a:ext cx="3566160" cy="1691640"/>
          </a:xfrm>
          <a:prstGeom prst="roundRect">
            <a:avLst>
              <a:gd name="adj" fmla="val 6486"/>
            </a:avLst>
          </a:prstGeom>
          <a:solidFill>
            <a:srgbClr val="EAF2F1"/>
          </a:solidFill>
          <a:ln w="9525">
            <a:solidFill>
              <a:srgbClr val="D5E3E1"/>
            </a:solidFill>
            <a:prstDash val="solid"/>
          </a:ln>
        </p:spPr>
      </p:sp>
      <p:sp>
        <p:nvSpPr>
          <p:cNvPr id="19" name="Shape 14"/>
          <p:cNvSpPr/>
          <p:nvPr/>
        </p:nvSpPr>
        <p:spPr>
          <a:xfrm>
            <a:off x="777240" y="3630168"/>
            <a:ext cx="914400" cy="914400"/>
          </a:xfrm>
          <a:prstGeom prst="ellipse">
            <a:avLst/>
          </a:prstGeom>
          <a:solidFill>
            <a:srgbClr val="1B7F79"/>
          </a:solidFill>
          <a:ln w="12700">
            <a:solidFill>
              <a:srgbClr val="1B7F79"/>
            </a:solidFill>
            <a:prstDash val="solid"/>
          </a:ln>
        </p:spPr>
      </p:sp>
      <p:pic>
        <p:nvPicPr>
          <p:cNvPr id="20" name="Image 3" descr="preencoded.png"/>
          <p:cNvPicPr>
            <a:picLocks noChangeAspect="1"/>
          </p:cNvPicPr>
          <p:nvPr/>
        </p:nvPicPr>
        <p:blipFill>
          <a:blip r:embed="rId6"/>
          <a:stretch>
            <a:fillRect/>
          </a:stretch>
        </p:blipFill>
        <p:spPr>
          <a:xfrm>
            <a:off x="996696" y="3849624"/>
            <a:ext cx="475488" cy="475488"/>
          </a:xfrm>
          <a:prstGeom prst="rect">
            <a:avLst/>
          </a:prstGeom>
        </p:spPr>
      </p:pic>
      <p:sp>
        <p:nvSpPr>
          <p:cNvPr id="21" name="Text 15"/>
          <p:cNvSpPr txBox="1"/>
          <p:nvPr/>
        </p:nvSpPr>
        <p:spPr>
          <a:xfrm>
            <a:off x="1920240" y="3566160"/>
            <a:ext cx="2103120" cy="640080"/>
          </a:xfrm>
          <a:prstGeom prst="rect">
            <a:avLst/>
          </a:prstGeom>
          <a:noFill/>
          <a:ln/>
        </p:spPr>
        <p:txBody>
          <a:bodyPr wrap="square" lIns="0" tIns="0" rIns="0" bIns="0" rtlCol="0" anchor="ctr"/>
          <a:lstStyle/>
          <a:p>
            <a:pPr marL="0" indent="0">
              <a:buNone/>
            </a:pPr>
            <a:r>
              <a:rPr lang="en-US" sz="1800" b="1" dirty="0">
                <a:solidFill>
                  <a:srgbClr val="0B2545"/>
                </a:solidFill>
                <a:latin typeface="Calibri" pitchFamily="34" charset="0"/>
                <a:ea typeface="Calibri" pitchFamily="34" charset="-122"/>
                <a:cs typeface="Calibri" pitchFamily="34" charset="-120"/>
              </a:rPr>
              <a:t>Desarrollo y pruebas</a:t>
            </a:r>
            <a:endParaRPr lang="en-US" sz="1800" dirty="0"/>
          </a:p>
        </p:txBody>
      </p:sp>
      <p:sp>
        <p:nvSpPr>
          <p:cNvPr id="22" name="Text 16"/>
          <p:cNvSpPr txBox="1"/>
          <p:nvPr/>
        </p:nvSpPr>
        <p:spPr>
          <a:xfrm>
            <a:off x="1920240" y="4206240"/>
            <a:ext cx="2103120" cy="548640"/>
          </a:xfrm>
          <a:prstGeom prst="rect">
            <a:avLst/>
          </a:prstGeom>
          <a:noFill/>
          <a:ln/>
        </p:spPr>
        <p:txBody>
          <a:bodyPr wrap="square" lIns="0" tIns="0" rIns="0" bIns="0" rtlCol="0" anchor="t"/>
          <a:lstStyle/>
          <a:p>
            <a:pPr marL="0" indent="0">
              <a:buNone/>
            </a:pPr>
            <a:r>
              <a:rPr lang="en-US" sz="1400" dirty="0">
                <a:solidFill>
                  <a:srgbClr val="1F2933"/>
                </a:solidFill>
                <a:latin typeface="Calibri" pitchFamily="34" charset="0"/>
                <a:ea typeface="Calibri" pitchFamily="34" charset="-122"/>
                <a:cs typeface="Calibri" pitchFamily="34" charset="-120"/>
              </a:rPr>
              <a:t>Construyen y verifican</a:t>
            </a:r>
            <a:endParaRPr lang="en-US" sz="1400" dirty="0"/>
          </a:p>
        </p:txBody>
      </p:sp>
      <p:sp>
        <p:nvSpPr>
          <p:cNvPr id="23" name="Shape 17"/>
          <p:cNvSpPr/>
          <p:nvPr/>
        </p:nvSpPr>
        <p:spPr>
          <a:xfrm>
            <a:off x="4297680" y="3246120"/>
            <a:ext cx="3566160" cy="1691640"/>
          </a:xfrm>
          <a:prstGeom prst="roundRect">
            <a:avLst>
              <a:gd name="adj" fmla="val 6486"/>
            </a:avLst>
          </a:prstGeom>
          <a:solidFill>
            <a:srgbClr val="EAF2F1"/>
          </a:solidFill>
          <a:ln w="9525">
            <a:solidFill>
              <a:srgbClr val="D5E3E1"/>
            </a:solidFill>
            <a:prstDash val="solid"/>
          </a:ln>
        </p:spPr>
      </p:sp>
      <p:sp>
        <p:nvSpPr>
          <p:cNvPr id="24" name="Shape 18"/>
          <p:cNvSpPr/>
          <p:nvPr/>
        </p:nvSpPr>
        <p:spPr>
          <a:xfrm>
            <a:off x="4526280" y="3630168"/>
            <a:ext cx="914400" cy="914400"/>
          </a:xfrm>
          <a:prstGeom prst="ellipse">
            <a:avLst/>
          </a:prstGeom>
          <a:solidFill>
            <a:srgbClr val="2C6E9B"/>
          </a:solidFill>
          <a:ln w="12700">
            <a:solidFill>
              <a:srgbClr val="2C6E9B"/>
            </a:solidFill>
            <a:prstDash val="solid"/>
          </a:ln>
        </p:spPr>
      </p:sp>
      <p:pic>
        <p:nvPicPr>
          <p:cNvPr id="25" name="Image 4" descr="preencoded.png"/>
          <p:cNvPicPr>
            <a:picLocks noChangeAspect="1"/>
          </p:cNvPicPr>
          <p:nvPr/>
        </p:nvPicPr>
        <p:blipFill>
          <a:blip r:embed="rId7"/>
          <a:stretch>
            <a:fillRect/>
          </a:stretch>
        </p:blipFill>
        <p:spPr>
          <a:xfrm>
            <a:off x="4745736" y="3849624"/>
            <a:ext cx="475488" cy="475488"/>
          </a:xfrm>
          <a:prstGeom prst="rect">
            <a:avLst/>
          </a:prstGeom>
        </p:spPr>
      </p:pic>
      <p:sp>
        <p:nvSpPr>
          <p:cNvPr id="26" name="Text 19"/>
          <p:cNvSpPr txBox="1"/>
          <p:nvPr/>
        </p:nvSpPr>
        <p:spPr>
          <a:xfrm>
            <a:off x="5669280" y="3566160"/>
            <a:ext cx="2103120" cy="640080"/>
          </a:xfrm>
          <a:prstGeom prst="rect">
            <a:avLst/>
          </a:prstGeom>
          <a:noFill/>
          <a:ln/>
        </p:spPr>
        <p:txBody>
          <a:bodyPr wrap="square" lIns="0" tIns="0" rIns="0" bIns="0" rtlCol="0" anchor="ctr"/>
          <a:lstStyle/>
          <a:p>
            <a:pPr marL="0" indent="0">
              <a:buNone/>
            </a:pPr>
            <a:r>
              <a:rPr lang="en-US" sz="1800" b="1" dirty="0">
                <a:solidFill>
                  <a:srgbClr val="0B2545"/>
                </a:solidFill>
                <a:latin typeface="Calibri" pitchFamily="34" charset="0"/>
                <a:ea typeface="Calibri" pitchFamily="34" charset="-122"/>
                <a:cs typeface="Calibri" pitchFamily="34" charset="-120"/>
              </a:rPr>
              <a:t>Soporte y operaciones</a:t>
            </a:r>
            <a:endParaRPr lang="en-US" sz="1800" dirty="0"/>
          </a:p>
        </p:txBody>
      </p:sp>
      <p:sp>
        <p:nvSpPr>
          <p:cNvPr id="27" name="Text 20"/>
          <p:cNvSpPr txBox="1"/>
          <p:nvPr/>
        </p:nvSpPr>
        <p:spPr>
          <a:xfrm>
            <a:off x="5669280" y="4206240"/>
            <a:ext cx="2103120" cy="548640"/>
          </a:xfrm>
          <a:prstGeom prst="rect">
            <a:avLst/>
          </a:prstGeom>
          <a:noFill/>
          <a:ln/>
        </p:spPr>
        <p:txBody>
          <a:bodyPr wrap="square" lIns="0" tIns="0" rIns="0" bIns="0" rtlCol="0" anchor="t"/>
          <a:lstStyle/>
          <a:p>
            <a:pPr marL="0" indent="0">
              <a:buNone/>
            </a:pPr>
            <a:r>
              <a:rPr lang="en-US" sz="1400" dirty="0">
                <a:solidFill>
                  <a:srgbClr val="1F2933"/>
                </a:solidFill>
                <a:latin typeface="Calibri" pitchFamily="34" charset="0"/>
                <a:ea typeface="Calibri" pitchFamily="34" charset="-122"/>
                <a:cs typeface="Calibri" pitchFamily="34" charset="-120"/>
              </a:rPr>
              <a:t>Instalan y dan asistencia</a:t>
            </a:r>
            <a:endParaRPr lang="en-US" sz="1400" dirty="0"/>
          </a:p>
        </p:txBody>
      </p:sp>
      <p:sp>
        <p:nvSpPr>
          <p:cNvPr id="28" name="Shape 21"/>
          <p:cNvSpPr/>
          <p:nvPr/>
        </p:nvSpPr>
        <p:spPr>
          <a:xfrm>
            <a:off x="8046720" y="3246120"/>
            <a:ext cx="3566160" cy="1691640"/>
          </a:xfrm>
          <a:prstGeom prst="roundRect">
            <a:avLst>
              <a:gd name="adj" fmla="val 6486"/>
            </a:avLst>
          </a:prstGeom>
          <a:solidFill>
            <a:srgbClr val="EAF2F1"/>
          </a:solidFill>
          <a:ln w="9525">
            <a:solidFill>
              <a:srgbClr val="D5E3E1"/>
            </a:solidFill>
            <a:prstDash val="solid"/>
          </a:ln>
        </p:spPr>
      </p:sp>
      <p:sp>
        <p:nvSpPr>
          <p:cNvPr id="29" name="Shape 22"/>
          <p:cNvSpPr/>
          <p:nvPr/>
        </p:nvSpPr>
        <p:spPr>
          <a:xfrm>
            <a:off x="8275320" y="3630168"/>
            <a:ext cx="914400" cy="914400"/>
          </a:xfrm>
          <a:prstGeom prst="ellipse">
            <a:avLst/>
          </a:prstGeom>
          <a:solidFill>
            <a:srgbClr val="0B2545"/>
          </a:solidFill>
          <a:ln w="12700">
            <a:solidFill>
              <a:srgbClr val="0B2545"/>
            </a:solidFill>
            <a:prstDash val="solid"/>
          </a:ln>
        </p:spPr>
      </p:sp>
      <p:pic>
        <p:nvPicPr>
          <p:cNvPr id="30" name="Image 5" descr="preencoded.png"/>
          <p:cNvPicPr>
            <a:picLocks noChangeAspect="1"/>
          </p:cNvPicPr>
          <p:nvPr/>
        </p:nvPicPr>
        <p:blipFill>
          <a:blip r:embed="rId8"/>
          <a:stretch>
            <a:fillRect/>
          </a:stretch>
        </p:blipFill>
        <p:spPr>
          <a:xfrm>
            <a:off x="8494776" y="3849624"/>
            <a:ext cx="475488" cy="475488"/>
          </a:xfrm>
          <a:prstGeom prst="rect">
            <a:avLst/>
          </a:prstGeom>
        </p:spPr>
      </p:pic>
      <p:sp>
        <p:nvSpPr>
          <p:cNvPr id="31" name="Text 23"/>
          <p:cNvSpPr txBox="1"/>
          <p:nvPr/>
        </p:nvSpPr>
        <p:spPr>
          <a:xfrm>
            <a:off x="9418320" y="3566160"/>
            <a:ext cx="2103120" cy="640080"/>
          </a:xfrm>
          <a:prstGeom prst="rect">
            <a:avLst/>
          </a:prstGeom>
          <a:noFill/>
          <a:ln/>
        </p:spPr>
        <p:txBody>
          <a:bodyPr wrap="square" lIns="0" tIns="0" rIns="0" bIns="0" rtlCol="0" anchor="ctr"/>
          <a:lstStyle/>
          <a:p>
            <a:pPr marL="0" indent="0">
              <a:buNone/>
            </a:pPr>
            <a:r>
              <a:rPr lang="en-US" sz="1800" b="1" dirty="0">
                <a:solidFill>
                  <a:srgbClr val="0B2545"/>
                </a:solidFill>
                <a:latin typeface="Calibri" pitchFamily="34" charset="0"/>
                <a:ea typeface="Calibri" pitchFamily="34" charset="-122"/>
                <a:cs typeface="Calibri" pitchFamily="34" charset="-120"/>
              </a:rPr>
              <a:t>Reguladores y auditores</a:t>
            </a:r>
            <a:endParaRPr lang="en-US" sz="1800" dirty="0"/>
          </a:p>
        </p:txBody>
      </p:sp>
      <p:sp>
        <p:nvSpPr>
          <p:cNvPr id="32" name="Text 24"/>
          <p:cNvSpPr txBox="1"/>
          <p:nvPr/>
        </p:nvSpPr>
        <p:spPr>
          <a:xfrm>
            <a:off x="9418320" y="4206240"/>
            <a:ext cx="2103120" cy="548640"/>
          </a:xfrm>
          <a:prstGeom prst="rect">
            <a:avLst/>
          </a:prstGeom>
          <a:noFill/>
          <a:ln/>
        </p:spPr>
        <p:txBody>
          <a:bodyPr wrap="square" lIns="0" tIns="0" rIns="0" bIns="0" rtlCol="0" anchor="t"/>
          <a:lstStyle/>
          <a:p>
            <a:pPr marL="0" indent="0">
              <a:buNone/>
            </a:pPr>
            <a:r>
              <a:rPr lang="en-US" sz="1400" dirty="0">
                <a:solidFill>
                  <a:srgbClr val="1F2933"/>
                </a:solidFill>
                <a:latin typeface="Calibri" pitchFamily="34" charset="0"/>
                <a:ea typeface="Calibri" pitchFamily="34" charset="-122"/>
                <a:cs typeface="Calibri" pitchFamily="34" charset="-120"/>
              </a:rPr>
              <a:t>Exigen normas y leyes</a:t>
            </a:r>
            <a:endParaRPr lang="en-US" sz="1400" dirty="0"/>
          </a:p>
        </p:txBody>
      </p:sp>
      <p:sp>
        <p:nvSpPr>
          <p:cNvPr id="33" name="Shape 25"/>
          <p:cNvSpPr/>
          <p:nvPr/>
        </p:nvSpPr>
        <p:spPr>
          <a:xfrm>
            <a:off x="548640" y="5212080"/>
            <a:ext cx="11064240" cy="960120"/>
          </a:xfrm>
          <a:prstGeom prst="roundRect">
            <a:avLst>
              <a:gd name="adj" fmla="val 11429"/>
            </a:avLst>
          </a:prstGeom>
          <a:solidFill>
            <a:srgbClr val="0B2545"/>
          </a:solidFill>
          <a:ln w="9525">
            <a:solidFill>
              <a:srgbClr val="0B2545"/>
            </a:solidFill>
            <a:prstDash val="solid"/>
          </a:ln>
        </p:spPr>
      </p:sp>
      <p:sp>
        <p:nvSpPr>
          <p:cNvPr id="34" name="Text 26"/>
          <p:cNvSpPr txBox="1"/>
          <p:nvPr/>
        </p:nvSpPr>
        <p:spPr>
          <a:xfrm>
            <a:off x="822960" y="5212080"/>
            <a:ext cx="10515600" cy="960120"/>
          </a:xfrm>
          <a:prstGeom prst="rect">
            <a:avLst/>
          </a:prstGeom>
          <a:noFill/>
          <a:ln/>
        </p:spPr>
        <p:txBody>
          <a:bodyPr wrap="square" lIns="0" tIns="0" rIns="0" bIns="0" rtlCol="0" anchor="ctr"/>
          <a:lstStyle/>
          <a:p>
            <a:pPr marL="0" indent="0">
              <a:buNone/>
            </a:pPr>
            <a:r>
              <a:rPr lang="en-US" sz="1800" b="1" dirty="0">
                <a:solidFill>
                  <a:srgbClr val="F2A541"/>
                </a:solidFill>
                <a:latin typeface="Calibri" pitchFamily="34" charset="0"/>
                <a:ea typeface="Calibri" pitchFamily="34" charset="-122"/>
                <a:cs typeface="Calibri" pitchFamily="34" charset="-120"/>
              </a:rPr>
              <a:t>El analista de requerimientos </a:t>
            </a:r>
            <a:r>
              <a:rPr lang="en-US" sz="1800" dirty="0">
                <a:solidFill>
                  <a:srgbClr val="FFFFFF"/>
                </a:solidFill>
                <a:latin typeface="Calibri" pitchFamily="34" charset="0"/>
                <a:ea typeface="Calibri" pitchFamily="34" charset="-122"/>
                <a:cs typeface="Calibri" pitchFamily="34" charset="-120"/>
              </a:rPr>
              <a:t>es el puente entre usuarios y equipo técnico: escucha, analiza, comunica y negocia.</a:t>
            </a:r>
            <a:endParaRPr lang="en-US" sz="1800" dirty="0"/>
          </a:p>
        </p:txBody>
      </p:sp>
      <p:sp>
        <p:nvSpPr>
          <p:cNvPr id="35" name="Text 27"/>
          <p:cNvSpPr txBox="1"/>
          <p:nvPr/>
        </p:nvSpPr>
        <p:spPr>
          <a:xfrm>
            <a:off x="11155680" y="6355080"/>
            <a:ext cx="548640" cy="274320"/>
          </a:xfrm>
          <a:prstGeom prst="rect">
            <a:avLst/>
          </a:prstGeom>
          <a:noFill/>
          <a:ln/>
        </p:spPr>
        <p:txBody>
          <a:bodyPr wrap="square" lIns="0" tIns="0" rIns="0" bIns="0" rtlCol="0" anchor="ctr"/>
          <a:lstStyle/>
          <a:p>
            <a:pPr marL="0" indent="0" algn="r">
              <a:buNone/>
            </a:pPr>
            <a:r>
              <a:rPr lang="en-US" sz="1100" dirty="0">
                <a:solidFill>
                  <a:srgbClr val="5B6770"/>
                </a:solidFill>
                <a:latin typeface="Calibri" pitchFamily="34" charset="0"/>
                <a:ea typeface="Calibri" pitchFamily="34" charset="-122"/>
                <a:cs typeface="Calibri" pitchFamily="34" charset="-120"/>
              </a:rPr>
              <a:t>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777240"/>
          </a:xfrm>
          <a:prstGeom prst="rect">
            <a:avLst/>
          </a:prstGeom>
          <a:noFill/>
          <a:ln/>
        </p:spPr>
        <p:txBody>
          <a:bodyPr wrap="square" lIns="0" tIns="0" rIns="0" bIns="0" rtlCol="0" anchor="ctr"/>
          <a:lstStyle/>
          <a:p>
            <a:pPr marL="0" indent="0">
              <a:buNone/>
            </a:pPr>
            <a:r>
              <a:rPr lang="en-US" sz="3400" b="1" dirty="0">
                <a:solidFill>
                  <a:srgbClr val="0B2545"/>
                </a:solidFill>
                <a:latin typeface="Cambria" pitchFamily="34" charset="0"/>
                <a:ea typeface="Cambria" pitchFamily="34" charset="-122"/>
                <a:cs typeface="Cambria" pitchFamily="34" charset="-120"/>
              </a:rPr>
              <a:t>El proceso de levantamiento en 6 etapas</a:t>
            </a:r>
            <a:endParaRPr lang="en-US" sz="3400" dirty="0"/>
          </a:p>
        </p:txBody>
      </p:sp>
      <p:sp>
        <p:nvSpPr>
          <p:cNvPr id="3" name="Shape 1"/>
          <p:cNvSpPr/>
          <p:nvPr/>
        </p:nvSpPr>
        <p:spPr>
          <a:xfrm>
            <a:off x="1417320" y="2240280"/>
            <a:ext cx="1005840" cy="0"/>
          </a:xfrm>
          <a:prstGeom prst="line">
            <a:avLst/>
          </a:prstGeom>
          <a:noFill/>
          <a:ln w="38100">
            <a:solidFill>
              <a:srgbClr val="F2A541"/>
            </a:solidFill>
            <a:prstDash val="solid"/>
          </a:ln>
        </p:spPr>
      </p:sp>
      <p:sp>
        <p:nvSpPr>
          <p:cNvPr id="4" name="Shape 2"/>
          <p:cNvSpPr/>
          <p:nvPr/>
        </p:nvSpPr>
        <p:spPr>
          <a:xfrm>
            <a:off x="548640" y="3017520"/>
            <a:ext cx="1737360" cy="2103120"/>
          </a:xfrm>
          <a:prstGeom prst="roundRect">
            <a:avLst>
              <a:gd name="adj" fmla="val 6316"/>
            </a:avLst>
          </a:prstGeom>
          <a:solidFill>
            <a:srgbClr val="EAF2F1"/>
          </a:solidFill>
          <a:ln w="9525">
            <a:solidFill>
              <a:srgbClr val="D5E3E1"/>
            </a:solidFill>
            <a:prstDash val="solid"/>
          </a:ln>
        </p:spPr>
      </p:sp>
      <p:sp>
        <p:nvSpPr>
          <p:cNvPr id="5" name="Shape 3"/>
          <p:cNvSpPr/>
          <p:nvPr/>
        </p:nvSpPr>
        <p:spPr>
          <a:xfrm>
            <a:off x="960120" y="1783080"/>
            <a:ext cx="914400" cy="914400"/>
          </a:xfrm>
          <a:prstGeom prst="ellipse">
            <a:avLst/>
          </a:prstGeom>
          <a:solidFill>
            <a:srgbClr val="1B7F79"/>
          </a:solidFill>
          <a:ln w="25400">
            <a:solidFill>
              <a:srgbClr val="FFFFFF"/>
            </a:solidFill>
            <a:prstDash val="solid"/>
          </a:ln>
        </p:spPr>
      </p:sp>
      <p:sp>
        <p:nvSpPr>
          <p:cNvPr id="6" name="Text 4"/>
          <p:cNvSpPr txBox="1"/>
          <p:nvPr/>
        </p:nvSpPr>
        <p:spPr>
          <a:xfrm>
            <a:off x="960120" y="1783080"/>
            <a:ext cx="914400" cy="914400"/>
          </a:xfrm>
          <a:prstGeom prst="rect">
            <a:avLst/>
          </a:prstGeom>
          <a:noFill/>
          <a:ln/>
        </p:spPr>
        <p:txBody>
          <a:bodyPr wrap="square" lIns="0" tIns="0" rIns="0" bIns="0" rtlCol="0" anchor="ctr"/>
          <a:lstStyle/>
          <a:p>
            <a:pPr marL="0" indent="0" algn="ctr">
              <a:buNone/>
            </a:pPr>
            <a:r>
              <a:rPr lang="en-US" sz="3000" b="1" dirty="0">
                <a:solidFill>
                  <a:srgbClr val="FFFFFF"/>
                </a:solidFill>
                <a:latin typeface="Calibri" pitchFamily="34" charset="0"/>
                <a:ea typeface="Calibri" pitchFamily="34" charset="-122"/>
                <a:cs typeface="Calibri" pitchFamily="34" charset="-120"/>
              </a:rPr>
              <a:t>1</a:t>
            </a:r>
            <a:endParaRPr lang="en-US" sz="3000" dirty="0"/>
          </a:p>
        </p:txBody>
      </p:sp>
      <p:sp>
        <p:nvSpPr>
          <p:cNvPr id="7" name="Text 5"/>
          <p:cNvSpPr txBox="1"/>
          <p:nvPr/>
        </p:nvSpPr>
        <p:spPr>
          <a:xfrm>
            <a:off x="640080" y="3154680"/>
            <a:ext cx="1554480" cy="457200"/>
          </a:xfrm>
          <a:prstGeom prst="rect">
            <a:avLst/>
          </a:prstGeom>
          <a:noFill/>
          <a:ln/>
        </p:spPr>
        <p:txBody>
          <a:bodyPr wrap="square" lIns="0" tIns="0" rIns="0" bIns="0" rtlCol="0" anchor="ctr"/>
          <a:lstStyle/>
          <a:p>
            <a:pPr marL="0" indent="0" algn="ctr">
              <a:buNone/>
            </a:pPr>
            <a:r>
              <a:rPr lang="en-US" sz="1900" b="1" dirty="0">
                <a:solidFill>
                  <a:srgbClr val="0B2545"/>
                </a:solidFill>
                <a:latin typeface="Calibri" pitchFamily="34" charset="0"/>
                <a:ea typeface="Calibri" pitchFamily="34" charset="-122"/>
                <a:cs typeface="Calibri" pitchFamily="34" charset="-120"/>
              </a:rPr>
              <a:t>Identificar</a:t>
            </a:r>
            <a:endParaRPr lang="en-US" sz="1900" dirty="0"/>
          </a:p>
        </p:txBody>
      </p:sp>
      <p:sp>
        <p:nvSpPr>
          <p:cNvPr id="8" name="Text 6"/>
          <p:cNvSpPr txBox="1"/>
          <p:nvPr/>
        </p:nvSpPr>
        <p:spPr>
          <a:xfrm>
            <a:off x="640080" y="3657600"/>
            <a:ext cx="1554480" cy="1371600"/>
          </a:xfrm>
          <a:prstGeom prst="rect">
            <a:avLst/>
          </a:prstGeom>
          <a:noFill/>
          <a:ln/>
        </p:spPr>
        <p:txBody>
          <a:bodyPr wrap="square" lIns="0" tIns="0" rIns="0" bIns="0" rtlCol="0" anchor="t"/>
          <a:lstStyle/>
          <a:p>
            <a:pPr marL="0" indent="0" algn="ctr">
              <a:buNone/>
            </a:pPr>
            <a:r>
              <a:rPr lang="en-US" sz="1600" dirty="0">
                <a:solidFill>
                  <a:srgbClr val="1F2933"/>
                </a:solidFill>
                <a:latin typeface="Calibri" pitchFamily="34" charset="0"/>
                <a:ea typeface="Calibri" pitchFamily="34" charset="-122"/>
                <a:cs typeface="Calibri" pitchFamily="34" charset="-120"/>
              </a:rPr>
              <a:t>Alcance, objetivos y actores</a:t>
            </a:r>
            <a:endParaRPr lang="en-US" sz="1600" dirty="0"/>
          </a:p>
        </p:txBody>
      </p:sp>
      <p:sp>
        <p:nvSpPr>
          <p:cNvPr id="9" name="Shape 7"/>
          <p:cNvSpPr/>
          <p:nvPr/>
        </p:nvSpPr>
        <p:spPr>
          <a:xfrm>
            <a:off x="3291840" y="2240280"/>
            <a:ext cx="1005840" cy="0"/>
          </a:xfrm>
          <a:prstGeom prst="line">
            <a:avLst/>
          </a:prstGeom>
          <a:noFill/>
          <a:ln w="38100">
            <a:solidFill>
              <a:srgbClr val="F2A541"/>
            </a:solidFill>
            <a:prstDash val="solid"/>
          </a:ln>
        </p:spPr>
      </p:sp>
      <p:sp>
        <p:nvSpPr>
          <p:cNvPr id="10" name="Shape 8"/>
          <p:cNvSpPr/>
          <p:nvPr/>
        </p:nvSpPr>
        <p:spPr>
          <a:xfrm>
            <a:off x="2423160" y="3017520"/>
            <a:ext cx="1737360" cy="2103120"/>
          </a:xfrm>
          <a:prstGeom prst="roundRect">
            <a:avLst>
              <a:gd name="adj" fmla="val 6316"/>
            </a:avLst>
          </a:prstGeom>
          <a:solidFill>
            <a:srgbClr val="EAF2F1"/>
          </a:solidFill>
          <a:ln w="9525">
            <a:solidFill>
              <a:srgbClr val="D5E3E1"/>
            </a:solidFill>
            <a:prstDash val="solid"/>
          </a:ln>
        </p:spPr>
      </p:sp>
      <p:sp>
        <p:nvSpPr>
          <p:cNvPr id="11" name="Shape 9"/>
          <p:cNvSpPr/>
          <p:nvPr/>
        </p:nvSpPr>
        <p:spPr>
          <a:xfrm>
            <a:off x="2834640" y="1783080"/>
            <a:ext cx="914400" cy="914400"/>
          </a:xfrm>
          <a:prstGeom prst="ellipse">
            <a:avLst/>
          </a:prstGeom>
          <a:solidFill>
            <a:srgbClr val="1B7F79"/>
          </a:solidFill>
          <a:ln w="25400">
            <a:solidFill>
              <a:srgbClr val="FFFFFF"/>
            </a:solidFill>
            <a:prstDash val="solid"/>
          </a:ln>
        </p:spPr>
      </p:sp>
      <p:sp>
        <p:nvSpPr>
          <p:cNvPr id="12" name="Text 10"/>
          <p:cNvSpPr txBox="1"/>
          <p:nvPr/>
        </p:nvSpPr>
        <p:spPr>
          <a:xfrm>
            <a:off x="2834640" y="1783080"/>
            <a:ext cx="914400" cy="914400"/>
          </a:xfrm>
          <a:prstGeom prst="rect">
            <a:avLst/>
          </a:prstGeom>
          <a:noFill/>
          <a:ln/>
        </p:spPr>
        <p:txBody>
          <a:bodyPr wrap="square" lIns="0" tIns="0" rIns="0" bIns="0" rtlCol="0" anchor="ctr"/>
          <a:lstStyle/>
          <a:p>
            <a:pPr marL="0" indent="0" algn="ctr">
              <a:buNone/>
            </a:pPr>
            <a:r>
              <a:rPr lang="en-US" sz="3000" b="1" dirty="0">
                <a:solidFill>
                  <a:srgbClr val="FFFFFF"/>
                </a:solidFill>
                <a:latin typeface="Calibri" pitchFamily="34" charset="0"/>
                <a:ea typeface="Calibri" pitchFamily="34" charset="-122"/>
                <a:cs typeface="Calibri" pitchFamily="34" charset="-120"/>
              </a:rPr>
              <a:t>2</a:t>
            </a:r>
            <a:endParaRPr lang="en-US" sz="3000" dirty="0"/>
          </a:p>
        </p:txBody>
      </p:sp>
      <p:sp>
        <p:nvSpPr>
          <p:cNvPr id="13" name="Text 11"/>
          <p:cNvSpPr txBox="1"/>
          <p:nvPr/>
        </p:nvSpPr>
        <p:spPr>
          <a:xfrm>
            <a:off x="2514600" y="3154680"/>
            <a:ext cx="1554480" cy="457200"/>
          </a:xfrm>
          <a:prstGeom prst="rect">
            <a:avLst/>
          </a:prstGeom>
          <a:noFill/>
          <a:ln/>
        </p:spPr>
        <p:txBody>
          <a:bodyPr wrap="square" lIns="0" tIns="0" rIns="0" bIns="0" rtlCol="0" anchor="ctr"/>
          <a:lstStyle/>
          <a:p>
            <a:pPr marL="0" indent="0" algn="ctr">
              <a:buNone/>
            </a:pPr>
            <a:r>
              <a:rPr lang="en-US" sz="1900" b="1" dirty="0">
                <a:solidFill>
                  <a:srgbClr val="0B2545"/>
                </a:solidFill>
                <a:latin typeface="Calibri" pitchFamily="34" charset="0"/>
                <a:ea typeface="Calibri" pitchFamily="34" charset="-122"/>
                <a:cs typeface="Calibri" pitchFamily="34" charset="-120"/>
              </a:rPr>
              <a:t>Obtener</a:t>
            </a:r>
            <a:endParaRPr lang="en-US" sz="1900" dirty="0"/>
          </a:p>
        </p:txBody>
      </p:sp>
      <p:sp>
        <p:nvSpPr>
          <p:cNvPr id="14" name="Text 12"/>
          <p:cNvSpPr txBox="1"/>
          <p:nvPr/>
        </p:nvSpPr>
        <p:spPr>
          <a:xfrm>
            <a:off x="2514600" y="3657600"/>
            <a:ext cx="1554480" cy="1371600"/>
          </a:xfrm>
          <a:prstGeom prst="rect">
            <a:avLst/>
          </a:prstGeom>
          <a:noFill/>
          <a:ln/>
        </p:spPr>
        <p:txBody>
          <a:bodyPr wrap="square" lIns="0" tIns="0" rIns="0" bIns="0" rtlCol="0" anchor="t"/>
          <a:lstStyle/>
          <a:p>
            <a:pPr marL="0" indent="0" algn="ctr">
              <a:buNone/>
            </a:pPr>
            <a:r>
              <a:rPr lang="en-US" sz="1600" dirty="0">
                <a:solidFill>
                  <a:srgbClr val="1F2933"/>
                </a:solidFill>
                <a:latin typeface="Calibri" pitchFamily="34" charset="0"/>
                <a:ea typeface="Calibri" pitchFamily="34" charset="-122"/>
                <a:cs typeface="Calibri" pitchFamily="34" charset="-120"/>
              </a:rPr>
              <a:t>Aplicar técnicas para recopilar información</a:t>
            </a:r>
            <a:endParaRPr lang="en-US" sz="1600" dirty="0"/>
          </a:p>
        </p:txBody>
      </p:sp>
      <p:sp>
        <p:nvSpPr>
          <p:cNvPr id="15" name="Shape 13"/>
          <p:cNvSpPr/>
          <p:nvPr/>
        </p:nvSpPr>
        <p:spPr>
          <a:xfrm>
            <a:off x="5166360" y="2240280"/>
            <a:ext cx="1005840" cy="0"/>
          </a:xfrm>
          <a:prstGeom prst="line">
            <a:avLst/>
          </a:prstGeom>
          <a:noFill/>
          <a:ln w="38100">
            <a:solidFill>
              <a:srgbClr val="F2A541"/>
            </a:solidFill>
            <a:prstDash val="solid"/>
          </a:ln>
        </p:spPr>
      </p:sp>
      <p:sp>
        <p:nvSpPr>
          <p:cNvPr id="16" name="Shape 14"/>
          <p:cNvSpPr/>
          <p:nvPr/>
        </p:nvSpPr>
        <p:spPr>
          <a:xfrm>
            <a:off x="4297680" y="3017520"/>
            <a:ext cx="1737360" cy="2103120"/>
          </a:xfrm>
          <a:prstGeom prst="roundRect">
            <a:avLst>
              <a:gd name="adj" fmla="val 6316"/>
            </a:avLst>
          </a:prstGeom>
          <a:solidFill>
            <a:srgbClr val="EAF2F1"/>
          </a:solidFill>
          <a:ln w="9525">
            <a:solidFill>
              <a:srgbClr val="D5E3E1"/>
            </a:solidFill>
            <a:prstDash val="solid"/>
          </a:ln>
        </p:spPr>
      </p:sp>
      <p:sp>
        <p:nvSpPr>
          <p:cNvPr id="17" name="Shape 15"/>
          <p:cNvSpPr/>
          <p:nvPr/>
        </p:nvSpPr>
        <p:spPr>
          <a:xfrm>
            <a:off x="4709160" y="1783080"/>
            <a:ext cx="914400" cy="914400"/>
          </a:xfrm>
          <a:prstGeom prst="ellipse">
            <a:avLst/>
          </a:prstGeom>
          <a:solidFill>
            <a:srgbClr val="1B7F79"/>
          </a:solidFill>
          <a:ln w="25400">
            <a:solidFill>
              <a:srgbClr val="FFFFFF"/>
            </a:solidFill>
            <a:prstDash val="solid"/>
          </a:ln>
        </p:spPr>
      </p:sp>
      <p:sp>
        <p:nvSpPr>
          <p:cNvPr id="18" name="Text 16"/>
          <p:cNvSpPr txBox="1"/>
          <p:nvPr/>
        </p:nvSpPr>
        <p:spPr>
          <a:xfrm>
            <a:off x="4709160" y="1783080"/>
            <a:ext cx="914400" cy="914400"/>
          </a:xfrm>
          <a:prstGeom prst="rect">
            <a:avLst/>
          </a:prstGeom>
          <a:noFill/>
          <a:ln/>
        </p:spPr>
        <p:txBody>
          <a:bodyPr wrap="square" lIns="0" tIns="0" rIns="0" bIns="0" rtlCol="0" anchor="ctr"/>
          <a:lstStyle/>
          <a:p>
            <a:pPr marL="0" indent="0" algn="ctr">
              <a:buNone/>
            </a:pPr>
            <a:r>
              <a:rPr lang="en-US" sz="3000" b="1" dirty="0">
                <a:solidFill>
                  <a:srgbClr val="FFFFFF"/>
                </a:solidFill>
                <a:latin typeface="Calibri" pitchFamily="34" charset="0"/>
                <a:ea typeface="Calibri" pitchFamily="34" charset="-122"/>
                <a:cs typeface="Calibri" pitchFamily="34" charset="-120"/>
              </a:rPr>
              <a:t>3</a:t>
            </a:r>
            <a:endParaRPr lang="en-US" sz="3000" dirty="0"/>
          </a:p>
        </p:txBody>
      </p:sp>
      <p:sp>
        <p:nvSpPr>
          <p:cNvPr id="19" name="Text 17"/>
          <p:cNvSpPr txBox="1"/>
          <p:nvPr/>
        </p:nvSpPr>
        <p:spPr>
          <a:xfrm>
            <a:off x="4389120" y="3154680"/>
            <a:ext cx="1554480" cy="457200"/>
          </a:xfrm>
          <a:prstGeom prst="rect">
            <a:avLst/>
          </a:prstGeom>
          <a:noFill/>
          <a:ln/>
        </p:spPr>
        <p:txBody>
          <a:bodyPr wrap="square" lIns="0" tIns="0" rIns="0" bIns="0" rtlCol="0" anchor="ctr"/>
          <a:lstStyle/>
          <a:p>
            <a:pPr marL="0" indent="0" algn="ctr">
              <a:buNone/>
            </a:pPr>
            <a:r>
              <a:rPr lang="en-US" sz="1900" b="1" dirty="0">
                <a:solidFill>
                  <a:srgbClr val="0B2545"/>
                </a:solidFill>
                <a:latin typeface="Calibri" pitchFamily="34" charset="0"/>
                <a:ea typeface="Calibri" pitchFamily="34" charset="-122"/>
                <a:cs typeface="Calibri" pitchFamily="34" charset="-120"/>
              </a:rPr>
              <a:t>Analizar</a:t>
            </a:r>
            <a:endParaRPr lang="en-US" sz="1900" dirty="0"/>
          </a:p>
        </p:txBody>
      </p:sp>
      <p:sp>
        <p:nvSpPr>
          <p:cNvPr id="20" name="Text 18"/>
          <p:cNvSpPr txBox="1"/>
          <p:nvPr/>
        </p:nvSpPr>
        <p:spPr>
          <a:xfrm>
            <a:off x="4389120" y="3657600"/>
            <a:ext cx="1554480" cy="1371600"/>
          </a:xfrm>
          <a:prstGeom prst="rect">
            <a:avLst/>
          </a:prstGeom>
          <a:noFill/>
          <a:ln/>
        </p:spPr>
        <p:txBody>
          <a:bodyPr wrap="square" lIns="0" tIns="0" rIns="0" bIns="0" rtlCol="0" anchor="t"/>
          <a:lstStyle/>
          <a:p>
            <a:pPr marL="0" indent="0" algn="ctr">
              <a:buNone/>
            </a:pPr>
            <a:r>
              <a:rPr lang="en-US" sz="1600" dirty="0">
                <a:solidFill>
                  <a:srgbClr val="1F2933"/>
                </a:solidFill>
                <a:latin typeface="Calibri" pitchFamily="34" charset="0"/>
                <a:ea typeface="Calibri" pitchFamily="34" charset="-122"/>
                <a:cs typeface="Calibri" pitchFamily="34" charset="-120"/>
              </a:rPr>
              <a:t>Clasificar; detectar conflictos y omisiones</a:t>
            </a:r>
            <a:endParaRPr lang="en-US" sz="1600" dirty="0"/>
          </a:p>
        </p:txBody>
      </p:sp>
      <p:sp>
        <p:nvSpPr>
          <p:cNvPr id="21" name="Shape 19"/>
          <p:cNvSpPr/>
          <p:nvPr/>
        </p:nvSpPr>
        <p:spPr>
          <a:xfrm>
            <a:off x="7040880" y="2240280"/>
            <a:ext cx="1005840" cy="0"/>
          </a:xfrm>
          <a:prstGeom prst="line">
            <a:avLst/>
          </a:prstGeom>
          <a:noFill/>
          <a:ln w="38100">
            <a:solidFill>
              <a:srgbClr val="F2A541"/>
            </a:solidFill>
            <a:prstDash val="solid"/>
          </a:ln>
        </p:spPr>
      </p:sp>
      <p:sp>
        <p:nvSpPr>
          <p:cNvPr id="22" name="Shape 20"/>
          <p:cNvSpPr/>
          <p:nvPr/>
        </p:nvSpPr>
        <p:spPr>
          <a:xfrm>
            <a:off x="6172200" y="3017520"/>
            <a:ext cx="1737360" cy="2103120"/>
          </a:xfrm>
          <a:prstGeom prst="roundRect">
            <a:avLst>
              <a:gd name="adj" fmla="val 6316"/>
            </a:avLst>
          </a:prstGeom>
          <a:solidFill>
            <a:srgbClr val="EAF2F1"/>
          </a:solidFill>
          <a:ln w="9525">
            <a:solidFill>
              <a:srgbClr val="D5E3E1"/>
            </a:solidFill>
            <a:prstDash val="solid"/>
          </a:ln>
        </p:spPr>
      </p:sp>
      <p:sp>
        <p:nvSpPr>
          <p:cNvPr id="23" name="Shape 21"/>
          <p:cNvSpPr/>
          <p:nvPr/>
        </p:nvSpPr>
        <p:spPr>
          <a:xfrm>
            <a:off x="6583680" y="1783080"/>
            <a:ext cx="914400" cy="914400"/>
          </a:xfrm>
          <a:prstGeom prst="ellipse">
            <a:avLst/>
          </a:prstGeom>
          <a:solidFill>
            <a:srgbClr val="1B7F79"/>
          </a:solidFill>
          <a:ln w="25400">
            <a:solidFill>
              <a:srgbClr val="FFFFFF"/>
            </a:solidFill>
            <a:prstDash val="solid"/>
          </a:ln>
        </p:spPr>
      </p:sp>
      <p:sp>
        <p:nvSpPr>
          <p:cNvPr id="24" name="Text 22"/>
          <p:cNvSpPr txBox="1"/>
          <p:nvPr/>
        </p:nvSpPr>
        <p:spPr>
          <a:xfrm>
            <a:off x="6583680" y="1783080"/>
            <a:ext cx="914400" cy="914400"/>
          </a:xfrm>
          <a:prstGeom prst="rect">
            <a:avLst/>
          </a:prstGeom>
          <a:noFill/>
          <a:ln/>
        </p:spPr>
        <p:txBody>
          <a:bodyPr wrap="square" lIns="0" tIns="0" rIns="0" bIns="0" rtlCol="0" anchor="ctr"/>
          <a:lstStyle/>
          <a:p>
            <a:pPr marL="0" indent="0" algn="ctr">
              <a:buNone/>
            </a:pPr>
            <a:r>
              <a:rPr lang="en-US" sz="3000" b="1" dirty="0">
                <a:solidFill>
                  <a:srgbClr val="FFFFFF"/>
                </a:solidFill>
                <a:latin typeface="Calibri" pitchFamily="34" charset="0"/>
                <a:ea typeface="Calibri" pitchFamily="34" charset="-122"/>
                <a:cs typeface="Calibri" pitchFamily="34" charset="-120"/>
              </a:rPr>
              <a:t>4</a:t>
            </a:r>
            <a:endParaRPr lang="en-US" sz="3000" dirty="0"/>
          </a:p>
        </p:txBody>
      </p:sp>
      <p:sp>
        <p:nvSpPr>
          <p:cNvPr id="25" name="Text 23"/>
          <p:cNvSpPr txBox="1"/>
          <p:nvPr/>
        </p:nvSpPr>
        <p:spPr>
          <a:xfrm>
            <a:off x="6263640" y="3154680"/>
            <a:ext cx="1554480" cy="457200"/>
          </a:xfrm>
          <a:prstGeom prst="rect">
            <a:avLst/>
          </a:prstGeom>
          <a:noFill/>
          <a:ln/>
        </p:spPr>
        <p:txBody>
          <a:bodyPr wrap="square" lIns="0" tIns="0" rIns="0" bIns="0" rtlCol="0" anchor="ctr"/>
          <a:lstStyle/>
          <a:p>
            <a:pPr marL="0" indent="0" algn="ctr">
              <a:buNone/>
            </a:pPr>
            <a:r>
              <a:rPr lang="en-US" sz="1900" b="1" dirty="0">
                <a:solidFill>
                  <a:srgbClr val="0B2545"/>
                </a:solidFill>
                <a:latin typeface="Calibri" pitchFamily="34" charset="0"/>
                <a:ea typeface="Calibri" pitchFamily="34" charset="-122"/>
                <a:cs typeface="Calibri" pitchFamily="34" charset="-120"/>
              </a:rPr>
              <a:t>Negociar</a:t>
            </a:r>
            <a:endParaRPr lang="en-US" sz="1900" dirty="0"/>
          </a:p>
        </p:txBody>
      </p:sp>
      <p:sp>
        <p:nvSpPr>
          <p:cNvPr id="26" name="Text 24"/>
          <p:cNvSpPr txBox="1"/>
          <p:nvPr/>
        </p:nvSpPr>
        <p:spPr>
          <a:xfrm>
            <a:off x="6263640" y="3657600"/>
            <a:ext cx="1554480" cy="1371600"/>
          </a:xfrm>
          <a:prstGeom prst="rect">
            <a:avLst/>
          </a:prstGeom>
          <a:noFill/>
          <a:ln/>
        </p:spPr>
        <p:txBody>
          <a:bodyPr wrap="square" lIns="0" tIns="0" rIns="0" bIns="0" rtlCol="0" anchor="t"/>
          <a:lstStyle/>
          <a:p>
            <a:pPr marL="0" indent="0" algn="ctr">
              <a:buNone/>
            </a:pPr>
            <a:r>
              <a:rPr lang="en-US" sz="1600" dirty="0">
                <a:solidFill>
                  <a:srgbClr val="1F2933"/>
                </a:solidFill>
                <a:latin typeface="Calibri" pitchFamily="34" charset="0"/>
                <a:ea typeface="Calibri" pitchFamily="34" charset="-122"/>
                <a:cs typeface="Calibri" pitchFamily="34" charset="-120"/>
              </a:rPr>
              <a:t>Priorizar y acordar con los actores</a:t>
            </a:r>
            <a:endParaRPr lang="en-US" sz="1600" dirty="0"/>
          </a:p>
        </p:txBody>
      </p:sp>
      <p:sp>
        <p:nvSpPr>
          <p:cNvPr id="27" name="Shape 25"/>
          <p:cNvSpPr/>
          <p:nvPr/>
        </p:nvSpPr>
        <p:spPr>
          <a:xfrm>
            <a:off x="8915400" y="2240280"/>
            <a:ext cx="1005840" cy="0"/>
          </a:xfrm>
          <a:prstGeom prst="line">
            <a:avLst/>
          </a:prstGeom>
          <a:noFill/>
          <a:ln w="38100">
            <a:solidFill>
              <a:srgbClr val="F2A541"/>
            </a:solidFill>
            <a:prstDash val="solid"/>
          </a:ln>
        </p:spPr>
      </p:sp>
      <p:sp>
        <p:nvSpPr>
          <p:cNvPr id="28" name="Shape 26"/>
          <p:cNvSpPr/>
          <p:nvPr/>
        </p:nvSpPr>
        <p:spPr>
          <a:xfrm>
            <a:off x="8046720" y="3017520"/>
            <a:ext cx="1737360" cy="2103120"/>
          </a:xfrm>
          <a:prstGeom prst="roundRect">
            <a:avLst>
              <a:gd name="adj" fmla="val 6316"/>
            </a:avLst>
          </a:prstGeom>
          <a:solidFill>
            <a:srgbClr val="EAF2F1"/>
          </a:solidFill>
          <a:ln w="9525">
            <a:solidFill>
              <a:srgbClr val="D5E3E1"/>
            </a:solidFill>
            <a:prstDash val="solid"/>
          </a:ln>
        </p:spPr>
      </p:sp>
      <p:sp>
        <p:nvSpPr>
          <p:cNvPr id="29" name="Shape 27"/>
          <p:cNvSpPr/>
          <p:nvPr/>
        </p:nvSpPr>
        <p:spPr>
          <a:xfrm>
            <a:off x="8458200" y="1783080"/>
            <a:ext cx="914400" cy="914400"/>
          </a:xfrm>
          <a:prstGeom prst="ellipse">
            <a:avLst/>
          </a:prstGeom>
          <a:solidFill>
            <a:srgbClr val="1B7F79"/>
          </a:solidFill>
          <a:ln w="25400">
            <a:solidFill>
              <a:srgbClr val="FFFFFF"/>
            </a:solidFill>
            <a:prstDash val="solid"/>
          </a:ln>
        </p:spPr>
      </p:sp>
      <p:sp>
        <p:nvSpPr>
          <p:cNvPr id="30" name="Text 28"/>
          <p:cNvSpPr txBox="1"/>
          <p:nvPr/>
        </p:nvSpPr>
        <p:spPr>
          <a:xfrm>
            <a:off x="8458200" y="1783080"/>
            <a:ext cx="914400" cy="914400"/>
          </a:xfrm>
          <a:prstGeom prst="rect">
            <a:avLst/>
          </a:prstGeom>
          <a:noFill/>
          <a:ln/>
        </p:spPr>
        <p:txBody>
          <a:bodyPr wrap="square" lIns="0" tIns="0" rIns="0" bIns="0" rtlCol="0" anchor="ctr"/>
          <a:lstStyle/>
          <a:p>
            <a:pPr marL="0" indent="0" algn="ctr">
              <a:buNone/>
            </a:pPr>
            <a:r>
              <a:rPr lang="en-US" sz="3000" b="1" dirty="0">
                <a:solidFill>
                  <a:srgbClr val="FFFFFF"/>
                </a:solidFill>
                <a:latin typeface="Calibri" pitchFamily="34" charset="0"/>
                <a:ea typeface="Calibri" pitchFamily="34" charset="-122"/>
                <a:cs typeface="Calibri" pitchFamily="34" charset="-120"/>
              </a:rPr>
              <a:t>5</a:t>
            </a:r>
            <a:endParaRPr lang="en-US" sz="3000" dirty="0"/>
          </a:p>
        </p:txBody>
      </p:sp>
      <p:sp>
        <p:nvSpPr>
          <p:cNvPr id="31" name="Text 29"/>
          <p:cNvSpPr txBox="1"/>
          <p:nvPr/>
        </p:nvSpPr>
        <p:spPr>
          <a:xfrm>
            <a:off x="8138160" y="3154680"/>
            <a:ext cx="1554480" cy="457200"/>
          </a:xfrm>
          <a:prstGeom prst="rect">
            <a:avLst/>
          </a:prstGeom>
          <a:noFill/>
          <a:ln/>
        </p:spPr>
        <p:txBody>
          <a:bodyPr wrap="square" lIns="0" tIns="0" rIns="0" bIns="0" rtlCol="0" anchor="ctr"/>
          <a:lstStyle/>
          <a:p>
            <a:pPr marL="0" indent="0" algn="ctr">
              <a:buNone/>
            </a:pPr>
            <a:r>
              <a:rPr lang="en-US" sz="1900" b="1" dirty="0">
                <a:solidFill>
                  <a:srgbClr val="0B2545"/>
                </a:solidFill>
                <a:latin typeface="Calibri" pitchFamily="34" charset="0"/>
                <a:ea typeface="Calibri" pitchFamily="34" charset="-122"/>
                <a:cs typeface="Calibri" pitchFamily="34" charset="-120"/>
              </a:rPr>
              <a:t>Especificar</a:t>
            </a:r>
            <a:endParaRPr lang="en-US" sz="1900" dirty="0"/>
          </a:p>
        </p:txBody>
      </p:sp>
      <p:sp>
        <p:nvSpPr>
          <p:cNvPr id="32" name="Text 30"/>
          <p:cNvSpPr txBox="1"/>
          <p:nvPr/>
        </p:nvSpPr>
        <p:spPr>
          <a:xfrm>
            <a:off x="8138160" y="3657600"/>
            <a:ext cx="1554480" cy="1371600"/>
          </a:xfrm>
          <a:prstGeom prst="rect">
            <a:avLst/>
          </a:prstGeom>
          <a:noFill/>
          <a:ln/>
        </p:spPr>
        <p:txBody>
          <a:bodyPr wrap="square" lIns="0" tIns="0" rIns="0" bIns="0" rtlCol="0" anchor="t"/>
          <a:lstStyle/>
          <a:p>
            <a:pPr marL="0" indent="0" algn="ctr">
              <a:buNone/>
            </a:pPr>
            <a:r>
              <a:rPr lang="en-US" sz="1600" dirty="0">
                <a:solidFill>
                  <a:srgbClr val="1F2933"/>
                </a:solidFill>
                <a:latin typeface="Calibri" pitchFamily="34" charset="0"/>
                <a:ea typeface="Calibri" pitchFamily="34" charset="-122"/>
                <a:cs typeface="Calibri" pitchFamily="34" charset="-120"/>
              </a:rPr>
              <a:t>Documentar de forma clara y verificable</a:t>
            </a:r>
            <a:endParaRPr lang="en-US" sz="1600" dirty="0"/>
          </a:p>
        </p:txBody>
      </p:sp>
      <p:sp>
        <p:nvSpPr>
          <p:cNvPr id="33" name="Shape 31"/>
          <p:cNvSpPr/>
          <p:nvPr/>
        </p:nvSpPr>
        <p:spPr>
          <a:xfrm>
            <a:off x="10789920" y="2240280"/>
            <a:ext cx="0" cy="0"/>
          </a:xfrm>
          <a:prstGeom prst="line">
            <a:avLst/>
          </a:prstGeom>
          <a:noFill/>
          <a:ln w="38100">
            <a:solidFill>
              <a:srgbClr val="F2A541"/>
            </a:solidFill>
            <a:prstDash val="solid"/>
          </a:ln>
        </p:spPr>
      </p:sp>
      <p:sp>
        <p:nvSpPr>
          <p:cNvPr id="34" name="Shape 32"/>
          <p:cNvSpPr/>
          <p:nvPr/>
        </p:nvSpPr>
        <p:spPr>
          <a:xfrm>
            <a:off x="9921240" y="3017520"/>
            <a:ext cx="1737360" cy="2103120"/>
          </a:xfrm>
          <a:prstGeom prst="roundRect">
            <a:avLst>
              <a:gd name="adj" fmla="val 6316"/>
            </a:avLst>
          </a:prstGeom>
          <a:solidFill>
            <a:srgbClr val="EAF2F1"/>
          </a:solidFill>
          <a:ln w="9525">
            <a:solidFill>
              <a:srgbClr val="D5E3E1"/>
            </a:solidFill>
            <a:prstDash val="solid"/>
          </a:ln>
        </p:spPr>
      </p:sp>
      <p:sp>
        <p:nvSpPr>
          <p:cNvPr id="35" name="Shape 33"/>
          <p:cNvSpPr/>
          <p:nvPr/>
        </p:nvSpPr>
        <p:spPr>
          <a:xfrm>
            <a:off x="10332720" y="1783080"/>
            <a:ext cx="914400" cy="914400"/>
          </a:xfrm>
          <a:prstGeom prst="ellipse">
            <a:avLst/>
          </a:prstGeom>
          <a:solidFill>
            <a:srgbClr val="1B7F79"/>
          </a:solidFill>
          <a:ln w="25400">
            <a:solidFill>
              <a:srgbClr val="FFFFFF"/>
            </a:solidFill>
            <a:prstDash val="solid"/>
          </a:ln>
        </p:spPr>
      </p:sp>
      <p:sp>
        <p:nvSpPr>
          <p:cNvPr id="36" name="Text 34"/>
          <p:cNvSpPr txBox="1"/>
          <p:nvPr/>
        </p:nvSpPr>
        <p:spPr>
          <a:xfrm>
            <a:off x="10332720" y="1783080"/>
            <a:ext cx="914400" cy="914400"/>
          </a:xfrm>
          <a:prstGeom prst="rect">
            <a:avLst/>
          </a:prstGeom>
          <a:noFill/>
          <a:ln/>
        </p:spPr>
        <p:txBody>
          <a:bodyPr wrap="square" lIns="0" tIns="0" rIns="0" bIns="0" rtlCol="0" anchor="ctr"/>
          <a:lstStyle/>
          <a:p>
            <a:pPr marL="0" indent="0" algn="ctr">
              <a:buNone/>
            </a:pPr>
            <a:r>
              <a:rPr lang="en-US" sz="3000" b="1" dirty="0">
                <a:solidFill>
                  <a:srgbClr val="FFFFFF"/>
                </a:solidFill>
                <a:latin typeface="Calibri" pitchFamily="34" charset="0"/>
                <a:ea typeface="Calibri" pitchFamily="34" charset="-122"/>
                <a:cs typeface="Calibri" pitchFamily="34" charset="-120"/>
              </a:rPr>
              <a:t>6</a:t>
            </a:r>
            <a:endParaRPr lang="en-US" sz="3000" dirty="0"/>
          </a:p>
        </p:txBody>
      </p:sp>
      <p:sp>
        <p:nvSpPr>
          <p:cNvPr id="37" name="Text 35"/>
          <p:cNvSpPr txBox="1"/>
          <p:nvPr/>
        </p:nvSpPr>
        <p:spPr>
          <a:xfrm>
            <a:off x="10012680" y="3154680"/>
            <a:ext cx="1554480" cy="457200"/>
          </a:xfrm>
          <a:prstGeom prst="rect">
            <a:avLst/>
          </a:prstGeom>
          <a:noFill/>
          <a:ln/>
        </p:spPr>
        <p:txBody>
          <a:bodyPr wrap="square" lIns="0" tIns="0" rIns="0" bIns="0" rtlCol="0" anchor="ctr"/>
          <a:lstStyle/>
          <a:p>
            <a:pPr marL="0" indent="0" algn="ctr">
              <a:buNone/>
            </a:pPr>
            <a:r>
              <a:rPr lang="en-US" sz="1900" b="1" dirty="0">
                <a:solidFill>
                  <a:srgbClr val="0B2545"/>
                </a:solidFill>
                <a:latin typeface="Calibri" pitchFamily="34" charset="0"/>
                <a:ea typeface="Calibri" pitchFamily="34" charset="-122"/>
                <a:cs typeface="Calibri" pitchFamily="34" charset="-120"/>
              </a:rPr>
              <a:t>Validar</a:t>
            </a:r>
            <a:endParaRPr lang="en-US" sz="1900" dirty="0"/>
          </a:p>
        </p:txBody>
      </p:sp>
      <p:sp>
        <p:nvSpPr>
          <p:cNvPr id="38" name="Text 36"/>
          <p:cNvSpPr txBox="1"/>
          <p:nvPr/>
        </p:nvSpPr>
        <p:spPr>
          <a:xfrm>
            <a:off x="10012680" y="3657600"/>
            <a:ext cx="1554480" cy="1371600"/>
          </a:xfrm>
          <a:prstGeom prst="rect">
            <a:avLst/>
          </a:prstGeom>
          <a:noFill/>
          <a:ln/>
        </p:spPr>
        <p:txBody>
          <a:bodyPr wrap="square" lIns="0" tIns="0" rIns="0" bIns="0" rtlCol="0" anchor="t"/>
          <a:lstStyle/>
          <a:p>
            <a:pPr marL="0" indent="0" algn="ctr">
              <a:buNone/>
            </a:pPr>
            <a:r>
              <a:rPr lang="en-US" sz="1600" dirty="0">
                <a:solidFill>
                  <a:srgbClr val="1F2933"/>
                </a:solidFill>
                <a:latin typeface="Calibri" pitchFamily="34" charset="0"/>
                <a:ea typeface="Calibri" pitchFamily="34" charset="-122"/>
                <a:cs typeface="Calibri" pitchFamily="34" charset="-120"/>
              </a:rPr>
              <a:t>Confirmar con los usuarios</a:t>
            </a:r>
            <a:endParaRPr lang="en-US" sz="1600" dirty="0"/>
          </a:p>
        </p:txBody>
      </p:sp>
      <p:sp>
        <p:nvSpPr>
          <p:cNvPr id="39" name="Shape 37"/>
          <p:cNvSpPr/>
          <p:nvPr/>
        </p:nvSpPr>
        <p:spPr>
          <a:xfrm>
            <a:off x="548640" y="5440680"/>
            <a:ext cx="11064240" cy="640080"/>
          </a:xfrm>
          <a:prstGeom prst="roundRect">
            <a:avLst>
              <a:gd name="adj" fmla="val 17143"/>
            </a:avLst>
          </a:prstGeom>
          <a:solidFill>
            <a:srgbClr val="0B2545"/>
          </a:solidFill>
          <a:ln w="9525">
            <a:solidFill>
              <a:srgbClr val="0B2545"/>
            </a:solidFill>
            <a:prstDash val="solid"/>
          </a:ln>
        </p:spPr>
      </p:sp>
      <p:sp>
        <p:nvSpPr>
          <p:cNvPr id="40" name="Text 38"/>
          <p:cNvSpPr txBox="1"/>
          <p:nvPr/>
        </p:nvSpPr>
        <p:spPr>
          <a:xfrm>
            <a:off x="548640" y="5440680"/>
            <a:ext cx="11064240" cy="64008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Gestión de cambios y trazabilidad: actividad continua durante todo el proceso</a:t>
            </a:r>
            <a:endParaRPr lang="en-US" sz="1800" dirty="0"/>
          </a:p>
        </p:txBody>
      </p:sp>
      <p:sp>
        <p:nvSpPr>
          <p:cNvPr id="41" name="Text 39"/>
          <p:cNvSpPr txBox="1"/>
          <p:nvPr/>
        </p:nvSpPr>
        <p:spPr>
          <a:xfrm>
            <a:off x="548640" y="6355080"/>
            <a:ext cx="10424160" cy="274320"/>
          </a:xfrm>
          <a:prstGeom prst="rect">
            <a:avLst/>
          </a:prstGeom>
          <a:noFill/>
          <a:ln/>
        </p:spPr>
        <p:txBody>
          <a:bodyPr wrap="square" lIns="0" tIns="0" rIns="0" bIns="0" rtlCol="0" anchor="ctr"/>
          <a:lstStyle/>
          <a:p>
            <a:pPr marL="0" indent="0">
              <a:buNone/>
            </a:pPr>
            <a:r>
              <a:rPr lang="en-US" sz="1050" i="1" dirty="0">
                <a:solidFill>
                  <a:srgbClr val="5B6770"/>
                </a:solidFill>
                <a:latin typeface="Calibri" pitchFamily="34" charset="0"/>
                <a:ea typeface="Calibri" pitchFamily="34" charset="-122"/>
                <a:cs typeface="Calibri" pitchFamily="34" charset="-120"/>
              </a:rPr>
              <a:t>Adaptado de Sommerville (2011) y Pressman (2010).</a:t>
            </a:r>
            <a:endParaRPr lang="en-US" sz="1050" dirty="0"/>
          </a:p>
        </p:txBody>
      </p:sp>
      <p:sp>
        <p:nvSpPr>
          <p:cNvPr id="42" name="Text 40"/>
          <p:cNvSpPr txBox="1"/>
          <p:nvPr/>
        </p:nvSpPr>
        <p:spPr>
          <a:xfrm>
            <a:off x="11155680" y="6355080"/>
            <a:ext cx="548640" cy="274320"/>
          </a:xfrm>
          <a:prstGeom prst="rect">
            <a:avLst/>
          </a:prstGeom>
          <a:noFill/>
          <a:ln/>
        </p:spPr>
        <p:txBody>
          <a:bodyPr wrap="square" lIns="0" tIns="0" rIns="0" bIns="0" rtlCol="0" anchor="ctr"/>
          <a:lstStyle/>
          <a:p>
            <a:pPr marL="0" indent="0" algn="r">
              <a:buNone/>
            </a:pPr>
            <a:r>
              <a:rPr lang="en-US" sz="1100" dirty="0">
                <a:solidFill>
                  <a:srgbClr val="5B6770"/>
                </a:solidFill>
                <a:latin typeface="Calibri" pitchFamily="34" charset="0"/>
                <a:ea typeface="Calibri" pitchFamily="34" charset="-122"/>
                <a:cs typeface="Calibri" pitchFamily="34" charset="-120"/>
              </a:rPr>
              <a:t>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777240"/>
          </a:xfrm>
          <a:prstGeom prst="rect">
            <a:avLst/>
          </a:prstGeom>
          <a:noFill/>
          <a:ln/>
        </p:spPr>
        <p:txBody>
          <a:bodyPr wrap="square" lIns="0" tIns="0" rIns="0" bIns="0" rtlCol="0" anchor="ctr"/>
          <a:lstStyle/>
          <a:p>
            <a:pPr marL="0" indent="0">
              <a:buNone/>
            </a:pPr>
            <a:r>
              <a:rPr lang="en-US" sz="3400" b="1" dirty="0">
                <a:solidFill>
                  <a:srgbClr val="0B2545"/>
                </a:solidFill>
                <a:latin typeface="Cambria" pitchFamily="34" charset="0"/>
                <a:ea typeface="Cambria" pitchFamily="34" charset="-122"/>
                <a:cs typeface="Cambria" pitchFamily="34" charset="-120"/>
              </a:rPr>
              <a:t>Técnicas de recopilación de información</a:t>
            </a:r>
            <a:endParaRPr lang="en-US" sz="3400" dirty="0"/>
          </a:p>
        </p:txBody>
      </p:sp>
      <p:sp>
        <p:nvSpPr>
          <p:cNvPr id="3" name="Shape 1"/>
          <p:cNvSpPr/>
          <p:nvPr/>
        </p:nvSpPr>
        <p:spPr>
          <a:xfrm>
            <a:off x="548640" y="1371600"/>
            <a:ext cx="3566160" cy="1691640"/>
          </a:xfrm>
          <a:prstGeom prst="roundRect">
            <a:avLst>
              <a:gd name="adj" fmla="val 6486"/>
            </a:avLst>
          </a:prstGeom>
          <a:solidFill>
            <a:srgbClr val="EAF2F1"/>
          </a:solidFill>
          <a:ln w="9525">
            <a:solidFill>
              <a:srgbClr val="D5E3E1"/>
            </a:solidFill>
            <a:prstDash val="solid"/>
          </a:ln>
        </p:spPr>
      </p:sp>
      <p:sp>
        <p:nvSpPr>
          <p:cNvPr id="4" name="Shape 2"/>
          <p:cNvSpPr/>
          <p:nvPr/>
        </p:nvSpPr>
        <p:spPr>
          <a:xfrm>
            <a:off x="777240" y="1755648"/>
            <a:ext cx="914400" cy="914400"/>
          </a:xfrm>
          <a:prstGeom prst="ellipse">
            <a:avLst/>
          </a:prstGeom>
          <a:solidFill>
            <a:srgbClr val="1B7F79"/>
          </a:solidFill>
          <a:ln w="12700">
            <a:solidFill>
              <a:srgbClr val="1B7F79"/>
            </a:solidFill>
            <a:prstDash val="solid"/>
          </a:ln>
        </p:spPr>
      </p:sp>
      <p:pic>
        <p:nvPicPr>
          <p:cNvPr id="5" name="Image 0" descr="preencoded.png"/>
          <p:cNvPicPr>
            <a:picLocks noChangeAspect="1"/>
          </p:cNvPicPr>
          <p:nvPr/>
        </p:nvPicPr>
        <p:blipFill>
          <a:blip r:embed="rId3"/>
          <a:stretch>
            <a:fillRect/>
          </a:stretch>
        </p:blipFill>
        <p:spPr>
          <a:xfrm>
            <a:off x="996696" y="1975104"/>
            <a:ext cx="475488" cy="475488"/>
          </a:xfrm>
          <a:prstGeom prst="rect">
            <a:avLst/>
          </a:prstGeom>
        </p:spPr>
      </p:pic>
      <p:sp>
        <p:nvSpPr>
          <p:cNvPr id="6" name="Text 3"/>
          <p:cNvSpPr txBox="1"/>
          <p:nvPr/>
        </p:nvSpPr>
        <p:spPr>
          <a:xfrm>
            <a:off x="1920240" y="1645920"/>
            <a:ext cx="2103120" cy="640080"/>
          </a:xfrm>
          <a:prstGeom prst="rect">
            <a:avLst/>
          </a:prstGeom>
          <a:noFill/>
          <a:ln/>
        </p:spPr>
        <p:txBody>
          <a:bodyPr wrap="square" lIns="0" tIns="0" rIns="0" bIns="0" rtlCol="0" anchor="ctr"/>
          <a:lstStyle/>
          <a:p>
            <a:pPr marL="0" indent="0">
              <a:buNone/>
            </a:pPr>
            <a:r>
              <a:rPr lang="en-US" sz="1800" b="1" dirty="0">
                <a:solidFill>
                  <a:srgbClr val="0B2545"/>
                </a:solidFill>
                <a:latin typeface="Calibri" pitchFamily="34" charset="0"/>
                <a:ea typeface="Calibri" pitchFamily="34" charset="-122"/>
                <a:cs typeface="Calibri" pitchFamily="34" charset="-120"/>
              </a:rPr>
              <a:t>Entrevistas</a:t>
            </a:r>
            <a:endParaRPr lang="en-US" sz="1800" dirty="0"/>
          </a:p>
        </p:txBody>
      </p:sp>
      <p:sp>
        <p:nvSpPr>
          <p:cNvPr id="7" name="Text 4"/>
          <p:cNvSpPr txBox="1"/>
          <p:nvPr/>
        </p:nvSpPr>
        <p:spPr>
          <a:xfrm>
            <a:off x="1920240" y="2286000"/>
            <a:ext cx="2103120" cy="685800"/>
          </a:xfrm>
          <a:prstGeom prst="rect">
            <a:avLst/>
          </a:prstGeom>
          <a:noFill/>
          <a:ln/>
        </p:spPr>
        <p:txBody>
          <a:bodyPr wrap="square" lIns="0" tIns="0" rIns="0" bIns="0" rtlCol="0" anchor="t"/>
          <a:lstStyle/>
          <a:p>
            <a:pPr marL="0" indent="0">
              <a:buNone/>
            </a:pPr>
            <a:r>
              <a:rPr lang="en-US" sz="1400" dirty="0">
                <a:solidFill>
                  <a:srgbClr val="1F2933"/>
                </a:solidFill>
                <a:latin typeface="Calibri" pitchFamily="34" charset="0"/>
                <a:ea typeface="Calibri" pitchFamily="34" charset="-122"/>
                <a:cs typeface="Calibri" pitchFamily="34" charset="-120"/>
              </a:rPr>
              <a:t>Conversación planificada con actores clave</a:t>
            </a:r>
            <a:endParaRPr lang="en-US" sz="1400" dirty="0"/>
          </a:p>
        </p:txBody>
      </p:sp>
      <p:sp>
        <p:nvSpPr>
          <p:cNvPr id="8" name="Shape 5"/>
          <p:cNvSpPr/>
          <p:nvPr/>
        </p:nvSpPr>
        <p:spPr>
          <a:xfrm>
            <a:off x="4297680" y="1371600"/>
            <a:ext cx="3566160" cy="1691640"/>
          </a:xfrm>
          <a:prstGeom prst="roundRect">
            <a:avLst>
              <a:gd name="adj" fmla="val 6486"/>
            </a:avLst>
          </a:prstGeom>
          <a:solidFill>
            <a:srgbClr val="EAF2F1"/>
          </a:solidFill>
          <a:ln w="9525">
            <a:solidFill>
              <a:srgbClr val="D5E3E1"/>
            </a:solidFill>
            <a:prstDash val="solid"/>
          </a:ln>
        </p:spPr>
      </p:sp>
      <p:sp>
        <p:nvSpPr>
          <p:cNvPr id="9" name="Shape 6"/>
          <p:cNvSpPr/>
          <p:nvPr/>
        </p:nvSpPr>
        <p:spPr>
          <a:xfrm>
            <a:off x="4526280" y="1755648"/>
            <a:ext cx="914400" cy="914400"/>
          </a:xfrm>
          <a:prstGeom prst="ellipse">
            <a:avLst/>
          </a:prstGeom>
          <a:solidFill>
            <a:srgbClr val="2C6E9B"/>
          </a:solidFill>
          <a:ln w="12700">
            <a:solidFill>
              <a:srgbClr val="2C6E9B"/>
            </a:solidFill>
            <a:prstDash val="solid"/>
          </a:ln>
        </p:spPr>
      </p:sp>
      <p:pic>
        <p:nvPicPr>
          <p:cNvPr id="10" name="Image 1" descr="preencoded.png"/>
          <p:cNvPicPr>
            <a:picLocks noChangeAspect="1"/>
          </p:cNvPicPr>
          <p:nvPr/>
        </p:nvPicPr>
        <p:blipFill>
          <a:blip r:embed="rId4"/>
          <a:stretch>
            <a:fillRect/>
          </a:stretch>
        </p:blipFill>
        <p:spPr>
          <a:xfrm>
            <a:off x="4745736" y="1975104"/>
            <a:ext cx="475488" cy="475488"/>
          </a:xfrm>
          <a:prstGeom prst="rect">
            <a:avLst/>
          </a:prstGeom>
        </p:spPr>
      </p:pic>
      <p:sp>
        <p:nvSpPr>
          <p:cNvPr id="11" name="Text 7"/>
          <p:cNvSpPr txBox="1"/>
          <p:nvPr/>
        </p:nvSpPr>
        <p:spPr>
          <a:xfrm>
            <a:off x="5669280" y="1645920"/>
            <a:ext cx="2103120" cy="640080"/>
          </a:xfrm>
          <a:prstGeom prst="rect">
            <a:avLst/>
          </a:prstGeom>
          <a:noFill/>
          <a:ln/>
        </p:spPr>
        <p:txBody>
          <a:bodyPr wrap="square" lIns="0" tIns="0" rIns="0" bIns="0" rtlCol="0" anchor="ctr"/>
          <a:lstStyle/>
          <a:p>
            <a:pPr marL="0" indent="0">
              <a:buNone/>
            </a:pPr>
            <a:r>
              <a:rPr lang="en-US" sz="1800" b="1" dirty="0">
                <a:solidFill>
                  <a:srgbClr val="0B2545"/>
                </a:solidFill>
                <a:latin typeface="Calibri" pitchFamily="34" charset="0"/>
                <a:ea typeface="Calibri" pitchFamily="34" charset="-122"/>
                <a:cs typeface="Calibri" pitchFamily="34" charset="-120"/>
              </a:rPr>
              <a:t>Cuestionarios</a:t>
            </a:r>
            <a:endParaRPr lang="en-US" sz="1800" dirty="0"/>
          </a:p>
        </p:txBody>
      </p:sp>
      <p:sp>
        <p:nvSpPr>
          <p:cNvPr id="12" name="Text 8"/>
          <p:cNvSpPr txBox="1"/>
          <p:nvPr/>
        </p:nvSpPr>
        <p:spPr>
          <a:xfrm>
            <a:off x="5669280" y="2286000"/>
            <a:ext cx="2103120" cy="685800"/>
          </a:xfrm>
          <a:prstGeom prst="rect">
            <a:avLst/>
          </a:prstGeom>
          <a:noFill/>
          <a:ln/>
        </p:spPr>
        <p:txBody>
          <a:bodyPr wrap="square" lIns="0" tIns="0" rIns="0" bIns="0" rtlCol="0" anchor="t"/>
          <a:lstStyle/>
          <a:p>
            <a:pPr marL="0" indent="0">
              <a:buNone/>
            </a:pPr>
            <a:r>
              <a:rPr lang="en-US" sz="1400" dirty="0">
                <a:solidFill>
                  <a:srgbClr val="1F2933"/>
                </a:solidFill>
                <a:latin typeface="Calibri" pitchFamily="34" charset="0"/>
                <a:ea typeface="Calibri" pitchFamily="34" charset="-122"/>
                <a:cs typeface="Calibri" pitchFamily="34" charset="-120"/>
              </a:rPr>
              <a:t>Muchas personas en poco tiempo</a:t>
            </a:r>
            <a:endParaRPr lang="en-US" sz="1400" dirty="0"/>
          </a:p>
        </p:txBody>
      </p:sp>
      <p:sp>
        <p:nvSpPr>
          <p:cNvPr id="13" name="Shape 9"/>
          <p:cNvSpPr/>
          <p:nvPr/>
        </p:nvSpPr>
        <p:spPr>
          <a:xfrm>
            <a:off x="8046720" y="1371600"/>
            <a:ext cx="3566160" cy="1691640"/>
          </a:xfrm>
          <a:prstGeom prst="roundRect">
            <a:avLst>
              <a:gd name="adj" fmla="val 6486"/>
            </a:avLst>
          </a:prstGeom>
          <a:solidFill>
            <a:srgbClr val="EAF2F1"/>
          </a:solidFill>
          <a:ln w="9525">
            <a:solidFill>
              <a:srgbClr val="D5E3E1"/>
            </a:solidFill>
            <a:prstDash val="solid"/>
          </a:ln>
        </p:spPr>
      </p:sp>
      <p:sp>
        <p:nvSpPr>
          <p:cNvPr id="14" name="Shape 10"/>
          <p:cNvSpPr/>
          <p:nvPr/>
        </p:nvSpPr>
        <p:spPr>
          <a:xfrm>
            <a:off x="8275320" y="1755648"/>
            <a:ext cx="914400" cy="914400"/>
          </a:xfrm>
          <a:prstGeom prst="ellipse">
            <a:avLst/>
          </a:prstGeom>
          <a:solidFill>
            <a:srgbClr val="0B2545"/>
          </a:solidFill>
          <a:ln w="12700">
            <a:solidFill>
              <a:srgbClr val="0B2545"/>
            </a:solidFill>
            <a:prstDash val="solid"/>
          </a:ln>
        </p:spPr>
      </p:sp>
      <p:pic>
        <p:nvPicPr>
          <p:cNvPr id="15" name="Image 2" descr="preencoded.png"/>
          <p:cNvPicPr>
            <a:picLocks noChangeAspect="1"/>
          </p:cNvPicPr>
          <p:nvPr/>
        </p:nvPicPr>
        <p:blipFill>
          <a:blip r:embed="rId5"/>
          <a:stretch>
            <a:fillRect/>
          </a:stretch>
        </p:blipFill>
        <p:spPr>
          <a:xfrm>
            <a:off x="8494776" y="1975104"/>
            <a:ext cx="475488" cy="475488"/>
          </a:xfrm>
          <a:prstGeom prst="rect">
            <a:avLst/>
          </a:prstGeom>
        </p:spPr>
      </p:pic>
      <p:sp>
        <p:nvSpPr>
          <p:cNvPr id="16" name="Text 11"/>
          <p:cNvSpPr txBox="1"/>
          <p:nvPr/>
        </p:nvSpPr>
        <p:spPr>
          <a:xfrm>
            <a:off x="9418320" y="1645920"/>
            <a:ext cx="2103120" cy="640080"/>
          </a:xfrm>
          <a:prstGeom prst="rect">
            <a:avLst/>
          </a:prstGeom>
          <a:noFill/>
          <a:ln/>
        </p:spPr>
        <p:txBody>
          <a:bodyPr wrap="square" lIns="0" tIns="0" rIns="0" bIns="0" rtlCol="0" anchor="ctr"/>
          <a:lstStyle/>
          <a:p>
            <a:pPr marL="0" indent="0">
              <a:buNone/>
            </a:pPr>
            <a:r>
              <a:rPr lang="en-US" sz="1800" b="1" dirty="0">
                <a:solidFill>
                  <a:srgbClr val="0B2545"/>
                </a:solidFill>
                <a:latin typeface="Calibri" pitchFamily="34" charset="0"/>
                <a:ea typeface="Calibri" pitchFamily="34" charset="-122"/>
                <a:cs typeface="Calibri" pitchFamily="34" charset="-120"/>
              </a:rPr>
              <a:t>Observación</a:t>
            </a:r>
            <a:endParaRPr lang="en-US" sz="1800" dirty="0"/>
          </a:p>
        </p:txBody>
      </p:sp>
      <p:sp>
        <p:nvSpPr>
          <p:cNvPr id="17" name="Text 12"/>
          <p:cNvSpPr txBox="1"/>
          <p:nvPr/>
        </p:nvSpPr>
        <p:spPr>
          <a:xfrm>
            <a:off x="9418320" y="2286000"/>
            <a:ext cx="2103120" cy="685800"/>
          </a:xfrm>
          <a:prstGeom prst="rect">
            <a:avLst/>
          </a:prstGeom>
          <a:noFill/>
          <a:ln/>
        </p:spPr>
        <p:txBody>
          <a:bodyPr wrap="square" lIns="0" tIns="0" rIns="0" bIns="0" rtlCol="0" anchor="t"/>
          <a:lstStyle/>
          <a:p>
            <a:pPr marL="0" indent="0">
              <a:buNone/>
            </a:pPr>
            <a:r>
              <a:rPr lang="en-US" sz="1400" dirty="0">
                <a:solidFill>
                  <a:srgbClr val="1F2933"/>
                </a:solidFill>
                <a:latin typeface="Calibri" pitchFamily="34" charset="0"/>
                <a:ea typeface="Calibri" pitchFamily="34" charset="-122"/>
                <a:cs typeface="Calibri" pitchFamily="34" charset="-120"/>
              </a:rPr>
              <a:t>Ver el trabajo real; etnografía</a:t>
            </a:r>
            <a:endParaRPr lang="en-US" sz="1400" dirty="0"/>
          </a:p>
        </p:txBody>
      </p:sp>
      <p:sp>
        <p:nvSpPr>
          <p:cNvPr id="18" name="Shape 13"/>
          <p:cNvSpPr/>
          <p:nvPr/>
        </p:nvSpPr>
        <p:spPr>
          <a:xfrm>
            <a:off x="548640" y="3246120"/>
            <a:ext cx="3566160" cy="1691640"/>
          </a:xfrm>
          <a:prstGeom prst="roundRect">
            <a:avLst>
              <a:gd name="adj" fmla="val 6486"/>
            </a:avLst>
          </a:prstGeom>
          <a:solidFill>
            <a:srgbClr val="EAF2F1"/>
          </a:solidFill>
          <a:ln w="9525">
            <a:solidFill>
              <a:srgbClr val="D5E3E1"/>
            </a:solidFill>
            <a:prstDash val="solid"/>
          </a:ln>
        </p:spPr>
      </p:sp>
      <p:sp>
        <p:nvSpPr>
          <p:cNvPr id="19" name="Shape 14"/>
          <p:cNvSpPr/>
          <p:nvPr/>
        </p:nvSpPr>
        <p:spPr>
          <a:xfrm>
            <a:off x="777240" y="3630168"/>
            <a:ext cx="914400" cy="914400"/>
          </a:xfrm>
          <a:prstGeom prst="ellipse">
            <a:avLst/>
          </a:prstGeom>
          <a:solidFill>
            <a:srgbClr val="2C6E9B"/>
          </a:solidFill>
          <a:ln w="12700">
            <a:solidFill>
              <a:srgbClr val="2C6E9B"/>
            </a:solidFill>
            <a:prstDash val="solid"/>
          </a:ln>
        </p:spPr>
      </p:sp>
      <p:pic>
        <p:nvPicPr>
          <p:cNvPr id="20" name="Image 3" descr="preencoded.png"/>
          <p:cNvPicPr>
            <a:picLocks noChangeAspect="1"/>
          </p:cNvPicPr>
          <p:nvPr/>
        </p:nvPicPr>
        <p:blipFill>
          <a:blip r:embed="rId6"/>
          <a:stretch>
            <a:fillRect/>
          </a:stretch>
        </p:blipFill>
        <p:spPr>
          <a:xfrm>
            <a:off x="996696" y="3849624"/>
            <a:ext cx="475488" cy="475488"/>
          </a:xfrm>
          <a:prstGeom prst="rect">
            <a:avLst/>
          </a:prstGeom>
        </p:spPr>
      </p:pic>
      <p:sp>
        <p:nvSpPr>
          <p:cNvPr id="21" name="Text 15"/>
          <p:cNvSpPr txBox="1"/>
          <p:nvPr/>
        </p:nvSpPr>
        <p:spPr>
          <a:xfrm>
            <a:off x="1920240" y="3520440"/>
            <a:ext cx="2103120" cy="640080"/>
          </a:xfrm>
          <a:prstGeom prst="rect">
            <a:avLst/>
          </a:prstGeom>
          <a:noFill/>
          <a:ln/>
        </p:spPr>
        <p:txBody>
          <a:bodyPr wrap="square" lIns="0" tIns="0" rIns="0" bIns="0" rtlCol="0" anchor="ctr"/>
          <a:lstStyle/>
          <a:p>
            <a:pPr marL="0" indent="0">
              <a:buNone/>
            </a:pPr>
            <a:r>
              <a:rPr lang="en-US" sz="1800" b="1" dirty="0">
                <a:solidFill>
                  <a:srgbClr val="0B2545"/>
                </a:solidFill>
                <a:latin typeface="Calibri" pitchFamily="34" charset="0"/>
                <a:ea typeface="Calibri" pitchFamily="34" charset="-122"/>
                <a:cs typeface="Calibri" pitchFamily="34" charset="-120"/>
              </a:rPr>
              <a:t>Talleres (JAD)</a:t>
            </a:r>
            <a:endParaRPr lang="en-US" sz="1800" dirty="0"/>
          </a:p>
        </p:txBody>
      </p:sp>
      <p:sp>
        <p:nvSpPr>
          <p:cNvPr id="22" name="Text 16"/>
          <p:cNvSpPr txBox="1"/>
          <p:nvPr/>
        </p:nvSpPr>
        <p:spPr>
          <a:xfrm>
            <a:off x="1920240" y="4160520"/>
            <a:ext cx="2103120" cy="685800"/>
          </a:xfrm>
          <a:prstGeom prst="rect">
            <a:avLst/>
          </a:prstGeom>
          <a:noFill/>
          <a:ln/>
        </p:spPr>
        <p:txBody>
          <a:bodyPr wrap="square" lIns="0" tIns="0" rIns="0" bIns="0" rtlCol="0" anchor="t"/>
          <a:lstStyle/>
          <a:p>
            <a:pPr marL="0" indent="0">
              <a:buNone/>
            </a:pPr>
            <a:r>
              <a:rPr lang="en-US" sz="1400" dirty="0">
                <a:solidFill>
                  <a:srgbClr val="1F2933"/>
                </a:solidFill>
                <a:latin typeface="Calibri" pitchFamily="34" charset="0"/>
                <a:ea typeface="Calibri" pitchFamily="34" charset="-122"/>
                <a:cs typeface="Calibri" pitchFamily="34" charset="-120"/>
              </a:rPr>
              <a:t>Sesiones colaborativas con facilitador</a:t>
            </a:r>
            <a:endParaRPr lang="en-US" sz="1400" dirty="0"/>
          </a:p>
        </p:txBody>
      </p:sp>
      <p:sp>
        <p:nvSpPr>
          <p:cNvPr id="23" name="Shape 17"/>
          <p:cNvSpPr/>
          <p:nvPr/>
        </p:nvSpPr>
        <p:spPr>
          <a:xfrm>
            <a:off x="4297680" y="3246120"/>
            <a:ext cx="3566160" cy="1691640"/>
          </a:xfrm>
          <a:prstGeom prst="roundRect">
            <a:avLst>
              <a:gd name="adj" fmla="val 6486"/>
            </a:avLst>
          </a:prstGeom>
          <a:solidFill>
            <a:srgbClr val="EAF2F1"/>
          </a:solidFill>
          <a:ln w="9525">
            <a:solidFill>
              <a:srgbClr val="D5E3E1"/>
            </a:solidFill>
            <a:prstDash val="solid"/>
          </a:ln>
        </p:spPr>
      </p:sp>
      <p:sp>
        <p:nvSpPr>
          <p:cNvPr id="24" name="Shape 18"/>
          <p:cNvSpPr/>
          <p:nvPr/>
        </p:nvSpPr>
        <p:spPr>
          <a:xfrm>
            <a:off x="4526280" y="3630168"/>
            <a:ext cx="914400" cy="914400"/>
          </a:xfrm>
          <a:prstGeom prst="ellipse">
            <a:avLst/>
          </a:prstGeom>
          <a:solidFill>
            <a:srgbClr val="0B2545"/>
          </a:solidFill>
          <a:ln w="12700">
            <a:solidFill>
              <a:srgbClr val="0B2545"/>
            </a:solidFill>
            <a:prstDash val="solid"/>
          </a:ln>
        </p:spPr>
      </p:sp>
      <p:pic>
        <p:nvPicPr>
          <p:cNvPr id="25" name="Image 4" descr="preencoded.png"/>
          <p:cNvPicPr>
            <a:picLocks noChangeAspect="1"/>
          </p:cNvPicPr>
          <p:nvPr/>
        </p:nvPicPr>
        <p:blipFill>
          <a:blip r:embed="rId7"/>
          <a:stretch>
            <a:fillRect/>
          </a:stretch>
        </p:blipFill>
        <p:spPr>
          <a:xfrm>
            <a:off x="4745736" y="3849624"/>
            <a:ext cx="475488" cy="475488"/>
          </a:xfrm>
          <a:prstGeom prst="rect">
            <a:avLst/>
          </a:prstGeom>
        </p:spPr>
      </p:pic>
      <p:sp>
        <p:nvSpPr>
          <p:cNvPr id="26" name="Text 19"/>
          <p:cNvSpPr txBox="1"/>
          <p:nvPr/>
        </p:nvSpPr>
        <p:spPr>
          <a:xfrm>
            <a:off x="5669280" y="3520440"/>
            <a:ext cx="2103120" cy="640080"/>
          </a:xfrm>
          <a:prstGeom prst="rect">
            <a:avLst/>
          </a:prstGeom>
          <a:noFill/>
          <a:ln/>
        </p:spPr>
        <p:txBody>
          <a:bodyPr wrap="square" lIns="0" tIns="0" rIns="0" bIns="0" rtlCol="0" anchor="ctr"/>
          <a:lstStyle/>
          <a:p>
            <a:pPr marL="0" indent="0">
              <a:buNone/>
            </a:pPr>
            <a:r>
              <a:rPr lang="en-US" sz="1800" b="1" dirty="0">
                <a:solidFill>
                  <a:srgbClr val="0B2545"/>
                </a:solidFill>
                <a:latin typeface="Calibri" pitchFamily="34" charset="0"/>
                <a:ea typeface="Calibri" pitchFamily="34" charset="-122"/>
                <a:cs typeface="Calibri" pitchFamily="34" charset="-120"/>
              </a:rPr>
              <a:t>Análisis de documentos</a:t>
            </a:r>
            <a:endParaRPr lang="en-US" sz="1800" dirty="0"/>
          </a:p>
        </p:txBody>
      </p:sp>
      <p:sp>
        <p:nvSpPr>
          <p:cNvPr id="27" name="Text 20"/>
          <p:cNvSpPr txBox="1"/>
          <p:nvPr/>
        </p:nvSpPr>
        <p:spPr>
          <a:xfrm>
            <a:off x="5669280" y="4160520"/>
            <a:ext cx="2103120" cy="685800"/>
          </a:xfrm>
          <a:prstGeom prst="rect">
            <a:avLst/>
          </a:prstGeom>
          <a:noFill/>
          <a:ln/>
        </p:spPr>
        <p:txBody>
          <a:bodyPr wrap="square" lIns="0" tIns="0" rIns="0" bIns="0" rtlCol="0" anchor="t"/>
          <a:lstStyle/>
          <a:p>
            <a:pPr marL="0" indent="0">
              <a:buNone/>
            </a:pPr>
            <a:r>
              <a:rPr lang="en-US" sz="1400" dirty="0">
                <a:solidFill>
                  <a:srgbClr val="1F2933"/>
                </a:solidFill>
                <a:latin typeface="Calibri" pitchFamily="34" charset="0"/>
                <a:ea typeface="Calibri" pitchFamily="34" charset="-122"/>
                <a:cs typeface="Calibri" pitchFamily="34" charset="-120"/>
              </a:rPr>
              <a:t>Manuales, formularios y sistemas actuales</a:t>
            </a:r>
            <a:endParaRPr lang="en-US" sz="1400" dirty="0"/>
          </a:p>
        </p:txBody>
      </p:sp>
      <p:sp>
        <p:nvSpPr>
          <p:cNvPr id="28" name="Shape 21"/>
          <p:cNvSpPr/>
          <p:nvPr/>
        </p:nvSpPr>
        <p:spPr>
          <a:xfrm>
            <a:off x="8046720" y="3246120"/>
            <a:ext cx="3566160" cy="1691640"/>
          </a:xfrm>
          <a:prstGeom prst="roundRect">
            <a:avLst>
              <a:gd name="adj" fmla="val 6486"/>
            </a:avLst>
          </a:prstGeom>
          <a:solidFill>
            <a:srgbClr val="EAF2F1"/>
          </a:solidFill>
          <a:ln w="9525">
            <a:solidFill>
              <a:srgbClr val="D5E3E1"/>
            </a:solidFill>
            <a:prstDash val="solid"/>
          </a:ln>
        </p:spPr>
      </p:sp>
      <p:sp>
        <p:nvSpPr>
          <p:cNvPr id="29" name="Shape 22"/>
          <p:cNvSpPr/>
          <p:nvPr/>
        </p:nvSpPr>
        <p:spPr>
          <a:xfrm>
            <a:off x="8275320" y="3630168"/>
            <a:ext cx="914400" cy="914400"/>
          </a:xfrm>
          <a:prstGeom prst="ellipse">
            <a:avLst/>
          </a:prstGeom>
          <a:solidFill>
            <a:srgbClr val="1B7F79"/>
          </a:solidFill>
          <a:ln w="12700">
            <a:solidFill>
              <a:srgbClr val="1B7F79"/>
            </a:solidFill>
            <a:prstDash val="solid"/>
          </a:ln>
        </p:spPr>
      </p:sp>
      <p:pic>
        <p:nvPicPr>
          <p:cNvPr id="30" name="Image 5" descr="preencoded.png"/>
          <p:cNvPicPr>
            <a:picLocks noChangeAspect="1"/>
          </p:cNvPicPr>
          <p:nvPr/>
        </p:nvPicPr>
        <p:blipFill>
          <a:blip r:embed="rId8"/>
          <a:stretch>
            <a:fillRect/>
          </a:stretch>
        </p:blipFill>
        <p:spPr>
          <a:xfrm>
            <a:off x="8494776" y="3849624"/>
            <a:ext cx="475488" cy="475488"/>
          </a:xfrm>
          <a:prstGeom prst="rect">
            <a:avLst/>
          </a:prstGeom>
        </p:spPr>
      </p:pic>
      <p:sp>
        <p:nvSpPr>
          <p:cNvPr id="31" name="Text 23"/>
          <p:cNvSpPr txBox="1"/>
          <p:nvPr/>
        </p:nvSpPr>
        <p:spPr>
          <a:xfrm>
            <a:off x="9418320" y="3520440"/>
            <a:ext cx="2103120" cy="640080"/>
          </a:xfrm>
          <a:prstGeom prst="rect">
            <a:avLst/>
          </a:prstGeom>
          <a:noFill/>
          <a:ln/>
        </p:spPr>
        <p:txBody>
          <a:bodyPr wrap="square" lIns="0" tIns="0" rIns="0" bIns="0" rtlCol="0" anchor="ctr"/>
          <a:lstStyle/>
          <a:p>
            <a:pPr marL="0" indent="0">
              <a:buNone/>
            </a:pPr>
            <a:r>
              <a:rPr lang="en-US" sz="1800" b="1" dirty="0">
                <a:solidFill>
                  <a:srgbClr val="0B2545"/>
                </a:solidFill>
                <a:latin typeface="Calibri" pitchFamily="34" charset="0"/>
                <a:ea typeface="Calibri" pitchFamily="34" charset="-122"/>
                <a:cs typeface="Calibri" pitchFamily="34" charset="-120"/>
              </a:rPr>
              <a:t>Prototipos</a:t>
            </a:r>
            <a:endParaRPr lang="en-US" sz="1800" dirty="0"/>
          </a:p>
        </p:txBody>
      </p:sp>
      <p:sp>
        <p:nvSpPr>
          <p:cNvPr id="32" name="Text 24"/>
          <p:cNvSpPr txBox="1"/>
          <p:nvPr/>
        </p:nvSpPr>
        <p:spPr>
          <a:xfrm>
            <a:off x="9418320" y="4160520"/>
            <a:ext cx="2103120" cy="685800"/>
          </a:xfrm>
          <a:prstGeom prst="rect">
            <a:avLst/>
          </a:prstGeom>
          <a:noFill/>
          <a:ln/>
        </p:spPr>
        <p:txBody>
          <a:bodyPr wrap="square" lIns="0" tIns="0" rIns="0" bIns="0" rtlCol="0" anchor="t"/>
          <a:lstStyle/>
          <a:p>
            <a:pPr marL="0" indent="0">
              <a:buNone/>
            </a:pPr>
            <a:r>
              <a:rPr lang="en-US" sz="1400" dirty="0">
                <a:solidFill>
                  <a:srgbClr val="1F2933"/>
                </a:solidFill>
                <a:latin typeface="Calibri" pitchFamily="34" charset="0"/>
                <a:ea typeface="Calibri" pitchFamily="34" charset="-122"/>
                <a:cs typeface="Calibri" pitchFamily="34" charset="-120"/>
              </a:rPr>
              <a:t>Maquetas para reaccionar ante algo concreto</a:t>
            </a:r>
            <a:endParaRPr lang="en-US" sz="1400" dirty="0"/>
          </a:p>
        </p:txBody>
      </p:sp>
      <p:sp>
        <p:nvSpPr>
          <p:cNvPr id="33" name="Shape 25"/>
          <p:cNvSpPr/>
          <p:nvPr/>
        </p:nvSpPr>
        <p:spPr>
          <a:xfrm>
            <a:off x="548640" y="5212080"/>
            <a:ext cx="11064240" cy="960120"/>
          </a:xfrm>
          <a:prstGeom prst="roundRect">
            <a:avLst>
              <a:gd name="adj" fmla="val 11429"/>
            </a:avLst>
          </a:prstGeom>
          <a:solidFill>
            <a:srgbClr val="FFFFFF"/>
          </a:solidFill>
          <a:ln w="9525">
            <a:solidFill>
              <a:srgbClr val="1B7F79"/>
            </a:solidFill>
            <a:prstDash val="solid"/>
          </a:ln>
        </p:spPr>
      </p:sp>
      <p:sp>
        <p:nvSpPr>
          <p:cNvPr id="34" name="Text 26"/>
          <p:cNvSpPr txBox="1"/>
          <p:nvPr/>
        </p:nvSpPr>
        <p:spPr>
          <a:xfrm>
            <a:off x="822960" y="5212080"/>
            <a:ext cx="10515600" cy="960120"/>
          </a:xfrm>
          <a:prstGeom prst="rect">
            <a:avLst/>
          </a:prstGeom>
          <a:noFill/>
          <a:ln/>
        </p:spPr>
        <p:txBody>
          <a:bodyPr wrap="square" lIns="0" tIns="0" rIns="0" bIns="0" rtlCol="0" anchor="ctr"/>
          <a:lstStyle/>
          <a:p>
            <a:pPr marL="0" indent="0">
              <a:buNone/>
            </a:pPr>
            <a:r>
              <a:rPr lang="en-US" sz="1600" b="1" dirty="0">
                <a:solidFill>
                  <a:srgbClr val="1B7F79"/>
                </a:solidFill>
                <a:latin typeface="Calibri" pitchFamily="34" charset="0"/>
                <a:ea typeface="Calibri" pitchFamily="34" charset="-122"/>
                <a:cs typeface="Calibri" pitchFamily="34" charset="-120"/>
              </a:rPr>
              <a:t>Casos de uso e historias de usuario: </a:t>
            </a:r>
            <a:r>
              <a:rPr lang="en-US" sz="1600" dirty="0">
                <a:solidFill>
                  <a:srgbClr val="1F2933"/>
                </a:solidFill>
                <a:latin typeface="Calibri" pitchFamily="34" charset="0"/>
                <a:ea typeface="Calibri" pitchFamily="34" charset="-122"/>
                <a:cs typeface="Calibri" pitchFamily="34" charset="-120"/>
              </a:rPr>
              <a:t>describen el sistema desde la perspectiva del usuario y sirven tanto para obtener como para documentar requerimientos.</a:t>
            </a:r>
            <a:endParaRPr lang="en-US" sz="1600" dirty="0"/>
          </a:p>
        </p:txBody>
      </p:sp>
      <p:sp>
        <p:nvSpPr>
          <p:cNvPr id="35" name="Text 27"/>
          <p:cNvSpPr txBox="1"/>
          <p:nvPr/>
        </p:nvSpPr>
        <p:spPr>
          <a:xfrm>
            <a:off x="11155680" y="6355080"/>
            <a:ext cx="548640" cy="274320"/>
          </a:xfrm>
          <a:prstGeom prst="rect">
            <a:avLst/>
          </a:prstGeom>
          <a:noFill/>
          <a:ln/>
        </p:spPr>
        <p:txBody>
          <a:bodyPr wrap="square" lIns="0" tIns="0" rIns="0" bIns="0" rtlCol="0" anchor="ctr"/>
          <a:lstStyle/>
          <a:p>
            <a:pPr marL="0" indent="0" algn="r">
              <a:buNone/>
            </a:pPr>
            <a:r>
              <a:rPr lang="en-US" sz="1100" dirty="0">
                <a:solidFill>
                  <a:srgbClr val="5B6770"/>
                </a:solidFill>
                <a:latin typeface="Calibri" pitchFamily="34" charset="0"/>
                <a:ea typeface="Calibri" pitchFamily="34" charset="-122"/>
                <a:cs typeface="Calibri" pitchFamily="34" charset="-120"/>
              </a:rPr>
              <a:t>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777240"/>
          </a:xfrm>
          <a:prstGeom prst="rect">
            <a:avLst/>
          </a:prstGeom>
          <a:noFill/>
          <a:ln/>
        </p:spPr>
        <p:txBody>
          <a:bodyPr wrap="square" lIns="0" tIns="0" rIns="0" bIns="0" rtlCol="0" anchor="ctr"/>
          <a:lstStyle/>
          <a:p>
            <a:pPr marL="0" indent="0">
              <a:buNone/>
            </a:pPr>
            <a:r>
              <a:rPr lang="en-US" sz="3400" b="1" dirty="0">
                <a:solidFill>
                  <a:srgbClr val="0B2545"/>
                </a:solidFill>
                <a:latin typeface="Cambria" pitchFamily="34" charset="0"/>
                <a:ea typeface="Cambria" pitchFamily="34" charset="-122"/>
                <a:cs typeface="Cambria" pitchFamily="34" charset="-120"/>
              </a:rPr>
              <a:t>¿Cuándo usar cada técnica?</a:t>
            </a:r>
            <a:endParaRPr lang="en-US" sz="34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4434840"/>
        </p:xfrm>
        <a:graphic>
          <a:graphicData uri="http://schemas.openxmlformats.org/drawingml/2006/table">
            <a:tbl>
              <a:tblPr/>
              <a:tblGrid>
                <a:gridCol w="210312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gridCol w="2926080">
                  <a:extLst>
                    <a:ext uri="{9D8B030D-6E8A-4147-A177-3AD203B41FA5}">
                      <a16:colId xmlns:a16="http://schemas.microsoft.com/office/drawing/2014/main" val="20002"/>
                    </a:ext>
                  </a:extLst>
                </a:gridCol>
                <a:gridCol w="2926080">
                  <a:extLst>
                    <a:ext uri="{9D8B030D-6E8A-4147-A177-3AD203B41FA5}">
                      <a16:colId xmlns:a16="http://schemas.microsoft.com/office/drawing/2014/main" val="20003"/>
                    </a:ext>
                  </a:extLst>
                </a:gridCol>
              </a:tblGrid>
              <a:tr h="548640">
                <a:tc>
                  <a:txBody>
                    <a:bodyPr/>
                    <a:lstStyle/>
                    <a:p>
                      <a:pPr marL="0" indent="0">
                        <a:buNone/>
                      </a:pPr>
                      <a:r>
                        <a:rPr lang="en-US" sz="1700" b="1" dirty="0">
                          <a:solidFill>
                            <a:srgbClr val="FFFFFF"/>
                          </a:solidFill>
                          <a:latin typeface="Calibri" pitchFamily="34" charset="0"/>
                          <a:ea typeface="Calibri" pitchFamily="34" charset="-122"/>
                          <a:cs typeface="Calibri" pitchFamily="34" charset="-120"/>
                        </a:rPr>
                        <a:t>Técnica</a:t>
                      </a:r>
                      <a:endParaRPr lang="en-US" sz="1700" dirty="0">
                        <a:latin typeface="Calibri" charset="0"/>
                        <a:ea typeface="Calibri" charset="0"/>
                        <a:cs typeface="Calibri" charset="0"/>
                      </a:endParaRPr>
                    </a:p>
                  </a:txBody>
                  <a:tcPr marL="109728" marR="109728"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0B2545"/>
                    </a:solidFill>
                  </a:tcPr>
                </a:tc>
                <a:tc>
                  <a:txBody>
                    <a:bodyPr/>
                    <a:lstStyle/>
                    <a:p>
                      <a:pPr marL="0" indent="0">
                        <a:buNone/>
                      </a:pPr>
                      <a:r>
                        <a:rPr lang="en-US" sz="1700" b="1" dirty="0">
                          <a:solidFill>
                            <a:srgbClr val="FFFFFF"/>
                          </a:solidFill>
                          <a:latin typeface="Calibri" pitchFamily="34" charset="0"/>
                          <a:ea typeface="Calibri" pitchFamily="34" charset="-122"/>
                          <a:cs typeface="Calibri" pitchFamily="34" charset="-120"/>
                        </a:rPr>
                        <a:t>Ventaja</a:t>
                      </a:r>
                      <a:endParaRPr lang="en-US" sz="1700" dirty="0">
                        <a:latin typeface="Calibri" charset="0"/>
                        <a:ea typeface="Calibri" charset="0"/>
                        <a:cs typeface="Calibri" charset="0"/>
                      </a:endParaRPr>
                    </a:p>
                  </a:txBody>
                  <a:tcPr marL="109728" marR="109728"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0B2545"/>
                    </a:solidFill>
                  </a:tcPr>
                </a:tc>
                <a:tc>
                  <a:txBody>
                    <a:bodyPr/>
                    <a:lstStyle/>
                    <a:p>
                      <a:pPr marL="0" indent="0">
                        <a:buNone/>
                      </a:pPr>
                      <a:r>
                        <a:rPr lang="en-US" sz="1700" b="1" dirty="0">
                          <a:solidFill>
                            <a:srgbClr val="FFFFFF"/>
                          </a:solidFill>
                          <a:latin typeface="Calibri" pitchFamily="34" charset="0"/>
                          <a:ea typeface="Calibri" pitchFamily="34" charset="-122"/>
                          <a:cs typeface="Calibri" pitchFamily="34" charset="-120"/>
                        </a:rPr>
                        <a:t>Limitación</a:t>
                      </a:r>
                      <a:endParaRPr lang="en-US" sz="1700" dirty="0">
                        <a:latin typeface="Calibri" charset="0"/>
                        <a:ea typeface="Calibri" charset="0"/>
                        <a:cs typeface="Calibri" charset="0"/>
                      </a:endParaRPr>
                    </a:p>
                  </a:txBody>
                  <a:tcPr marL="109728" marR="109728"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0B2545"/>
                    </a:solidFill>
                  </a:tcPr>
                </a:tc>
                <a:tc>
                  <a:txBody>
                    <a:bodyPr/>
                    <a:lstStyle/>
                    <a:p>
                      <a:pPr marL="0" indent="0">
                        <a:buNone/>
                      </a:pPr>
                      <a:r>
                        <a:rPr lang="en-US" sz="1700" b="1" dirty="0">
                          <a:solidFill>
                            <a:srgbClr val="FFFFFF"/>
                          </a:solidFill>
                          <a:latin typeface="Calibri" pitchFamily="34" charset="0"/>
                          <a:ea typeface="Calibri" pitchFamily="34" charset="-122"/>
                          <a:cs typeface="Calibri" pitchFamily="34" charset="-120"/>
                        </a:rPr>
                        <a:t>Conviene cuando…</a:t>
                      </a:r>
                      <a:endParaRPr lang="en-US" sz="1700" dirty="0">
                        <a:latin typeface="Calibri" charset="0"/>
                        <a:ea typeface="Calibri" charset="0"/>
                        <a:cs typeface="Calibri" charset="0"/>
                      </a:endParaRPr>
                    </a:p>
                  </a:txBody>
                  <a:tcPr marL="109728" marR="109728"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0B2545"/>
                    </a:solidFill>
                  </a:tcPr>
                </a:tc>
                <a:extLst>
                  <a:ext uri="{0D108BD9-81ED-4DB2-BD59-A6C34878D82A}">
                    <a16:rowId xmlns:a16="http://schemas.microsoft.com/office/drawing/2014/main" val="10000"/>
                  </a:ext>
                </a:extLst>
              </a:tr>
              <a:tr h="777240">
                <a:tc>
                  <a:txBody>
                    <a:bodyPr/>
                    <a:lstStyle/>
                    <a:p>
                      <a:pPr marL="0" indent="0">
                        <a:buNone/>
                      </a:pPr>
                      <a:r>
                        <a:rPr lang="en-US" sz="1700" b="1" dirty="0">
                          <a:solidFill>
                            <a:srgbClr val="1F2933"/>
                          </a:solidFill>
                          <a:latin typeface="Calibri" pitchFamily="34" charset="0"/>
                          <a:ea typeface="Calibri" pitchFamily="34" charset="-122"/>
                          <a:cs typeface="Calibri" pitchFamily="34" charset="-120"/>
                        </a:rPr>
                        <a:t>Entrevistas</a:t>
                      </a:r>
                      <a:endParaRPr lang="en-US" sz="1700" dirty="0">
                        <a:latin typeface="Calibri" charset="0"/>
                        <a:ea typeface="Calibri" charset="0"/>
                        <a:cs typeface="Calibri" charset="0"/>
                      </a:endParaRPr>
                    </a:p>
                  </a:txBody>
                  <a:tcPr marL="109728" marR="109728"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EAF2F1"/>
                    </a:solidFill>
                  </a:tcPr>
                </a:tc>
                <a:tc>
                  <a:txBody>
                    <a:bodyPr/>
                    <a:lstStyle/>
                    <a:p>
                      <a:pPr marL="0" indent="0">
                        <a:buNone/>
                      </a:pPr>
                      <a:r>
                        <a:rPr lang="en-US" sz="1700" dirty="0">
                          <a:solidFill>
                            <a:srgbClr val="1F2933"/>
                          </a:solidFill>
                          <a:latin typeface="Calibri" pitchFamily="34" charset="0"/>
                          <a:ea typeface="Calibri" pitchFamily="34" charset="-122"/>
                          <a:cs typeface="Calibri" pitchFamily="34" charset="-120"/>
                        </a:rPr>
                        <a:t>Detalle; permiten aclarar dudas</a:t>
                      </a:r>
                      <a:endParaRPr lang="en-US" sz="1700" dirty="0">
                        <a:latin typeface="Calibri" charset="0"/>
                        <a:ea typeface="Calibri" charset="0"/>
                        <a:cs typeface="Calibri" charset="0"/>
                      </a:endParaRPr>
                    </a:p>
                  </a:txBody>
                  <a:tcPr marL="109728" marR="109728"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EAF2F1"/>
                    </a:solidFill>
                  </a:tcPr>
                </a:tc>
                <a:tc>
                  <a:txBody>
                    <a:bodyPr/>
                    <a:lstStyle/>
                    <a:p>
                      <a:pPr marL="0" indent="0">
                        <a:buNone/>
                      </a:pPr>
                      <a:r>
                        <a:rPr lang="en-US" sz="1700" dirty="0">
                          <a:solidFill>
                            <a:srgbClr val="1F2933"/>
                          </a:solidFill>
                          <a:latin typeface="Calibri" pitchFamily="34" charset="0"/>
                          <a:ea typeface="Calibri" pitchFamily="34" charset="-122"/>
                          <a:cs typeface="Calibri" pitchFamily="34" charset="-120"/>
                        </a:rPr>
                        <a:t>Consumen tiempo</a:t>
                      </a:r>
                      <a:endParaRPr lang="en-US" sz="1700" dirty="0">
                        <a:latin typeface="Calibri" charset="0"/>
                        <a:ea typeface="Calibri" charset="0"/>
                        <a:cs typeface="Calibri" charset="0"/>
                      </a:endParaRPr>
                    </a:p>
                  </a:txBody>
                  <a:tcPr marL="109728" marR="109728"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EAF2F1"/>
                    </a:solidFill>
                  </a:tcPr>
                </a:tc>
                <a:tc>
                  <a:txBody>
                    <a:bodyPr/>
                    <a:lstStyle/>
                    <a:p>
                      <a:pPr marL="0" indent="0">
                        <a:buNone/>
                      </a:pPr>
                      <a:r>
                        <a:rPr lang="en-US" sz="1700" dirty="0">
                          <a:solidFill>
                            <a:srgbClr val="1F2933"/>
                          </a:solidFill>
                          <a:latin typeface="Calibri" pitchFamily="34" charset="0"/>
                          <a:ea typeface="Calibri" pitchFamily="34" charset="-122"/>
                          <a:cs typeface="Calibri" pitchFamily="34" charset="-120"/>
                        </a:rPr>
                        <a:t>Al inicio, con actores clave</a:t>
                      </a:r>
                      <a:endParaRPr lang="en-US" sz="1700" dirty="0">
                        <a:latin typeface="Calibri" charset="0"/>
                        <a:ea typeface="Calibri" charset="0"/>
                        <a:cs typeface="Calibri" charset="0"/>
                      </a:endParaRPr>
                    </a:p>
                  </a:txBody>
                  <a:tcPr marL="109728" marR="109728"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EAF2F1"/>
                    </a:solidFill>
                  </a:tcPr>
                </a:tc>
                <a:extLst>
                  <a:ext uri="{0D108BD9-81ED-4DB2-BD59-A6C34878D82A}">
                    <a16:rowId xmlns:a16="http://schemas.microsoft.com/office/drawing/2014/main" val="10001"/>
                  </a:ext>
                </a:extLst>
              </a:tr>
              <a:tr h="777240">
                <a:tc>
                  <a:txBody>
                    <a:bodyPr/>
                    <a:lstStyle/>
                    <a:p>
                      <a:pPr marL="0" indent="0">
                        <a:buNone/>
                      </a:pPr>
                      <a:r>
                        <a:rPr lang="en-US" sz="1700" b="1" dirty="0">
                          <a:solidFill>
                            <a:srgbClr val="1F2933"/>
                          </a:solidFill>
                          <a:latin typeface="Calibri" pitchFamily="34" charset="0"/>
                          <a:ea typeface="Calibri" pitchFamily="34" charset="-122"/>
                          <a:cs typeface="Calibri" pitchFamily="34" charset="-120"/>
                        </a:rPr>
                        <a:t>Cuestionarios</a:t>
                      </a:r>
                      <a:endParaRPr lang="en-US" sz="1700" dirty="0">
                        <a:latin typeface="Calibri" charset="0"/>
                        <a:ea typeface="Calibri" charset="0"/>
                        <a:cs typeface="Calibri" charset="0"/>
                      </a:endParaRPr>
                    </a:p>
                  </a:txBody>
                  <a:tcPr marL="109728" marR="109728"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FFFFFF"/>
                    </a:solidFill>
                  </a:tcPr>
                </a:tc>
                <a:tc>
                  <a:txBody>
                    <a:bodyPr/>
                    <a:lstStyle/>
                    <a:p>
                      <a:pPr marL="0" indent="0">
                        <a:buNone/>
                      </a:pPr>
                      <a:r>
                        <a:rPr lang="en-US" sz="1700" dirty="0">
                          <a:solidFill>
                            <a:srgbClr val="1F2933"/>
                          </a:solidFill>
                          <a:latin typeface="Calibri" pitchFamily="34" charset="0"/>
                          <a:ea typeface="Calibri" pitchFamily="34" charset="-122"/>
                          <a:cs typeface="Calibri" pitchFamily="34" charset="-120"/>
                        </a:rPr>
                        <a:t>Alcance amplio y bajo costo</a:t>
                      </a:r>
                      <a:endParaRPr lang="en-US" sz="1700" dirty="0">
                        <a:latin typeface="Calibri" charset="0"/>
                        <a:ea typeface="Calibri" charset="0"/>
                        <a:cs typeface="Calibri" charset="0"/>
                      </a:endParaRPr>
                    </a:p>
                  </a:txBody>
                  <a:tcPr marL="109728" marR="109728"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FFFFFF"/>
                    </a:solidFill>
                  </a:tcPr>
                </a:tc>
                <a:tc>
                  <a:txBody>
                    <a:bodyPr/>
                    <a:lstStyle/>
                    <a:p>
                      <a:pPr marL="0" indent="0">
                        <a:buNone/>
                      </a:pPr>
                      <a:r>
                        <a:rPr lang="en-US" sz="1700" dirty="0">
                          <a:solidFill>
                            <a:srgbClr val="1F2933"/>
                          </a:solidFill>
                          <a:latin typeface="Calibri" pitchFamily="34" charset="0"/>
                          <a:ea typeface="Calibri" pitchFamily="34" charset="-122"/>
                          <a:cs typeface="Calibri" pitchFamily="34" charset="-120"/>
                        </a:rPr>
                        <a:t>Poca profundidad</a:t>
                      </a:r>
                      <a:endParaRPr lang="en-US" sz="1700" dirty="0">
                        <a:latin typeface="Calibri" charset="0"/>
                        <a:ea typeface="Calibri" charset="0"/>
                        <a:cs typeface="Calibri" charset="0"/>
                      </a:endParaRPr>
                    </a:p>
                  </a:txBody>
                  <a:tcPr marL="109728" marR="109728"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FFFFFF"/>
                    </a:solidFill>
                  </a:tcPr>
                </a:tc>
                <a:tc>
                  <a:txBody>
                    <a:bodyPr/>
                    <a:lstStyle/>
                    <a:p>
                      <a:pPr marL="0" indent="0">
                        <a:buNone/>
                      </a:pPr>
                      <a:r>
                        <a:rPr lang="en-US" sz="1700" dirty="0">
                          <a:solidFill>
                            <a:srgbClr val="1F2933"/>
                          </a:solidFill>
                          <a:latin typeface="Calibri" pitchFamily="34" charset="0"/>
                          <a:ea typeface="Calibri" pitchFamily="34" charset="-122"/>
                          <a:cs typeface="Calibri" pitchFamily="34" charset="-120"/>
                        </a:rPr>
                        <a:t>Muchos usuarios dispersos</a:t>
                      </a:r>
                      <a:endParaRPr lang="en-US" sz="1700" dirty="0">
                        <a:latin typeface="Calibri" charset="0"/>
                        <a:ea typeface="Calibri" charset="0"/>
                        <a:cs typeface="Calibri" charset="0"/>
                      </a:endParaRPr>
                    </a:p>
                  </a:txBody>
                  <a:tcPr marL="109728" marR="109728"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77240">
                <a:tc>
                  <a:txBody>
                    <a:bodyPr/>
                    <a:lstStyle/>
                    <a:p>
                      <a:pPr marL="0" indent="0">
                        <a:buNone/>
                      </a:pPr>
                      <a:r>
                        <a:rPr lang="en-US" sz="1700" b="1" dirty="0">
                          <a:solidFill>
                            <a:srgbClr val="1F2933"/>
                          </a:solidFill>
                          <a:latin typeface="Calibri" pitchFamily="34" charset="0"/>
                          <a:ea typeface="Calibri" pitchFamily="34" charset="-122"/>
                          <a:cs typeface="Calibri" pitchFamily="34" charset="-120"/>
                        </a:rPr>
                        <a:t>Observación</a:t>
                      </a:r>
                      <a:endParaRPr lang="en-US" sz="1700" dirty="0">
                        <a:latin typeface="Calibri" charset="0"/>
                        <a:ea typeface="Calibri" charset="0"/>
                        <a:cs typeface="Calibri" charset="0"/>
                      </a:endParaRPr>
                    </a:p>
                  </a:txBody>
                  <a:tcPr marL="109728" marR="109728"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EAF2F1"/>
                    </a:solidFill>
                  </a:tcPr>
                </a:tc>
                <a:tc>
                  <a:txBody>
                    <a:bodyPr/>
                    <a:lstStyle/>
                    <a:p>
                      <a:pPr marL="0" indent="0">
                        <a:buNone/>
                      </a:pPr>
                      <a:r>
                        <a:rPr lang="en-US" sz="1700" dirty="0">
                          <a:solidFill>
                            <a:srgbClr val="1F2933"/>
                          </a:solidFill>
                          <a:latin typeface="Calibri" pitchFamily="34" charset="0"/>
                          <a:ea typeface="Calibri" pitchFamily="34" charset="-122"/>
                          <a:cs typeface="Calibri" pitchFamily="34" charset="-120"/>
                        </a:rPr>
                        <a:t>Muestra la práctica real</a:t>
                      </a:r>
                      <a:endParaRPr lang="en-US" sz="1700" dirty="0">
                        <a:latin typeface="Calibri" charset="0"/>
                        <a:ea typeface="Calibri" charset="0"/>
                        <a:cs typeface="Calibri" charset="0"/>
                      </a:endParaRPr>
                    </a:p>
                  </a:txBody>
                  <a:tcPr marL="109728" marR="109728"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EAF2F1"/>
                    </a:solidFill>
                  </a:tcPr>
                </a:tc>
                <a:tc>
                  <a:txBody>
                    <a:bodyPr/>
                    <a:lstStyle/>
                    <a:p>
                      <a:pPr marL="0" indent="0">
                        <a:buNone/>
                      </a:pPr>
                      <a:r>
                        <a:rPr lang="en-US" sz="1700" dirty="0">
                          <a:solidFill>
                            <a:srgbClr val="1F2933"/>
                          </a:solidFill>
                          <a:latin typeface="Calibri" pitchFamily="34" charset="0"/>
                          <a:ea typeface="Calibri" pitchFamily="34" charset="-122"/>
                          <a:cs typeface="Calibri" pitchFamily="34" charset="-120"/>
                        </a:rPr>
                        <a:t>Lenta; altera el comportamiento</a:t>
                      </a:r>
                      <a:endParaRPr lang="en-US" sz="1700" dirty="0">
                        <a:latin typeface="Calibri" charset="0"/>
                        <a:ea typeface="Calibri" charset="0"/>
                        <a:cs typeface="Calibri" charset="0"/>
                      </a:endParaRPr>
                    </a:p>
                  </a:txBody>
                  <a:tcPr marL="109728" marR="109728"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EAF2F1"/>
                    </a:solidFill>
                  </a:tcPr>
                </a:tc>
                <a:tc>
                  <a:txBody>
                    <a:bodyPr/>
                    <a:lstStyle/>
                    <a:p>
                      <a:pPr marL="0" indent="0">
                        <a:buNone/>
                      </a:pPr>
                      <a:r>
                        <a:rPr lang="en-US" sz="1700" dirty="0">
                          <a:solidFill>
                            <a:srgbClr val="1F2933"/>
                          </a:solidFill>
                          <a:latin typeface="Calibri" pitchFamily="34" charset="0"/>
                          <a:ea typeface="Calibri" pitchFamily="34" charset="-122"/>
                          <a:cs typeface="Calibri" pitchFamily="34" charset="-120"/>
                        </a:rPr>
                        <a:t>Procesos existentes complejos</a:t>
                      </a:r>
                      <a:endParaRPr lang="en-US" sz="1700" dirty="0">
                        <a:latin typeface="Calibri" charset="0"/>
                        <a:ea typeface="Calibri" charset="0"/>
                        <a:cs typeface="Calibri" charset="0"/>
                      </a:endParaRPr>
                    </a:p>
                  </a:txBody>
                  <a:tcPr marL="109728" marR="109728"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EAF2F1"/>
                    </a:solidFill>
                  </a:tcPr>
                </a:tc>
                <a:extLst>
                  <a:ext uri="{0D108BD9-81ED-4DB2-BD59-A6C34878D82A}">
                    <a16:rowId xmlns:a16="http://schemas.microsoft.com/office/drawing/2014/main" val="10003"/>
                  </a:ext>
                </a:extLst>
              </a:tr>
              <a:tr h="777240">
                <a:tc>
                  <a:txBody>
                    <a:bodyPr/>
                    <a:lstStyle/>
                    <a:p>
                      <a:pPr marL="0" indent="0">
                        <a:buNone/>
                      </a:pPr>
                      <a:r>
                        <a:rPr lang="en-US" sz="1700" b="1" dirty="0">
                          <a:solidFill>
                            <a:srgbClr val="1F2933"/>
                          </a:solidFill>
                          <a:latin typeface="Calibri" pitchFamily="34" charset="0"/>
                          <a:ea typeface="Calibri" pitchFamily="34" charset="-122"/>
                          <a:cs typeface="Calibri" pitchFamily="34" charset="-120"/>
                        </a:rPr>
                        <a:t>Talleres JAD</a:t>
                      </a:r>
                      <a:endParaRPr lang="en-US" sz="1700" dirty="0">
                        <a:latin typeface="Calibri" charset="0"/>
                        <a:ea typeface="Calibri" charset="0"/>
                        <a:cs typeface="Calibri" charset="0"/>
                      </a:endParaRPr>
                    </a:p>
                  </a:txBody>
                  <a:tcPr marL="109728" marR="109728"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FFFFFF"/>
                    </a:solidFill>
                  </a:tcPr>
                </a:tc>
                <a:tc>
                  <a:txBody>
                    <a:bodyPr/>
                    <a:lstStyle/>
                    <a:p>
                      <a:pPr marL="0" indent="0">
                        <a:buNone/>
                      </a:pPr>
                      <a:r>
                        <a:rPr lang="en-US" sz="1700" dirty="0">
                          <a:solidFill>
                            <a:srgbClr val="1F2933"/>
                          </a:solidFill>
                          <a:latin typeface="Calibri" pitchFamily="34" charset="0"/>
                          <a:ea typeface="Calibri" pitchFamily="34" charset="-122"/>
                          <a:cs typeface="Calibri" pitchFamily="34" charset="-120"/>
                        </a:rPr>
                        <a:t>Resuelven conflictos al instante</a:t>
                      </a:r>
                      <a:endParaRPr lang="en-US" sz="1700" dirty="0">
                        <a:latin typeface="Calibri" charset="0"/>
                        <a:ea typeface="Calibri" charset="0"/>
                        <a:cs typeface="Calibri" charset="0"/>
                      </a:endParaRPr>
                    </a:p>
                  </a:txBody>
                  <a:tcPr marL="109728" marR="109728"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FFFFFF"/>
                    </a:solidFill>
                  </a:tcPr>
                </a:tc>
                <a:tc>
                  <a:txBody>
                    <a:bodyPr/>
                    <a:lstStyle/>
                    <a:p>
                      <a:pPr marL="0" indent="0">
                        <a:buNone/>
                      </a:pPr>
                      <a:r>
                        <a:rPr lang="en-US" sz="1700" dirty="0">
                          <a:solidFill>
                            <a:srgbClr val="1F2933"/>
                          </a:solidFill>
                          <a:latin typeface="Calibri" pitchFamily="34" charset="0"/>
                          <a:ea typeface="Calibri" pitchFamily="34" charset="-122"/>
                          <a:cs typeface="Calibri" pitchFamily="34" charset="-120"/>
                        </a:rPr>
                        <a:t>Difícil coordinar agendas</a:t>
                      </a:r>
                      <a:endParaRPr lang="en-US" sz="1700" dirty="0">
                        <a:latin typeface="Calibri" charset="0"/>
                        <a:ea typeface="Calibri" charset="0"/>
                        <a:cs typeface="Calibri" charset="0"/>
                      </a:endParaRPr>
                    </a:p>
                  </a:txBody>
                  <a:tcPr marL="109728" marR="109728"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FFFFFF"/>
                    </a:solidFill>
                  </a:tcPr>
                </a:tc>
                <a:tc>
                  <a:txBody>
                    <a:bodyPr/>
                    <a:lstStyle/>
                    <a:p>
                      <a:pPr marL="0" indent="0">
                        <a:buNone/>
                      </a:pPr>
                      <a:r>
                        <a:rPr lang="en-US" sz="1700" dirty="0">
                          <a:solidFill>
                            <a:srgbClr val="1F2933"/>
                          </a:solidFill>
                          <a:latin typeface="Calibri" pitchFamily="34" charset="0"/>
                          <a:ea typeface="Calibri" pitchFamily="34" charset="-122"/>
                          <a:cs typeface="Calibri" pitchFamily="34" charset="-120"/>
                        </a:rPr>
                        <a:t>Actores con intereses distintos</a:t>
                      </a:r>
                      <a:endParaRPr lang="en-US" sz="1700" dirty="0">
                        <a:latin typeface="Calibri" charset="0"/>
                        <a:ea typeface="Calibri" charset="0"/>
                        <a:cs typeface="Calibri" charset="0"/>
                      </a:endParaRPr>
                    </a:p>
                  </a:txBody>
                  <a:tcPr marL="109728" marR="109728"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777240">
                <a:tc>
                  <a:txBody>
                    <a:bodyPr/>
                    <a:lstStyle/>
                    <a:p>
                      <a:pPr marL="0" indent="0">
                        <a:buNone/>
                      </a:pPr>
                      <a:r>
                        <a:rPr lang="en-US" sz="1700" b="1" dirty="0">
                          <a:solidFill>
                            <a:srgbClr val="1F2933"/>
                          </a:solidFill>
                          <a:latin typeface="Calibri" pitchFamily="34" charset="0"/>
                          <a:ea typeface="Calibri" pitchFamily="34" charset="-122"/>
                          <a:cs typeface="Calibri" pitchFamily="34" charset="-120"/>
                        </a:rPr>
                        <a:t>Prototipos</a:t>
                      </a:r>
                      <a:endParaRPr lang="en-US" sz="1700" dirty="0">
                        <a:latin typeface="Calibri" charset="0"/>
                        <a:ea typeface="Calibri" charset="0"/>
                        <a:cs typeface="Calibri" charset="0"/>
                      </a:endParaRPr>
                    </a:p>
                  </a:txBody>
                  <a:tcPr marL="109728" marR="109728"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EAF2F1"/>
                    </a:solidFill>
                  </a:tcPr>
                </a:tc>
                <a:tc>
                  <a:txBody>
                    <a:bodyPr/>
                    <a:lstStyle/>
                    <a:p>
                      <a:pPr marL="0" indent="0">
                        <a:buNone/>
                      </a:pPr>
                      <a:r>
                        <a:rPr lang="en-US" sz="1700" dirty="0">
                          <a:solidFill>
                            <a:srgbClr val="1F2933"/>
                          </a:solidFill>
                          <a:latin typeface="Calibri" pitchFamily="34" charset="0"/>
                          <a:ea typeface="Calibri" pitchFamily="34" charset="-122"/>
                          <a:cs typeface="Calibri" pitchFamily="34" charset="-120"/>
                        </a:rPr>
                        <a:t>Reacción ante algo concreto</a:t>
                      </a:r>
                      <a:endParaRPr lang="en-US" sz="1700" dirty="0">
                        <a:latin typeface="Calibri" charset="0"/>
                        <a:ea typeface="Calibri" charset="0"/>
                        <a:cs typeface="Calibri" charset="0"/>
                      </a:endParaRPr>
                    </a:p>
                  </a:txBody>
                  <a:tcPr marL="109728" marR="109728"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EAF2F1"/>
                    </a:solidFill>
                  </a:tcPr>
                </a:tc>
                <a:tc>
                  <a:txBody>
                    <a:bodyPr/>
                    <a:lstStyle/>
                    <a:p>
                      <a:pPr marL="0" indent="0">
                        <a:buNone/>
                      </a:pPr>
                      <a:r>
                        <a:rPr lang="en-US" sz="1700" dirty="0">
                          <a:solidFill>
                            <a:srgbClr val="1F2933"/>
                          </a:solidFill>
                          <a:latin typeface="Calibri" pitchFamily="34" charset="0"/>
                          <a:ea typeface="Calibri" pitchFamily="34" charset="-122"/>
                          <a:cs typeface="Calibri" pitchFamily="34" charset="-120"/>
                        </a:rPr>
                        <a:t>Pueden crear expectativas irreales</a:t>
                      </a:r>
                      <a:endParaRPr lang="en-US" sz="1700" dirty="0">
                        <a:latin typeface="Calibri" charset="0"/>
                        <a:ea typeface="Calibri" charset="0"/>
                        <a:cs typeface="Calibri" charset="0"/>
                      </a:endParaRPr>
                    </a:p>
                  </a:txBody>
                  <a:tcPr marL="109728" marR="109728"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EAF2F1"/>
                    </a:solidFill>
                  </a:tcPr>
                </a:tc>
                <a:tc>
                  <a:txBody>
                    <a:bodyPr/>
                    <a:lstStyle/>
                    <a:p>
                      <a:pPr marL="0" indent="0">
                        <a:buNone/>
                      </a:pPr>
                      <a:r>
                        <a:rPr lang="en-US" sz="1700" dirty="0">
                          <a:solidFill>
                            <a:srgbClr val="1F2933"/>
                          </a:solidFill>
                          <a:latin typeface="Calibri" pitchFamily="34" charset="0"/>
                          <a:ea typeface="Calibri" pitchFamily="34" charset="-122"/>
                          <a:cs typeface="Calibri" pitchFamily="34" charset="-120"/>
                        </a:rPr>
                        <a:t>Interfaces poco claras</a:t>
                      </a:r>
                      <a:endParaRPr lang="en-US" sz="1700" dirty="0">
                        <a:latin typeface="Calibri" charset="0"/>
                        <a:ea typeface="Calibri" charset="0"/>
                        <a:cs typeface="Calibri" charset="0"/>
                      </a:endParaRPr>
                    </a:p>
                  </a:txBody>
                  <a:tcPr marL="109728" marR="109728"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EAF2F1"/>
                    </a:solidFill>
                  </a:tcPr>
                </a:tc>
                <a:extLst>
                  <a:ext uri="{0D108BD9-81ED-4DB2-BD59-A6C34878D82A}">
                    <a16:rowId xmlns:a16="http://schemas.microsoft.com/office/drawing/2014/main" val="10005"/>
                  </a:ext>
                </a:extLst>
              </a:tr>
            </a:tbl>
          </a:graphicData>
        </a:graphic>
      </p:graphicFrame>
      <p:sp>
        <p:nvSpPr>
          <p:cNvPr id="4" name="Text 1"/>
          <p:cNvSpPr txBox="1"/>
          <p:nvPr/>
        </p:nvSpPr>
        <p:spPr>
          <a:xfrm>
            <a:off x="548640" y="6355080"/>
            <a:ext cx="10424160" cy="274320"/>
          </a:xfrm>
          <a:prstGeom prst="rect">
            <a:avLst/>
          </a:prstGeom>
          <a:noFill/>
          <a:ln/>
        </p:spPr>
        <p:txBody>
          <a:bodyPr wrap="square" lIns="0" tIns="0" rIns="0" bIns="0" rtlCol="0" anchor="ctr"/>
          <a:lstStyle/>
          <a:p>
            <a:pPr marL="0" indent="0">
              <a:buNone/>
            </a:pPr>
            <a:endParaRPr lang="en-US" sz="1050" dirty="0"/>
          </a:p>
        </p:txBody>
      </p:sp>
      <p:sp>
        <p:nvSpPr>
          <p:cNvPr id="5" name="Text 2"/>
          <p:cNvSpPr txBox="1"/>
          <p:nvPr/>
        </p:nvSpPr>
        <p:spPr>
          <a:xfrm>
            <a:off x="11155680" y="6355080"/>
            <a:ext cx="548640" cy="274320"/>
          </a:xfrm>
          <a:prstGeom prst="rect">
            <a:avLst/>
          </a:prstGeom>
          <a:noFill/>
          <a:ln/>
        </p:spPr>
        <p:txBody>
          <a:bodyPr wrap="square" lIns="0" tIns="0" rIns="0" bIns="0" rtlCol="0" anchor="ctr"/>
          <a:lstStyle/>
          <a:p>
            <a:pPr marL="0" indent="0" algn="r">
              <a:buNone/>
            </a:pPr>
            <a:r>
              <a:rPr lang="en-US" sz="1100" dirty="0">
                <a:solidFill>
                  <a:srgbClr val="5B6770"/>
                </a:solidFill>
                <a:latin typeface="Calibri" pitchFamily="34" charset="0"/>
                <a:ea typeface="Calibri" pitchFamily="34" charset="-122"/>
                <a:cs typeface="Calibri" pitchFamily="34" charset="-120"/>
              </a:rPr>
              <a:t>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777240"/>
          </a:xfrm>
          <a:prstGeom prst="rect">
            <a:avLst/>
          </a:prstGeom>
          <a:noFill/>
          <a:ln/>
        </p:spPr>
        <p:txBody>
          <a:bodyPr wrap="square" lIns="0" tIns="0" rIns="0" bIns="0" rtlCol="0" anchor="ctr"/>
          <a:lstStyle/>
          <a:p>
            <a:pPr marL="0" indent="0">
              <a:buNone/>
            </a:pPr>
            <a:r>
              <a:rPr lang="en-US" sz="3400" b="1" dirty="0">
                <a:solidFill>
                  <a:srgbClr val="0B2545"/>
                </a:solidFill>
                <a:latin typeface="Cambria" pitchFamily="34" charset="0"/>
                <a:ea typeface="Cambria" pitchFamily="34" charset="-122"/>
                <a:cs typeface="Cambria" pitchFamily="34" charset="-120"/>
              </a:rPr>
              <a:t>¿Cómo es un buen requerimiento?</a:t>
            </a:r>
            <a:endParaRPr lang="en-US" sz="3400" dirty="0"/>
          </a:p>
        </p:txBody>
      </p:sp>
      <p:pic>
        <p:nvPicPr>
          <p:cNvPr id="3" name="Image 0" descr="preencoded.png"/>
          <p:cNvPicPr>
            <a:picLocks noChangeAspect="1"/>
          </p:cNvPicPr>
          <p:nvPr/>
        </p:nvPicPr>
        <p:blipFill>
          <a:blip r:embed="rId3"/>
          <a:stretch>
            <a:fillRect/>
          </a:stretch>
        </p:blipFill>
        <p:spPr>
          <a:xfrm>
            <a:off x="548640" y="1490472"/>
            <a:ext cx="411480" cy="411480"/>
          </a:xfrm>
          <a:prstGeom prst="rect">
            <a:avLst/>
          </a:prstGeom>
        </p:spPr>
      </p:pic>
      <p:sp>
        <p:nvSpPr>
          <p:cNvPr id="4" name="Text 1"/>
          <p:cNvSpPr txBox="1"/>
          <p:nvPr/>
        </p:nvSpPr>
        <p:spPr>
          <a:xfrm>
            <a:off x="1143000" y="1417320"/>
            <a:ext cx="4937760" cy="548640"/>
          </a:xfrm>
          <a:prstGeom prst="rect">
            <a:avLst/>
          </a:prstGeom>
          <a:noFill/>
          <a:ln/>
        </p:spPr>
        <p:txBody>
          <a:bodyPr wrap="square" lIns="0" tIns="0" rIns="0" bIns="0" rtlCol="0" anchor="ctr"/>
          <a:lstStyle/>
          <a:p>
            <a:pPr marL="0" indent="0">
              <a:buNone/>
            </a:pPr>
            <a:r>
              <a:rPr lang="en-US" sz="1900" b="1" dirty="0">
                <a:solidFill>
                  <a:srgbClr val="0B2545"/>
                </a:solidFill>
                <a:latin typeface="Calibri" pitchFamily="34" charset="0"/>
                <a:ea typeface="Calibri" pitchFamily="34" charset="-122"/>
                <a:cs typeface="Calibri" pitchFamily="34" charset="-120"/>
              </a:rPr>
              <a:t>Necesario: </a:t>
            </a:r>
            <a:r>
              <a:rPr lang="en-US" sz="1900" dirty="0">
                <a:solidFill>
                  <a:srgbClr val="1F2933"/>
                </a:solidFill>
                <a:latin typeface="Calibri" pitchFamily="34" charset="0"/>
                <a:ea typeface="Calibri" pitchFamily="34" charset="-122"/>
                <a:cs typeface="Calibri" pitchFamily="34" charset="-120"/>
              </a:rPr>
              <a:t>responde a una necesidad real</a:t>
            </a:r>
            <a:endParaRPr lang="en-US" sz="1900" dirty="0"/>
          </a:p>
        </p:txBody>
      </p:sp>
      <p:pic>
        <p:nvPicPr>
          <p:cNvPr id="5" name="Image 1" descr="preencoded.png"/>
          <p:cNvPicPr>
            <a:picLocks noChangeAspect="1"/>
          </p:cNvPicPr>
          <p:nvPr/>
        </p:nvPicPr>
        <p:blipFill>
          <a:blip r:embed="rId3"/>
          <a:stretch>
            <a:fillRect/>
          </a:stretch>
        </p:blipFill>
        <p:spPr>
          <a:xfrm>
            <a:off x="548640" y="2249424"/>
            <a:ext cx="411480" cy="411480"/>
          </a:xfrm>
          <a:prstGeom prst="rect">
            <a:avLst/>
          </a:prstGeom>
        </p:spPr>
      </p:pic>
      <p:sp>
        <p:nvSpPr>
          <p:cNvPr id="6" name="Text 2"/>
          <p:cNvSpPr txBox="1"/>
          <p:nvPr/>
        </p:nvSpPr>
        <p:spPr>
          <a:xfrm>
            <a:off x="1143000" y="2176272"/>
            <a:ext cx="4937760" cy="548640"/>
          </a:xfrm>
          <a:prstGeom prst="rect">
            <a:avLst/>
          </a:prstGeom>
          <a:noFill/>
          <a:ln/>
        </p:spPr>
        <p:txBody>
          <a:bodyPr wrap="square" lIns="0" tIns="0" rIns="0" bIns="0" rtlCol="0" anchor="ctr"/>
          <a:lstStyle/>
          <a:p>
            <a:pPr marL="0" indent="0">
              <a:buNone/>
            </a:pPr>
            <a:r>
              <a:rPr lang="en-US" sz="1900" b="1" dirty="0">
                <a:solidFill>
                  <a:srgbClr val="0B2545"/>
                </a:solidFill>
                <a:latin typeface="Calibri" pitchFamily="34" charset="0"/>
                <a:ea typeface="Calibri" pitchFamily="34" charset="-122"/>
                <a:cs typeface="Calibri" pitchFamily="34" charset="-120"/>
              </a:rPr>
              <a:t>No ambiguo: </a:t>
            </a:r>
            <a:r>
              <a:rPr lang="en-US" sz="1900" dirty="0">
                <a:solidFill>
                  <a:srgbClr val="1F2933"/>
                </a:solidFill>
                <a:latin typeface="Calibri" pitchFamily="34" charset="0"/>
                <a:ea typeface="Calibri" pitchFamily="34" charset="-122"/>
                <a:cs typeface="Calibri" pitchFamily="34" charset="-120"/>
              </a:rPr>
              <a:t>una sola interpretación</a:t>
            </a:r>
            <a:endParaRPr lang="en-US" sz="1900" dirty="0"/>
          </a:p>
        </p:txBody>
      </p:sp>
      <p:pic>
        <p:nvPicPr>
          <p:cNvPr id="7" name="Image 2" descr="preencoded.png"/>
          <p:cNvPicPr>
            <a:picLocks noChangeAspect="1"/>
          </p:cNvPicPr>
          <p:nvPr/>
        </p:nvPicPr>
        <p:blipFill>
          <a:blip r:embed="rId3"/>
          <a:stretch>
            <a:fillRect/>
          </a:stretch>
        </p:blipFill>
        <p:spPr>
          <a:xfrm>
            <a:off x="548640" y="3008376"/>
            <a:ext cx="411480" cy="411480"/>
          </a:xfrm>
          <a:prstGeom prst="rect">
            <a:avLst/>
          </a:prstGeom>
        </p:spPr>
      </p:pic>
      <p:sp>
        <p:nvSpPr>
          <p:cNvPr id="8" name="Text 3"/>
          <p:cNvSpPr txBox="1"/>
          <p:nvPr/>
        </p:nvSpPr>
        <p:spPr>
          <a:xfrm>
            <a:off x="1143000" y="2935224"/>
            <a:ext cx="4937760" cy="548640"/>
          </a:xfrm>
          <a:prstGeom prst="rect">
            <a:avLst/>
          </a:prstGeom>
          <a:noFill/>
          <a:ln/>
        </p:spPr>
        <p:txBody>
          <a:bodyPr wrap="square" lIns="0" tIns="0" rIns="0" bIns="0" rtlCol="0" anchor="ctr"/>
          <a:lstStyle/>
          <a:p>
            <a:pPr marL="0" indent="0">
              <a:buNone/>
            </a:pPr>
            <a:r>
              <a:rPr lang="en-US" sz="1900" b="1" dirty="0">
                <a:solidFill>
                  <a:srgbClr val="0B2545"/>
                </a:solidFill>
                <a:latin typeface="Calibri" pitchFamily="34" charset="0"/>
                <a:ea typeface="Calibri" pitchFamily="34" charset="-122"/>
                <a:cs typeface="Calibri" pitchFamily="34" charset="-120"/>
              </a:rPr>
              <a:t>Completo: </a:t>
            </a:r>
            <a:r>
              <a:rPr lang="en-US" sz="1900" dirty="0">
                <a:solidFill>
                  <a:srgbClr val="1F2933"/>
                </a:solidFill>
                <a:latin typeface="Calibri" pitchFamily="34" charset="0"/>
                <a:ea typeface="Calibri" pitchFamily="34" charset="-122"/>
                <a:cs typeface="Calibri" pitchFamily="34" charset="-120"/>
              </a:rPr>
              <a:t>sin depender de suposiciones</a:t>
            </a:r>
            <a:endParaRPr lang="en-US" sz="1900" dirty="0"/>
          </a:p>
        </p:txBody>
      </p:sp>
      <p:pic>
        <p:nvPicPr>
          <p:cNvPr id="9" name="Image 3" descr="preencoded.png"/>
          <p:cNvPicPr>
            <a:picLocks noChangeAspect="1"/>
          </p:cNvPicPr>
          <p:nvPr/>
        </p:nvPicPr>
        <p:blipFill>
          <a:blip r:embed="rId3"/>
          <a:stretch>
            <a:fillRect/>
          </a:stretch>
        </p:blipFill>
        <p:spPr>
          <a:xfrm>
            <a:off x="548640" y="3767328"/>
            <a:ext cx="411480" cy="411480"/>
          </a:xfrm>
          <a:prstGeom prst="rect">
            <a:avLst/>
          </a:prstGeom>
        </p:spPr>
      </p:pic>
      <p:sp>
        <p:nvSpPr>
          <p:cNvPr id="10" name="Text 4"/>
          <p:cNvSpPr txBox="1"/>
          <p:nvPr/>
        </p:nvSpPr>
        <p:spPr>
          <a:xfrm>
            <a:off x="1143000" y="3694176"/>
            <a:ext cx="4937760" cy="548640"/>
          </a:xfrm>
          <a:prstGeom prst="rect">
            <a:avLst/>
          </a:prstGeom>
          <a:noFill/>
          <a:ln/>
        </p:spPr>
        <p:txBody>
          <a:bodyPr wrap="square" lIns="0" tIns="0" rIns="0" bIns="0" rtlCol="0" anchor="ctr"/>
          <a:lstStyle/>
          <a:p>
            <a:pPr marL="0" indent="0">
              <a:buNone/>
            </a:pPr>
            <a:r>
              <a:rPr lang="en-US" sz="1900" b="1" dirty="0">
                <a:solidFill>
                  <a:srgbClr val="0B2545"/>
                </a:solidFill>
                <a:latin typeface="Calibri" pitchFamily="34" charset="0"/>
                <a:ea typeface="Calibri" pitchFamily="34" charset="-122"/>
                <a:cs typeface="Calibri" pitchFamily="34" charset="-120"/>
              </a:rPr>
              <a:t>Singular: </a:t>
            </a:r>
            <a:r>
              <a:rPr lang="en-US" sz="1900" dirty="0">
                <a:solidFill>
                  <a:srgbClr val="1F2933"/>
                </a:solidFill>
                <a:latin typeface="Calibri" pitchFamily="34" charset="0"/>
                <a:ea typeface="Calibri" pitchFamily="34" charset="-122"/>
                <a:cs typeface="Calibri" pitchFamily="34" charset="-120"/>
              </a:rPr>
              <a:t>expresa una sola idea</a:t>
            </a:r>
            <a:endParaRPr lang="en-US" sz="1900" dirty="0"/>
          </a:p>
        </p:txBody>
      </p:sp>
      <p:pic>
        <p:nvPicPr>
          <p:cNvPr id="11" name="Image 4" descr="preencoded.png"/>
          <p:cNvPicPr>
            <a:picLocks noChangeAspect="1"/>
          </p:cNvPicPr>
          <p:nvPr/>
        </p:nvPicPr>
        <p:blipFill>
          <a:blip r:embed="rId3"/>
          <a:stretch>
            <a:fillRect/>
          </a:stretch>
        </p:blipFill>
        <p:spPr>
          <a:xfrm>
            <a:off x="548640" y="4526280"/>
            <a:ext cx="411480" cy="411480"/>
          </a:xfrm>
          <a:prstGeom prst="rect">
            <a:avLst/>
          </a:prstGeom>
        </p:spPr>
      </p:pic>
      <p:sp>
        <p:nvSpPr>
          <p:cNvPr id="12" name="Text 5"/>
          <p:cNvSpPr txBox="1"/>
          <p:nvPr/>
        </p:nvSpPr>
        <p:spPr>
          <a:xfrm>
            <a:off x="1143000" y="4453128"/>
            <a:ext cx="4937760" cy="548640"/>
          </a:xfrm>
          <a:prstGeom prst="rect">
            <a:avLst/>
          </a:prstGeom>
          <a:noFill/>
          <a:ln/>
        </p:spPr>
        <p:txBody>
          <a:bodyPr wrap="square" lIns="0" tIns="0" rIns="0" bIns="0" rtlCol="0" anchor="ctr"/>
          <a:lstStyle/>
          <a:p>
            <a:pPr marL="0" indent="0">
              <a:buNone/>
            </a:pPr>
            <a:r>
              <a:rPr lang="en-US" sz="1900" b="1" dirty="0">
                <a:solidFill>
                  <a:srgbClr val="0B2545"/>
                </a:solidFill>
                <a:latin typeface="Calibri" pitchFamily="34" charset="0"/>
                <a:ea typeface="Calibri" pitchFamily="34" charset="-122"/>
                <a:cs typeface="Calibri" pitchFamily="34" charset="-120"/>
              </a:rPr>
              <a:t>Factible: </a:t>
            </a:r>
            <a:r>
              <a:rPr lang="en-US" sz="1900" dirty="0">
                <a:solidFill>
                  <a:srgbClr val="1F2933"/>
                </a:solidFill>
                <a:latin typeface="Calibri" pitchFamily="34" charset="0"/>
                <a:ea typeface="Calibri" pitchFamily="34" charset="-122"/>
                <a:cs typeface="Calibri" pitchFamily="34" charset="-120"/>
              </a:rPr>
              <a:t>posible con los recursos disponibles</a:t>
            </a:r>
            <a:endParaRPr lang="en-US" sz="1900" dirty="0"/>
          </a:p>
        </p:txBody>
      </p:sp>
      <p:pic>
        <p:nvPicPr>
          <p:cNvPr id="13" name="Image 5" descr="preencoded.png"/>
          <p:cNvPicPr>
            <a:picLocks noChangeAspect="1"/>
          </p:cNvPicPr>
          <p:nvPr/>
        </p:nvPicPr>
        <p:blipFill>
          <a:blip r:embed="rId3"/>
          <a:stretch>
            <a:fillRect/>
          </a:stretch>
        </p:blipFill>
        <p:spPr>
          <a:xfrm>
            <a:off x="548640" y="5285232"/>
            <a:ext cx="411480" cy="411480"/>
          </a:xfrm>
          <a:prstGeom prst="rect">
            <a:avLst/>
          </a:prstGeom>
        </p:spPr>
      </p:pic>
      <p:sp>
        <p:nvSpPr>
          <p:cNvPr id="14" name="Text 6"/>
          <p:cNvSpPr txBox="1"/>
          <p:nvPr/>
        </p:nvSpPr>
        <p:spPr>
          <a:xfrm>
            <a:off x="1143000" y="5212080"/>
            <a:ext cx="4937760" cy="548640"/>
          </a:xfrm>
          <a:prstGeom prst="rect">
            <a:avLst/>
          </a:prstGeom>
          <a:noFill/>
          <a:ln/>
        </p:spPr>
        <p:txBody>
          <a:bodyPr wrap="square" lIns="0" tIns="0" rIns="0" bIns="0" rtlCol="0" anchor="ctr"/>
          <a:lstStyle/>
          <a:p>
            <a:pPr marL="0" indent="0">
              <a:buNone/>
            </a:pPr>
            <a:r>
              <a:rPr lang="en-US" sz="1900" b="1" dirty="0">
                <a:solidFill>
                  <a:srgbClr val="0B2545"/>
                </a:solidFill>
                <a:latin typeface="Calibri" pitchFamily="34" charset="0"/>
                <a:ea typeface="Calibri" pitchFamily="34" charset="-122"/>
                <a:cs typeface="Calibri" pitchFamily="34" charset="-120"/>
              </a:rPr>
              <a:t>Verificable: </a:t>
            </a:r>
            <a:r>
              <a:rPr lang="en-US" sz="1900" dirty="0">
                <a:solidFill>
                  <a:srgbClr val="1F2933"/>
                </a:solidFill>
                <a:latin typeface="Calibri" pitchFamily="34" charset="0"/>
                <a:ea typeface="Calibri" pitchFamily="34" charset="-122"/>
                <a:cs typeface="Calibri" pitchFamily="34" charset="-120"/>
              </a:rPr>
              <a:t>se puede comprobar objetivamente</a:t>
            </a:r>
            <a:endParaRPr lang="en-US" sz="1900" dirty="0"/>
          </a:p>
        </p:txBody>
      </p:sp>
      <p:sp>
        <p:nvSpPr>
          <p:cNvPr id="15" name="Shape 7"/>
          <p:cNvSpPr/>
          <p:nvPr/>
        </p:nvSpPr>
        <p:spPr>
          <a:xfrm>
            <a:off x="6492240" y="1417320"/>
            <a:ext cx="5120640" cy="2103120"/>
          </a:xfrm>
          <a:prstGeom prst="roundRect">
            <a:avLst>
              <a:gd name="adj" fmla="val 5217"/>
            </a:avLst>
          </a:prstGeom>
          <a:solidFill>
            <a:srgbClr val="FBECEE"/>
          </a:solidFill>
          <a:ln w="9525">
            <a:solidFill>
              <a:srgbClr val="D1495B"/>
            </a:solidFill>
            <a:prstDash val="solid"/>
          </a:ln>
        </p:spPr>
      </p:sp>
      <p:pic>
        <p:nvPicPr>
          <p:cNvPr id="16" name="Image 6" descr="preencoded.png"/>
          <p:cNvPicPr>
            <a:picLocks noChangeAspect="1"/>
          </p:cNvPicPr>
          <p:nvPr/>
        </p:nvPicPr>
        <p:blipFill>
          <a:blip r:embed="rId4"/>
          <a:stretch>
            <a:fillRect/>
          </a:stretch>
        </p:blipFill>
        <p:spPr>
          <a:xfrm>
            <a:off x="6720840" y="1600200"/>
            <a:ext cx="457200" cy="457200"/>
          </a:xfrm>
          <a:prstGeom prst="rect">
            <a:avLst/>
          </a:prstGeom>
        </p:spPr>
      </p:pic>
      <p:sp>
        <p:nvSpPr>
          <p:cNvPr id="17" name="Text 8"/>
          <p:cNvSpPr txBox="1"/>
          <p:nvPr/>
        </p:nvSpPr>
        <p:spPr>
          <a:xfrm>
            <a:off x="7315200" y="1600200"/>
            <a:ext cx="4023360" cy="457200"/>
          </a:xfrm>
          <a:prstGeom prst="rect">
            <a:avLst/>
          </a:prstGeom>
          <a:noFill/>
          <a:ln/>
        </p:spPr>
        <p:txBody>
          <a:bodyPr wrap="square" lIns="0" tIns="0" rIns="0" bIns="0" rtlCol="0" anchor="ctr"/>
          <a:lstStyle/>
          <a:p>
            <a:pPr marL="0" indent="0">
              <a:buNone/>
            </a:pPr>
            <a:r>
              <a:rPr lang="en-US" sz="1700" b="1" dirty="0">
                <a:solidFill>
                  <a:srgbClr val="D1495B"/>
                </a:solidFill>
                <a:latin typeface="Calibri" pitchFamily="34" charset="0"/>
                <a:ea typeface="Calibri" pitchFamily="34" charset="-122"/>
                <a:cs typeface="Calibri" pitchFamily="34" charset="-120"/>
              </a:rPr>
              <a:t>Ambiguo, no verificable</a:t>
            </a:r>
            <a:endParaRPr lang="en-US" sz="1700" dirty="0"/>
          </a:p>
        </p:txBody>
      </p:sp>
      <p:sp>
        <p:nvSpPr>
          <p:cNvPr id="18" name="Text 9"/>
          <p:cNvSpPr txBox="1"/>
          <p:nvPr/>
        </p:nvSpPr>
        <p:spPr>
          <a:xfrm>
            <a:off x="6766560" y="2286000"/>
            <a:ext cx="4572000" cy="1005840"/>
          </a:xfrm>
          <a:prstGeom prst="rect">
            <a:avLst/>
          </a:prstGeom>
          <a:noFill/>
          <a:ln/>
        </p:spPr>
        <p:txBody>
          <a:bodyPr wrap="square" lIns="0" tIns="0" rIns="0" bIns="0" rtlCol="0" anchor="t"/>
          <a:lstStyle/>
          <a:p>
            <a:pPr marL="0" indent="0">
              <a:buNone/>
            </a:pPr>
            <a:r>
              <a:rPr lang="en-US" sz="2200" i="1" dirty="0">
                <a:solidFill>
                  <a:srgbClr val="1F2933"/>
                </a:solidFill>
                <a:latin typeface="Calibri" pitchFamily="34" charset="0"/>
                <a:ea typeface="Calibri" pitchFamily="34" charset="-122"/>
                <a:cs typeface="Calibri" pitchFamily="34" charset="-120"/>
              </a:rPr>
              <a:t>“El sistema debe ser rápido.”</a:t>
            </a:r>
            <a:endParaRPr lang="en-US" sz="2200" dirty="0"/>
          </a:p>
        </p:txBody>
      </p:sp>
      <p:sp>
        <p:nvSpPr>
          <p:cNvPr id="19" name="Shape 10"/>
          <p:cNvSpPr/>
          <p:nvPr/>
        </p:nvSpPr>
        <p:spPr>
          <a:xfrm>
            <a:off x="6492240" y="3749040"/>
            <a:ext cx="5120640" cy="2331720"/>
          </a:xfrm>
          <a:prstGeom prst="roundRect">
            <a:avLst>
              <a:gd name="adj" fmla="val 4706"/>
            </a:avLst>
          </a:prstGeom>
          <a:solidFill>
            <a:srgbClr val="E8F4EC"/>
          </a:solidFill>
          <a:ln w="9525">
            <a:solidFill>
              <a:srgbClr val="3B8E5A"/>
            </a:solidFill>
            <a:prstDash val="solid"/>
          </a:ln>
        </p:spPr>
      </p:sp>
      <p:pic>
        <p:nvPicPr>
          <p:cNvPr id="20" name="Image 7" descr="preencoded.png"/>
          <p:cNvPicPr>
            <a:picLocks noChangeAspect="1"/>
          </p:cNvPicPr>
          <p:nvPr/>
        </p:nvPicPr>
        <p:blipFill>
          <a:blip r:embed="rId3"/>
          <a:stretch>
            <a:fillRect/>
          </a:stretch>
        </p:blipFill>
        <p:spPr>
          <a:xfrm>
            <a:off x="6720840" y="3931920"/>
            <a:ext cx="457200" cy="457200"/>
          </a:xfrm>
          <a:prstGeom prst="rect">
            <a:avLst/>
          </a:prstGeom>
        </p:spPr>
      </p:pic>
      <p:sp>
        <p:nvSpPr>
          <p:cNvPr id="21" name="Text 11"/>
          <p:cNvSpPr txBox="1"/>
          <p:nvPr/>
        </p:nvSpPr>
        <p:spPr>
          <a:xfrm>
            <a:off x="7315200" y="3931920"/>
            <a:ext cx="4023360" cy="457200"/>
          </a:xfrm>
          <a:prstGeom prst="rect">
            <a:avLst/>
          </a:prstGeom>
          <a:noFill/>
          <a:ln/>
        </p:spPr>
        <p:txBody>
          <a:bodyPr wrap="square" lIns="0" tIns="0" rIns="0" bIns="0" rtlCol="0" anchor="ctr"/>
          <a:lstStyle/>
          <a:p>
            <a:pPr marL="0" indent="0">
              <a:buNone/>
            </a:pPr>
            <a:r>
              <a:rPr lang="en-US" sz="1700" b="1" dirty="0">
                <a:solidFill>
                  <a:srgbClr val="3B8E5A"/>
                </a:solidFill>
                <a:latin typeface="Calibri" pitchFamily="34" charset="0"/>
                <a:ea typeface="Calibri" pitchFamily="34" charset="-122"/>
                <a:cs typeface="Calibri" pitchFamily="34" charset="-120"/>
              </a:rPr>
              <a:t>Preciso y verificable</a:t>
            </a:r>
            <a:endParaRPr lang="en-US" sz="1700" dirty="0"/>
          </a:p>
        </p:txBody>
      </p:sp>
      <p:sp>
        <p:nvSpPr>
          <p:cNvPr id="22" name="Text 12"/>
          <p:cNvSpPr txBox="1"/>
          <p:nvPr/>
        </p:nvSpPr>
        <p:spPr>
          <a:xfrm>
            <a:off x="6766560" y="4572000"/>
            <a:ext cx="4572000" cy="1371600"/>
          </a:xfrm>
          <a:prstGeom prst="rect">
            <a:avLst/>
          </a:prstGeom>
          <a:noFill/>
          <a:ln/>
        </p:spPr>
        <p:txBody>
          <a:bodyPr wrap="square" lIns="0" tIns="0" rIns="0" bIns="0" rtlCol="0" anchor="t"/>
          <a:lstStyle/>
          <a:p>
            <a:pPr marL="0" indent="0">
              <a:buNone/>
            </a:pPr>
            <a:r>
              <a:rPr lang="en-US" sz="1800" i="1" dirty="0">
                <a:solidFill>
                  <a:srgbClr val="1F2933"/>
                </a:solidFill>
                <a:latin typeface="Calibri" pitchFamily="34" charset="0"/>
                <a:ea typeface="Calibri" pitchFamily="34" charset="-122"/>
                <a:cs typeface="Calibri" pitchFamily="34" charset="-120"/>
              </a:rPr>
              <a:t>“El sistema mostrará los resultados de una búsqueda en menos de 3 segundos con hasta 200 usuarios simultáneos.”</a:t>
            </a:r>
            <a:endParaRPr lang="en-US" sz="1800" dirty="0"/>
          </a:p>
        </p:txBody>
      </p:sp>
      <p:sp>
        <p:nvSpPr>
          <p:cNvPr id="23" name="Text 13"/>
          <p:cNvSpPr txBox="1"/>
          <p:nvPr/>
        </p:nvSpPr>
        <p:spPr>
          <a:xfrm>
            <a:off x="548640" y="6355080"/>
            <a:ext cx="10424160" cy="274320"/>
          </a:xfrm>
          <a:prstGeom prst="rect">
            <a:avLst/>
          </a:prstGeom>
          <a:noFill/>
          <a:ln/>
        </p:spPr>
        <p:txBody>
          <a:bodyPr wrap="square" lIns="0" tIns="0" rIns="0" bIns="0" rtlCol="0" anchor="ctr"/>
          <a:lstStyle/>
          <a:p>
            <a:pPr marL="0" indent="0">
              <a:buNone/>
            </a:pPr>
            <a:r>
              <a:rPr lang="en-US" sz="1050" i="1" dirty="0">
                <a:solidFill>
                  <a:srgbClr val="5B6770"/>
                </a:solidFill>
                <a:latin typeface="Calibri" pitchFamily="34" charset="0"/>
                <a:ea typeface="Calibri" pitchFamily="34" charset="-122"/>
                <a:cs typeface="Calibri" pitchFamily="34" charset="-120"/>
              </a:rPr>
              <a:t>Criterios de ISO/IEC/IEEE 29148 (2018).</a:t>
            </a:r>
            <a:endParaRPr lang="en-US" sz="1050" dirty="0"/>
          </a:p>
        </p:txBody>
      </p:sp>
      <p:sp>
        <p:nvSpPr>
          <p:cNvPr id="24" name="Text 14"/>
          <p:cNvSpPr txBox="1"/>
          <p:nvPr/>
        </p:nvSpPr>
        <p:spPr>
          <a:xfrm>
            <a:off x="11155680" y="6355080"/>
            <a:ext cx="548640" cy="274320"/>
          </a:xfrm>
          <a:prstGeom prst="rect">
            <a:avLst/>
          </a:prstGeom>
          <a:noFill/>
          <a:ln/>
        </p:spPr>
        <p:txBody>
          <a:bodyPr wrap="square" lIns="0" tIns="0" rIns="0" bIns="0" rtlCol="0" anchor="ctr"/>
          <a:lstStyle/>
          <a:p>
            <a:pPr marL="0" indent="0" algn="r">
              <a:buNone/>
            </a:pPr>
            <a:r>
              <a:rPr lang="en-US" sz="1100" dirty="0">
                <a:solidFill>
                  <a:srgbClr val="5B6770"/>
                </a:solidFill>
                <a:latin typeface="Calibri" pitchFamily="34" charset="0"/>
                <a:ea typeface="Calibri" pitchFamily="34" charset="-122"/>
                <a:cs typeface="Calibri" pitchFamily="34" charset="-120"/>
              </a:rPr>
              <a:t>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777240"/>
          </a:xfrm>
          <a:prstGeom prst="rect">
            <a:avLst/>
          </a:prstGeom>
          <a:noFill/>
          <a:ln/>
        </p:spPr>
        <p:txBody>
          <a:bodyPr wrap="square" lIns="0" tIns="0" rIns="0" bIns="0" rtlCol="0" anchor="ctr"/>
          <a:lstStyle/>
          <a:p>
            <a:pPr marL="0" indent="0">
              <a:buNone/>
            </a:pPr>
            <a:r>
              <a:rPr lang="en-US" sz="3400" b="1" dirty="0">
                <a:solidFill>
                  <a:srgbClr val="0B2545"/>
                </a:solidFill>
                <a:latin typeface="Cambria" pitchFamily="34" charset="0"/>
                <a:ea typeface="Cambria" pitchFamily="34" charset="-122"/>
                <a:cs typeface="Cambria" pitchFamily="34" charset="-120"/>
              </a:rPr>
              <a:t>Formas de documentar los requerimientos</a:t>
            </a:r>
            <a:endParaRPr lang="en-US" sz="3400" dirty="0"/>
          </a:p>
        </p:txBody>
      </p:sp>
      <p:sp>
        <p:nvSpPr>
          <p:cNvPr id="3" name="Shape 1"/>
          <p:cNvSpPr/>
          <p:nvPr/>
        </p:nvSpPr>
        <p:spPr>
          <a:xfrm>
            <a:off x="548640" y="1371600"/>
            <a:ext cx="3566160" cy="4754880"/>
          </a:xfrm>
          <a:prstGeom prst="roundRect">
            <a:avLst>
              <a:gd name="adj" fmla="val 3077"/>
            </a:avLst>
          </a:prstGeom>
          <a:solidFill>
            <a:srgbClr val="EAF2F1"/>
          </a:solidFill>
          <a:ln w="9525">
            <a:solidFill>
              <a:srgbClr val="D5E3E1"/>
            </a:solidFill>
            <a:prstDash val="solid"/>
          </a:ln>
        </p:spPr>
      </p:sp>
      <p:sp>
        <p:nvSpPr>
          <p:cNvPr id="4" name="Shape 2"/>
          <p:cNvSpPr/>
          <p:nvPr/>
        </p:nvSpPr>
        <p:spPr>
          <a:xfrm>
            <a:off x="1828800" y="1600200"/>
            <a:ext cx="1005840" cy="1005840"/>
          </a:xfrm>
          <a:prstGeom prst="ellipse">
            <a:avLst/>
          </a:prstGeom>
          <a:solidFill>
            <a:srgbClr val="1B7F79"/>
          </a:solidFill>
          <a:ln w="12700">
            <a:solidFill>
              <a:srgbClr val="1B7F79"/>
            </a:solidFill>
            <a:prstDash val="solid"/>
          </a:ln>
        </p:spPr>
      </p:sp>
      <p:pic>
        <p:nvPicPr>
          <p:cNvPr id="5" name="Image 0" descr="preencoded.png"/>
          <p:cNvPicPr>
            <a:picLocks noChangeAspect="1"/>
          </p:cNvPicPr>
          <p:nvPr/>
        </p:nvPicPr>
        <p:blipFill>
          <a:blip r:embed="rId3"/>
          <a:stretch>
            <a:fillRect/>
          </a:stretch>
        </p:blipFill>
        <p:spPr>
          <a:xfrm>
            <a:off x="2070202" y="1841602"/>
            <a:ext cx="523037" cy="523037"/>
          </a:xfrm>
          <a:prstGeom prst="rect">
            <a:avLst/>
          </a:prstGeom>
        </p:spPr>
      </p:pic>
      <p:sp>
        <p:nvSpPr>
          <p:cNvPr id="6" name="Text 3"/>
          <p:cNvSpPr txBox="1"/>
          <p:nvPr/>
        </p:nvSpPr>
        <p:spPr>
          <a:xfrm>
            <a:off x="731520" y="2743200"/>
            <a:ext cx="3200400" cy="457200"/>
          </a:xfrm>
          <a:prstGeom prst="rect">
            <a:avLst/>
          </a:prstGeom>
          <a:noFill/>
          <a:ln/>
        </p:spPr>
        <p:txBody>
          <a:bodyPr wrap="square" lIns="0" tIns="0" rIns="0" bIns="0" rtlCol="0" anchor="t"/>
          <a:lstStyle/>
          <a:p>
            <a:pPr marL="0" indent="0" algn="ctr">
              <a:buNone/>
            </a:pPr>
            <a:r>
              <a:rPr lang="en-US" sz="2100" b="1" dirty="0">
                <a:solidFill>
                  <a:srgbClr val="0B2545"/>
                </a:solidFill>
                <a:latin typeface="Calibri" pitchFamily="34" charset="0"/>
                <a:ea typeface="Calibri" pitchFamily="34" charset="-122"/>
                <a:cs typeface="Calibri" pitchFamily="34" charset="-120"/>
              </a:rPr>
              <a:t>Documento ERS</a:t>
            </a:r>
            <a:endParaRPr lang="en-US" sz="2100" dirty="0"/>
          </a:p>
        </p:txBody>
      </p:sp>
      <p:sp>
        <p:nvSpPr>
          <p:cNvPr id="7" name="Text 4"/>
          <p:cNvSpPr txBox="1"/>
          <p:nvPr/>
        </p:nvSpPr>
        <p:spPr>
          <a:xfrm>
            <a:off x="868680" y="3337560"/>
            <a:ext cx="3017520" cy="2286000"/>
          </a:xfrm>
          <a:prstGeom prst="rect">
            <a:avLst/>
          </a:prstGeom>
          <a:noFill/>
          <a:ln/>
        </p:spPr>
        <p:txBody>
          <a:bodyPr wrap="square" lIns="0" tIns="0" rIns="0" bIns="0" rtlCol="0" anchor="t"/>
          <a:lstStyle/>
          <a:p>
            <a:pPr marL="203200" indent="-203200">
              <a:spcAft>
                <a:spcPts val="800"/>
              </a:spcAft>
              <a:buSzPct val="100000"/>
              <a:buChar char="•"/>
            </a:pPr>
            <a:r>
              <a:rPr lang="en-US" sz="1700" dirty="0">
                <a:solidFill>
                  <a:srgbClr val="1F2933"/>
                </a:solidFill>
                <a:latin typeface="Calibri" pitchFamily="34" charset="0"/>
                <a:ea typeface="Calibri" pitchFamily="34" charset="-122"/>
                <a:cs typeface="Calibri" pitchFamily="34" charset="-120"/>
              </a:rPr>
              <a:t>Introducción</a:t>
            </a:r>
            <a:endParaRPr lang="en-US" sz="1700" dirty="0"/>
          </a:p>
          <a:p>
            <a:pPr marL="203200" indent="-203200">
              <a:spcAft>
                <a:spcPts val="800"/>
              </a:spcAft>
              <a:buSzPct val="100000"/>
              <a:buChar char="•"/>
            </a:pPr>
            <a:r>
              <a:rPr lang="en-US" sz="1700" dirty="0">
                <a:solidFill>
                  <a:srgbClr val="1F2933"/>
                </a:solidFill>
                <a:latin typeface="Calibri" pitchFamily="34" charset="0"/>
                <a:ea typeface="Calibri" pitchFamily="34" charset="-122"/>
                <a:cs typeface="Calibri" pitchFamily="34" charset="-120"/>
              </a:rPr>
              <a:t>Descripción general</a:t>
            </a:r>
            <a:endParaRPr lang="en-US" sz="1700" dirty="0"/>
          </a:p>
          <a:p>
            <a:pPr marL="203200" indent="-203200">
              <a:spcAft>
                <a:spcPts val="800"/>
              </a:spcAft>
              <a:buSzPct val="100000"/>
              <a:buChar char="•"/>
            </a:pPr>
            <a:r>
              <a:rPr lang="en-US" sz="1700" dirty="0">
                <a:solidFill>
                  <a:srgbClr val="1F2933"/>
                </a:solidFill>
                <a:latin typeface="Calibri" pitchFamily="34" charset="0"/>
                <a:ea typeface="Calibri" pitchFamily="34" charset="-122"/>
                <a:cs typeface="Calibri" pitchFamily="34" charset="-120"/>
              </a:rPr>
              <a:t>Requerimientos específicos</a:t>
            </a:r>
            <a:endParaRPr lang="en-US" sz="1700" dirty="0"/>
          </a:p>
          <a:p>
            <a:pPr marL="203200" indent="-203200">
              <a:spcAft>
                <a:spcPts val="800"/>
              </a:spcAft>
              <a:buSzPct val="100000"/>
              <a:buChar char="•"/>
            </a:pPr>
            <a:r>
              <a:rPr lang="en-US" sz="1700" dirty="0">
                <a:solidFill>
                  <a:srgbClr val="1F2933"/>
                </a:solidFill>
                <a:latin typeface="Calibri" pitchFamily="34" charset="0"/>
                <a:ea typeface="Calibri" pitchFamily="34" charset="-122"/>
                <a:cs typeface="Calibri" pitchFamily="34" charset="-120"/>
              </a:rPr>
              <a:t>Apéndices e índice</a:t>
            </a:r>
            <a:endParaRPr lang="en-US" sz="1700" dirty="0"/>
          </a:p>
        </p:txBody>
      </p:sp>
      <p:sp>
        <p:nvSpPr>
          <p:cNvPr id="8" name="Text 5"/>
          <p:cNvSpPr txBox="1"/>
          <p:nvPr/>
        </p:nvSpPr>
        <p:spPr>
          <a:xfrm>
            <a:off x="731520" y="5669280"/>
            <a:ext cx="3200400" cy="320040"/>
          </a:xfrm>
          <a:prstGeom prst="rect">
            <a:avLst/>
          </a:prstGeom>
          <a:noFill/>
          <a:ln/>
        </p:spPr>
        <p:txBody>
          <a:bodyPr wrap="square" lIns="0" tIns="0" rIns="0" bIns="0" rtlCol="0" anchor="t"/>
          <a:lstStyle/>
          <a:p>
            <a:pPr marL="0" indent="0" algn="ctr">
              <a:buNone/>
            </a:pPr>
            <a:endParaRPr lang="en-US" sz="1200" dirty="0"/>
          </a:p>
        </p:txBody>
      </p:sp>
      <p:sp>
        <p:nvSpPr>
          <p:cNvPr id="9" name="Shape 6"/>
          <p:cNvSpPr/>
          <p:nvPr/>
        </p:nvSpPr>
        <p:spPr>
          <a:xfrm>
            <a:off x="4297680" y="1371600"/>
            <a:ext cx="3566160" cy="4754880"/>
          </a:xfrm>
          <a:prstGeom prst="roundRect">
            <a:avLst>
              <a:gd name="adj" fmla="val 3077"/>
            </a:avLst>
          </a:prstGeom>
          <a:solidFill>
            <a:srgbClr val="EAF2F1"/>
          </a:solidFill>
          <a:ln w="9525">
            <a:solidFill>
              <a:srgbClr val="D5E3E1"/>
            </a:solidFill>
            <a:prstDash val="solid"/>
          </a:ln>
        </p:spPr>
      </p:sp>
      <p:sp>
        <p:nvSpPr>
          <p:cNvPr id="10" name="Shape 7"/>
          <p:cNvSpPr/>
          <p:nvPr/>
        </p:nvSpPr>
        <p:spPr>
          <a:xfrm>
            <a:off x="5577840" y="1600200"/>
            <a:ext cx="1005840" cy="1005840"/>
          </a:xfrm>
          <a:prstGeom prst="ellipse">
            <a:avLst/>
          </a:prstGeom>
          <a:solidFill>
            <a:srgbClr val="2C6E9B"/>
          </a:solidFill>
          <a:ln w="12700">
            <a:solidFill>
              <a:srgbClr val="2C6E9B"/>
            </a:solidFill>
            <a:prstDash val="solid"/>
          </a:ln>
        </p:spPr>
      </p:sp>
      <p:pic>
        <p:nvPicPr>
          <p:cNvPr id="11" name="Image 1" descr="preencoded.png"/>
          <p:cNvPicPr>
            <a:picLocks noChangeAspect="1"/>
          </p:cNvPicPr>
          <p:nvPr/>
        </p:nvPicPr>
        <p:blipFill>
          <a:blip r:embed="rId4"/>
          <a:stretch>
            <a:fillRect/>
          </a:stretch>
        </p:blipFill>
        <p:spPr>
          <a:xfrm>
            <a:off x="5819242" y="1841602"/>
            <a:ext cx="523037" cy="523037"/>
          </a:xfrm>
          <a:prstGeom prst="rect">
            <a:avLst/>
          </a:prstGeom>
        </p:spPr>
      </p:pic>
      <p:sp>
        <p:nvSpPr>
          <p:cNvPr id="12" name="Text 8"/>
          <p:cNvSpPr txBox="1"/>
          <p:nvPr/>
        </p:nvSpPr>
        <p:spPr>
          <a:xfrm>
            <a:off x="4480560" y="2743200"/>
            <a:ext cx="3200400" cy="457200"/>
          </a:xfrm>
          <a:prstGeom prst="rect">
            <a:avLst/>
          </a:prstGeom>
          <a:noFill/>
          <a:ln/>
        </p:spPr>
        <p:txBody>
          <a:bodyPr wrap="square" lIns="0" tIns="0" rIns="0" bIns="0" rtlCol="0" anchor="t"/>
          <a:lstStyle/>
          <a:p>
            <a:pPr marL="0" indent="0" algn="ctr">
              <a:buNone/>
            </a:pPr>
            <a:r>
              <a:rPr lang="en-US" sz="2100" b="1" dirty="0">
                <a:solidFill>
                  <a:srgbClr val="0B2545"/>
                </a:solidFill>
                <a:latin typeface="Calibri" pitchFamily="34" charset="0"/>
                <a:ea typeface="Calibri" pitchFamily="34" charset="-122"/>
                <a:cs typeface="Calibri" pitchFamily="34" charset="-120"/>
              </a:rPr>
              <a:t>Casos de uso</a:t>
            </a:r>
            <a:endParaRPr lang="en-US" sz="2100" dirty="0"/>
          </a:p>
        </p:txBody>
      </p:sp>
      <p:sp>
        <p:nvSpPr>
          <p:cNvPr id="13" name="Text 9"/>
          <p:cNvSpPr txBox="1"/>
          <p:nvPr/>
        </p:nvSpPr>
        <p:spPr>
          <a:xfrm>
            <a:off x="4617720" y="3337560"/>
            <a:ext cx="3017520" cy="2286000"/>
          </a:xfrm>
          <a:prstGeom prst="rect">
            <a:avLst/>
          </a:prstGeom>
          <a:noFill/>
          <a:ln/>
        </p:spPr>
        <p:txBody>
          <a:bodyPr wrap="square" lIns="0" tIns="0" rIns="0" bIns="0" rtlCol="0" anchor="t"/>
          <a:lstStyle/>
          <a:p>
            <a:pPr marL="203200" indent="-203200">
              <a:spcAft>
                <a:spcPts val="800"/>
              </a:spcAft>
              <a:buSzPct val="100000"/>
              <a:buChar char="•"/>
            </a:pPr>
            <a:r>
              <a:rPr lang="en-US" sz="1700" dirty="0">
                <a:solidFill>
                  <a:srgbClr val="1F2933"/>
                </a:solidFill>
                <a:latin typeface="Calibri" pitchFamily="34" charset="0"/>
                <a:ea typeface="Calibri" pitchFamily="34" charset="-122"/>
                <a:cs typeface="Calibri" pitchFamily="34" charset="-120"/>
              </a:rPr>
              <a:t>Actor principal</a:t>
            </a:r>
            <a:endParaRPr lang="en-US" sz="1700" dirty="0"/>
          </a:p>
          <a:p>
            <a:pPr marL="203200" indent="-203200">
              <a:spcAft>
                <a:spcPts val="800"/>
              </a:spcAft>
              <a:buSzPct val="100000"/>
              <a:buChar char="•"/>
            </a:pPr>
            <a:r>
              <a:rPr lang="en-US" sz="1700" dirty="0">
                <a:solidFill>
                  <a:srgbClr val="1F2933"/>
                </a:solidFill>
                <a:latin typeface="Calibri" pitchFamily="34" charset="0"/>
                <a:ea typeface="Calibri" pitchFamily="34" charset="-122"/>
                <a:cs typeface="Calibri" pitchFamily="34" charset="-120"/>
              </a:rPr>
              <a:t>Precondiciones</a:t>
            </a:r>
            <a:endParaRPr lang="en-US" sz="1700" dirty="0"/>
          </a:p>
          <a:p>
            <a:pPr marL="203200" indent="-203200">
              <a:spcAft>
                <a:spcPts val="800"/>
              </a:spcAft>
              <a:buSzPct val="100000"/>
              <a:buChar char="•"/>
            </a:pPr>
            <a:r>
              <a:rPr lang="en-US" sz="1700" dirty="0">
                <a:solidFill>
                  <a:srgbClr val="1F2933"/>
                </a:solidFill>
                <a:latin typeface="Calibri" pitchFamily="34" charset="0"/>
                <a:ea typeface="Calibri" pitchFamily="34" charset="-122"/>
                <a:cs typeface="Calibri" pitchFamily="34" charset="-120"/>
              </a:rPr>
              <a:t>Flujo principal</a:t>
            </a:r>
            <a:endParaRPr lang="en-US" sz="1700" dirty="0"/>
          </a:p>
          <a:p>
            <a:pPr marL="203200" indent="-203200">
              <a:spcAft>
                <a:spcPts val="800"/>
              </a:spcAft>
              <a:buSzPct val="100000"/>
              <a:buChar char="•"/>
            </a:pPr>
            <a:r>
              <a:rPr lang="en-US" sz="1700" dirty="0">
                <a:solidFill>
                  <a:srgbClr val="1F2933"/>
                </a:solidFill>
                <a:latin typeface="Calibri" pitchFamily="34" charset="0"/>
                <a:ea typeface="Calibri" pitchFamily="34" charset="-122"/>
                <a:cs typeface="Calibri" pitchFamily="34" charset="-120"/>
              </a:rPr>
              <a:t>Flujos alternativos</a:t>
            </a:r>
            <a:endParaRPr lang="en-US" sz="1700" dirty="0"/>
          </a:p>
          <a:p>
            <a:pPr marL="203200" indent="-203200">
              <a:spcAft>
                <a:spcPts val="800"/>
              </a:spcAft>
              <a:buSzPct val="100000"/>
              <a:buChar char="•"/>
            </a:pPr>
            <a:r>
              <a:rPr lang="en-US" sz="1700" dirty="0">
                <a:solidFill>
                  <a:srgbClr val="1F2933"/>
                </a:solidFill>
                <a:latin typeface="Calibri" pitchFamily="34" charset="0"/>
                <a:ea typeface="Calibri" pitchFamily="34" charset="-122"/>
                <a:cs typeface="Calibri" pitchFamily="34" charset="-120"/>
              </a:rPr>
              <a:t>Postcondiciones</a:t>
            </a:r>
            <a:endParaRPr lang="en-US" sz="1700" dirty="0"/>
          </a:p>
        </p:txBody>
      </p:sp>
      <p:sp>
        <p:nvSpPr>
          <p:cNvPr id="14" name="Text 10"/>
          <p:cNvSpPr txBox="1"/>
          <p:nvPr/>
        </p:nvSpPr>
        <p:spPr>
          <a:xfrm>
            <a:off x="4480560" y="5669280"/>
            <a:ext cx="3200400" cy="320040"/>
          </a:xfrm>
          <a:prstGeom prst="rect">
            <a:avLst/>
          </a:prstGeom>
          <a:noFill/>
          <a:ln/>
        </p:spPr>
        <p:txBody>
          <a:bodyPr wrap="square" lIns="0" tIns="0" rIns="0" bIns="0" rtlCol="0" anchor="t"/>
          <a:lstStyle/>
          <a:p>
            <a:pPr marL="0" indent="0" algn="ctr">
              <a:buNone/>
            </a:pPr>
            <a:endParaRPr lang="en-US" sz="1200" dirty="0"/>
          </a:p>
        </p:txBody>
      </p:sp>
      <p:sp>
        <p:nvSpPr>
          <p:cNvPr id="15" name="Shape 11"/>
          <p:cNvSpPr/>
          <p:nvPr/>
        </p:nvSpPr>
        <p:spPr>
          <a:xfrm>
            <a:off x="8046720" y="1371600"/>
            <a:ext cx="3566160" cy="4754880"/>
          </a:xfrm>
          <a:prstGeom prst="roundRect">
            <a:avLst>
              <a:gd name="adj" fmla="val 3077"/>
            </a:avLst>
          </a:prstGeom>
          <a:solidFill>
            <a:srgbClr val="EAF2F1"/>
          </a:solidFill>
          <a:ln w="9525">
            <a:solidFill>
              <a:srgbClr val="D5E3E1"/>
            </a:solidFill>
            <a:prstDash val="solid"/>
          </a:ln>
        </p:spPr>
      </p:sp>
      <p:sp>
        <p:nvSpPr>
          <p:cNvPr id="16" name="Shape 12"/>
          <p:cNvSpPr/>
          <p:nvPr/>
        </p:nvSpPr>
        <p:spPr>
          <a:xfrm>
            <a:off x="9326880" y="1600200"/>
            <a:ext cx="1005840" cy="1005840"/>
          </a:xfrm>
          <a:prstGeom prst="ellipse">
            <a:avLst/>
          </a:prstGeom>
          <a:solidFill>
            <a:srgbClr val="0B2545"/>
          </a:solidFill>
          <a:ln w="12700">
            <a:solidFill>
              <a:srgbClr val="0B2545"/>
            </a:solidFill>
            <a:prstDash val="solid"/>
          </a:ln>
        </p:spPr>
      </p:sp>
      <p:pic>
        <p:nvPicPr>
          <p:cNvPr id="17" name="Image 2" descr="preencoded.png"/>
          <p:cNvPicPr>
            <a:picLocks noChangeAspect="1"/>
          </p:cNvPicPr>
          <p:nvPr/>
        </p:nvPicPr>
        <p:blipFill>
          <a:blip r:embed="rId5"/>
          <a:stretch>
            <a:fillRect/>
          </a:stretch>
        </p:blipFill>
        <p:spPr>
          <a:xfrm>
            <a:off x="9568282" y="1841602"/>
            <a:ext cx="523037" cy="523037"/>
          </a:xfrm>
          <a:prstGeom prst="rect">
            <a:avLst/>
          </a:prstGeom>
        </p:spPr>
      </p:pic>
      <p:sp>
        <p:nvSpPr>
          <p:cNvPr id="18" name="Text 13"/>
          <p:cNvSpPr txBox="1"/>
          <p:nvPr/>
        </p:nvSpPr>
        <p:spPr>
          <a:xfrm>
            <a:off x="8229600" y="2743200"/>
            <a:ext cx="3200400" cy="457200"/>
          </a:xfrm>
          <a:prstGeom prst="rect">
            <a:avLst/>
          </a:prstGeom>
          <a:noFill/>
          <a:ln/>
        </p:spPr>
        <p:txBody>
          <a:bodyPr wrap="square" lIns="0" tIns="0" rIns="0" bIns="0" rtlCol="0" anchor="t"/>
          <a:lstStyle/>
          <a:p>
            <a:pPr marL="0" indent="0" algn="ctr">
              <a:buNone/>
            </a:pPr>
            <a:r>
              <a:rPr lang="en-US" sz="2100" b="1" dirty="0">
                <a:solidFill>
                  <a:srgbClr val="0B2545"/>
                </a:solidFill>
                <a:latin typeface="Calibri" pitchFamily="34" charset="0"/>
                <a:ea typeface="Calibri" pitchFamily="34" charset="-122"/>
                <a:cs typeface="Calibri" pitchFamily="34" charset="-120"/>
              </a:rPr>
              <a:t>Historias de usuario</a:t>
            </a:r>
            <a:endParaRPr lang="en-US" sz="2100" dirty="0"/>
          </a:p>
        </p:txBody>
      </p:sp>
      <p:sp>
        <p:nvSpPr>
          <p:cNvPr id="19" name="Text 14"/>
          <p:cNvSpPr txBox="1"/>
          <p:nvPr/>
        </p:nvSpPr>
        <p:spPr>
          <a:xfrm>
            <a:off x="8366760" y="3337560"/>
            <a:ext cx="3017520" cy="2286000"/>
          </a:xfrm>
          <a:prstGeom prst="rect">
            <a:avLst/>
          </a:prstGeom>
          <a:noFill/>
          <a:ln/>
        </p:spPr>
        <p:txBody>
          <a:bodyPr wrap="square" lIns="0" tIns="0" rIns="0" bIns="0" rtlCol="0" anchor="t"/>
          <a:lstStyle/>
          <a:p>
            <a:pPr marL="203200" indent="-203200">
              <a:spcAft>
                <a:spcPts val="800"/>
              </a:spcAft>
              <a:buSzPct val="100000"/>
              <a:buChar char="•"/>
            </a:pPr>
            <a:r>
              <a:rPr lang="en-US" sz="1700" dirty="0">
                <a:solidFill>
                  <a:srgbClr val="1F2933"/>
                </a:solidFill>
                <a:latin typeface="Calibri" pitchFamily="34" charset="0"/>
                <a:ea typeface="Calibri" pitchFamily="34" charset="-122"/>
                <a:cs typeface="Calibri" pitchFamily="34" charset="-120"/>
              </a:rPr>
              <a:t>Como [rol], quiero [función] para [beneficio]</a:t>
            </a:r>
            <a:endParaRPr lang="en-US" sz="1700" dirty="0"/>
          </a:p>
          <a:p>
            <a:pPr marL="203200" indent="-203200">
              <a:spcAft>
                <a:spcPts val="800"/>
              </a:spcAft>
              <a:buSzPct val="100000"/>
              <a:buChar char="•"/>
            </a:pPr>
            <a:r>
              <a:rPr lang="en-US" sz="1700" dirty="0">
                <a:solidFill>
                  <a:srgbClr val="1F2933"/>
                </a:solidFill>
                <a:latin typeface="Calibri" pitchFamily="34" charset="0"/>
                <a:ea typeface="Calibri" pitchFamily="34" charset="-122"/>
                <a:cs typeface="Calibri" pitchFamily="34" charset="-120"/>
              </a:rPr>
              <a:t>Criterios de aceptación</a:t>
            </a:r>
            <a:endParaRPr lang="en-US" sz="1700" dirty="0"/>
          </a:p>
          <a:p>
            <a:pPr marL="203200" indent="-203200">
              <a:spcAft>
                <a:spcPts val="800"/>
              </a:spcAft>
              <a:buSzPct val="100000"/>
              <a:buChar char="•"/>
            </a:pPr>
            <a:r>
              <a:rPr lang="en-US" sz="1700" dirty="0">
                <a:solidFill>
                  <a:srgbClr val="1F2933"/>
                </a:solidFill>
                <a:latin typeface="Calibri" pitchFamily="34" charset="0"/>
                <a:ea typeface="Calibri" pitchFamily="34" charset="-122"/>
                <a:cs typeface="Calibri" pitchFamily="34" charset="-120"/>
              </a:rPr>
              <a:t>INVEST: independiente, negociable, valiosa, estimable, pequeña, comprobable</a:t>
            </a:r>
            <a:endParaRPr lang="en-US" sz="1700" dirty="0"/>
          </a:p>
        </p:txBody>
      </p:sp>
      <p:sp>
        <p:nvSpPr>
          <p:cNvPr id="20" name="Text 15"/>
          <p:cNvSpPr txBox="1"/>
          <p:nvPr/>
        </p:nvSpPr>
        <p:spPr>
          <a:xfrm>
            <a:off x="8229600" y="5669280"/>
            <a:ext cx="3200400" cy="320040"/>
          </a:xfrm>
          <a:prstGeom prst="rect">
            <a:avLst/>
          </a:prstGeom>
          <a:noFill/>
          <a:ln/>
        </p:spPr>
        <p:txBody>
          <a:bodyPr wrap="square" lIns="0" tIns="0" rIns="0" bIns="0" rtlCol="0" anchor="t"/>
          <a:lstStyle/>
          <a:p>
            <a:pPr marL="0" indent="0" algn="ctr">
              <a:buNone/>
            </a:pPr>
            <a:endParaRPr lang="en-US" sz="1200" dirty="0"/>
          </a:p>
        </p:txBody>
      </p:sp>
      <p:sp>
        <p:nvSpPr>
          <p:cNvPr id="21" name="Text 16"/>
          <p:cNvSpPr txBox="1"/>
          <p:nvPr/>
        </p:nvSpPr>
        <p:spPr>
          <a:xfrm>
            <a:off x="11155680" y="6355080"/>
            <a:ext cx="548640" cy="274320"/>
          </a:xfrm>
          <a:prstGeom prst="rect">
            <a:avLst/>
          </a:prstGeom>
          <a:noFill/>
          <a:ln/>
        </p:spPr>
        <p:txBody>
          <a:bodyPr wrap="square" lIns="0" tIns="0" rIns="0" bIns="0" rtlCol="0" anchor="ctr"/>
          <a:lstStyle/>
          <a:p>
            <a:pPr marL="0" indent="0" algn="r">
              <a:buNone/>
            </a:pPr>
            <a:r>
              <a:rPr lang="en-US" sz="1100" dirty="0">
                <a:solidFill>
                  <a:srgbClr val="5B6770"/>
                </a:solidFill>
                <a:latin typeface="Calibri" pitchFamily="34" charset="0"/>
                <a:ea typeface="Calibri" pitchFamily="34" charset="-122"/>
                <a:cs typeface="Calibri" pitchFamily="34" charset="-120"/>
              </a:rPr>
              <a:t>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777240"/>
          </a:xfrm>
          <a:prstGeom prst="rect">
            <a:avLst/>
          </a:prstGeom>
          <a:noFill/>
          <a:ln/>
        </p:spPr>
        <p:txBody>
          <a:bodyPr wrap="square" lIns="0" tIns="0" rIns="0" bIns="0" rtlCol="0" anchor="ctr"/>
          <a:lstStyle/>
          <a:p>
            <a:pPr marL="0" indent="0">
              <a:buNone/>
            </a:pPr>
            <a:r>
              <a:rPr lang="en-US" sz="3400" b="1" dirty="0">
                <a:solidFill>
                  <a:srgbClr val="0B2545"/>
                </a:solidFill>
                <a:latin typeface="Cambria" pitchFamily="34" charset="0"/>
                <a:ea typeface="Cambria" pitchFamily="34" charset="-122"/>
                <a:cs typeface="Cambria" pitchFamily="34" charset="-120"/>
              </a:rPr>
              <a:t>Ejemplo: sistema de préstamos de biblioteca</a:t>
            </a:r>
            <a:endParaRPr lang="en-US" sz="34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4279392"/>
        </p:xfrm>
        <a:graphic>
          <a:graphicData uri="http://schemas.openxmlformats.org/drawingml/2006/table">
            <a:tbl>
              <a:tblPr/>
              <a:tblGrid>
                <a:gridCol w="1188720">
                  <a:extLst>
                    <a:ext uri="{9D8B030D-6E8A-4147-A177-3AD203B41FA5}">
                      <a16:colId xmlns:a16="http://schemas.microsoft.com/office/drawing/2014/main" val="20000"/>
                    </a:ext>
                  </a:extLst>
                </a:gridCol>
                <a:gridCol w="6035040">
                  <a:extLst>
                    <a:ext uri="{9D8B030D-6E8A-4147-A177-3AD203B41FA5}">
                      <a16:colId xmlns:a16="http://schemas.microsoft.com/office/drawing/2014/main" val="20001"/>
                    </a:ext>
                  </a:extLst>
                </a:gridCol>
                <a:gridCol w="1920240">
                  <a:extLst>
                    <a:ext uri="{9D8B030D-6E8A-4147-A177-3AD203B41FA5}">
                      <a16:colId xmlns:a16="http://schemas.microsoft.com/office/drawing/2014/main" val="20002"/>
                    </a:ext>
                  </a:extLst>
                </a:gridCol>
                <a:gridCol w="1920240">
                  <a:extLst>
                    <a:ext uri="{9D8B030D-6E8A-4147-A177-3AD203B41FA5}">
                      <a16:colId xmlns:a16="http://schemas.microsoft.com/office/drawing/2014/main" val="20003"/>
                    </a:ext>
                  </a:extLst>
                </a:gridCol>
              </a:tblGrid>
              <a:tr h="548640">
                <a:tc>
                  <a:txBody>
                    <a:bodyPr/>
                    <a:lstStyle/>
                    <a:p>
                      <a:pPr marL="0" indent="0">
                        <a:buNone/>
                      </a:pPr>
                      <a:r>
                        <a:rPr lang="en-US" sz="1700" b="1" dirty="0">
                          <a:solidFill>
                            <a:srgbClr val="FFFFFF"/>
                          </a:solidFill>
                          <a:latin typeface="Calibri" pitchFamily="34" charset="0"/>
                          <a:ea typeface="Calibri" pitchFamily="34" charset="-122"/>
                          <a:cs typeface="Calibri" pitchFamily="34" charset="-120"/>
                        </a:rPr>
                        <a:t>ID</a:t>
                      </a:r>
                      <a:endParaRPr lang="en-US" sz="1700" dirty="0">
                        <a:latin typeface="Calibri" charset="0"/>
                        <a:ea typeface="Calibri" charset="0"/>
                        <a:cs typeface="Calibri" charset="0"/>
                      </a:endParaRPr>
                    </a:p>
                  </a:txBody>
                  <a:tcPr marL="109728" marR="109728"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0B2545"/>
                    </a:solidFill>
                  </a:tcPr>
                </a:tc>
                <a:tc>
                  <a:txBody>
                    <a:bodyPr/>
                    <a:lstStyle/>
                    <a:p>
                      <a:pPr marL="0" indent="0">
                        <a:buNone/>
                      </a:pPr>
                      <a:r>
                        <a:rPr lang="en-US" sz="1700" b="1" dirty="0">
                          <a:solidFill>
                            <a:srgbClr val="FFFFFF"/>
                          </a:solidFill>
                          <a:latin typeface="Calibri" pitchFamily="34" charset="0"/>
                          <a:ea typeface="Calibri" pitchFamily="34" charset="-122"/>
                          <a:cs typeface="Calibri" pitchFamily="34" charset="-120"/>
                        </a:rPr>
                        <a:t>Requerimiento</a:t>
                      </a:r>
                      <a:endParaRPr lang="en-US" sz="1700" dirty="0">
                        <a:latin typeface="Calibri" charset="0"/>
                        <a:ea typeface="Calibri" charset="0"/>
                        <a:cs typeface="Calibri" charset="0"/>
                      </a:endParaRPr>
                    </a:p>
                  </a:txBody>
                  <a:tcPr marL="109728" marR="109728"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0B2545"/>
                    </a:solidFill>
                  </a:tcPr>
                </a:tc>
                <a:tc>
                  <a:txBody>
                    <a:bodyPr/>
                    <a:lstStyle/>
                    <a:p>
                      <a:pPr marL="0" indent="0">
                        <a:buNone/>
                      </a:pPr>
                      <a:r>
                        <a:rPr lang="en-US" sz="1700" b="1" dirty="0">
                          <a:solidFill>
                            <a:srgbClr val="FFFFFF"/>
                          </a:solidFill>
                          <a:latin typeface="Calibri" pitchFamily="34" charset="0"/>
                          <a:ea typeface="Calibri" pitchFamily="34" charset="-122"/>
                          <a:cs typeface="Calibri" pitchFamily="34" charset="-120"/>
                        </a:rPr>
                        <a:t>Tipo</a:t>
                      </a:r>
                      <a:endParaRPr lang="en-US" sz="1700" dirty="0">
                        <a:latin typeface="Calibri" charset="0"/>
                        <a:ea typeface="Calibri" charset="0"/>
                        <a:cs typeface="Calibri" charset="0"/>
                      </a:endParaRPr>
                    </a:p>
                  </a:txBody>
                  <a:tcPr marL="109728" marR="109728"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0B2545"/>
                    </a:solidFill>
                  </a:tcPr>
                </a:tc>
                <a:tc>
                  <a:txBody>
                    <a:bodyPr/>
                    <a:lstStyle/>
                    <a:p>
                      <a:pPr marL="0" indent="0">
                        <a:buNone/>
                      </a:pPr>
                      <a:r>
                        <a:rPr lang="en-US" sz="1700" b="1" dirty="0">
                          <a:solidFill>
                            <a:srgbClr val="FFFFFF"/>
                          </a:solidFill>
                          <a:latin typeface="Calibri" pitchFamily="34" charset="0"/>
                          <a:ea typeface="Calibri" pitchFamily="34" charset="-122"/>
                          <a:cs typeface="Calibri" pitchFamily="34" charset="-120"/>
                        </a:rPr>
                        <a:t>Prioridad</a:t>
                      </a:r>
                      <a:endParaRPr lang="en-US" sz="1700" dirty="0">
                        <a:latin typeface="Calibri" charset="0"/>
                        <a:ea typeface="Calibri" charset="0"/>
                        <a:cs typeface="Calibri" charset="0"/>
                      </a:endParaRPr>
                    </a:p>
                  </a:txBody>
                  <a:tcPr marL="109728" marR="109728"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0B2545"/>
                    </a:solidFill>
                  </a:tcPr>
                </a:tc>
                <a:extLst>
                  <a:ext uri="{0D108BD9-81ED-4DB2-BD59-A6C34878D82A}">
                    <a16:rowId xmlns:a16="http://schemas.microsoft.com/office/drawing/2014/main" val="10000"/>
                  </a:ext>
                </a:extLst>
              </a:tr>
              <a:tr h="621792">
                <a:tc>
                  <a:txBody>
                    <a:bodyPr/>
                    <a:lstStyle/>
                    <a:p>
                      <a:pPr marL="0" indent="0">
                        <a:buNone/>
                      </a:pPr>
                      <a:r>
                        <a:rPr lang="en-US" sz="1700" b="1" dirty="0">
                          <a:solidFill>
                            <a:srgbClr val="1F2933"/>
                          </a:solidFill>
                          <a:latin typeface="Calibri" pitchFamily="34" charset="0"/>
                          <a:ea typeface="Calibri" pitchFamily="34" charset="-122"/>
                          <a:cs typeface="Calibri" pitchFamily="34" charset="-120"/>
                        </a:rPr>
                        <a:t>RF-01</a:t>
                      </a:r>
                      <a:endParaRPr lang="en-US" sz="1700" dirty="0">
                        <a:latin typeface="Calibri" charset="0"/>
                        <a:ea typeface="Calibri" charset="0"/>
                        <a:cs typeface="Calibri" charset="0"/>
                      </a:endParaRPr>
                    </a:p>
                  </a:txBody>
                  <a:tcPr marL="109728" marR="109728"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EAF2F1"/>
                    </a:solidFill>
                  </a:tcPr>
                </a:tc>
                <a:tc>
                  <a:txBody>
                    <a:bodyPr/>
                    <a:lstStyle/>
                    <a:p>
                      <a:pPr marL="0" indent="0">
                        <a:buNone/>
                      </a:pPr>
                      <a:r>
                        <a:rPr lang="en-US" sz="1700" dirty="0">
                          <a:solidFill>
                            <a:srgbClr val="1F2933"/>
                          </a:solidFill>
                          <a:latin typeface="Calibri" pitchFamily="34" charset="0"/>
                          <a:ea typeface="Calibri" pitchFamily="34" charset="-122"/>
                          <a:cs typeface="Calibri" pitchFamily="34" charset="-120"/>
                        </a:rPr>
                        <a:t>Registrar el préstamo de un libro a un estudiante</a:t>
                      </a:r>
                      <a:endParaRPr lang="en-US" sz="1700" dirty="0">
                        <a:latin typeface="Calibri" charset="0"/>
                        <a:ea typeface="Calibri" charset="0"/>
                        <a:cs typeface="Calibri" charset="0"/>
                      </a:endParaRPr>
                    </a:p>
                  </a:txBody>
                  <a:tcPr marL="109728" marR="109728"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EAF2F1"/>
                    </a:solidFill>
                  </a:tcPr>
                </a:tc>
                <a:tc>
                  <a:txBody>
                    <a:bodyPr/>
                    <a:lstStyle/>
                    <a:p>
                      <a:pPr marL="0" indent="0">
                        <a:buNone/>
                      </a:pPr>
                      <a:r>
                        <a:rPr lang="en-US" sz="1700" dirty="0">
                          <a:solidFill>
                            <a:srgbClr val="1F2933"/>
                          </a:solidFill>
                          <a:latin typeface="Calibri" pitchFamily="34" charset="0"/>
                          <a:ea typeface="Calibri" pitchFamily="34" charset="-122"/>
                          <a:cs typeface="Calibri" pitchFamily="34" charset="-120"/>
                        </a:rPr>
                        <a:t>Funcional</a:t>
                      </a:r>
                      <a:endParaRPr lang="en-US" sz="1700" dirty="0">
                        <a:latin typeface="Calibri" charset="0"/>
                        <a:ea typeface="Calibri" charset="0"/>
                        <a:cs typeface="Calibri" charset="0"/>
                      </a:endParaRPr>
                    </a:p>
                  </a:txBody>
                  <a:tcPr marL="109728" marR="109728"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EAF2F1"/>
                    </a:solidFill>
                  </a:tcPr>
                </a:tc>
                <a:tc>
                  <a:txBody>
                    <a:bodyPr/>
                    <a:lstStyle/>
                    <a:p>
                      <a:pPr marL="0" indent="0">
                        <a:buNone/>
                      </a:pPr>
                      <a:r>
                        <a:rPr lang="en-US" sz="1700" b="1" dirty="0">
                          <a:solidFill>
                            <a:srgbClr val="D1495B"/>
                          </a:solidFill>
                          <a:latin typeface="Calibri" pitchFamily="34" charset="0"/>
                          <a:ea typeface="Calibri" pitchFamily="34" charset="-122"/>
                          <a:cs typeface="Calibri" pitchFamily="34" charset="-120"/>
                        </a:rPr>
                        <a:t>Debe</a:t>
                      </a:r>
                      <a:endParaRPr lang="en-US" sz="1700" dirty="0">
                        <a:latin typeface="Calibri" charset="0"/>
                        <a:ea typeface="Calibri" charset="0"/>
                        <a:cs typeface="Calibri" charset="0"/>
                      </a:endParaRPr>
                    </a:p>
                  </a:txBody>
                  <a:tcPr marL="109728" marR="109728"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EAF2F1"/>
                    </a:solidFill>
                  </a:tcPr>
                </a:tc>
                <a:extLst>
                  <a:ext uri="{0D108BD9-81ED-4DB2-BD59-A6C34878D82A}">
                    <a16:rowId xmlns:a16="http://schemas.microsoft.com/office/drawing/2014/main" val="10001"/>
                  </a:ext>
                </a:extLst>
              </a:tr>
              <a:tr h="621792">
                <a:tc>
                  <a:txBody>
                    <a:bodyPr/>
                    <a:lstStyle/>
                    <a:p>
                      <a:pPr marL="0" indent="0">
                        <a:buNone/>
                      </a:pPr>
                      <a:r>
                        <a:rPr lang="en-US" sz="1700" b="1" dirty="0">
                          <a:solidFill>
                            <a:srgbClr val="1F2933"/>
                          </a:solidFill>
                          <a:latin typeface="Calibri" pitchFamily="34" charset="0"/>
                          <a:ea typeface="Calibri" pitchFamily="34" charset="-122"/>
                          <a:cs typeface="Calibri" pitchFamily="34" charset="-120"/>
                        </a:rPr>
                        <a:t>RF-02</a:t>
                      </a:r>
                      <a:endParaRPr lang="en-US" sz="1700" dirty="0">
                        <a:latin typeface="Calibri" charset="0"/>
                        <a:ea typeface="Calibri" charset="0"/>
                        <a:cs typeface="Calibri" charset="0"/>
                      </a:endParaRPr>
                    </a:p>
                  </a:txBody>
                  <a:tcPr marL="109728" marR="109728"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FFFFFF"/>
                    </a:solidFill>
                  </a:tcPr>
                </a:tc>
                <a:tc>
                  <a:txBody>
                    <a:bodyPr/>
                    <a:lstStyle/>
                    <a:p>
                      <a:pPr marL="0" indent="0">
                        <a:buNone/>
                      </a:pPr>
                      <a:r>
                        <a:rPr lang="en-US" sz="1700" dirty="0">
                          <a:solidFill>
                            <a:srgbClr val="1F2933"/>
                          </a:solidFill>
                          <a:latin typeface="Calibri" pitchFamily="34" charset="0"/>
                          <a:ea typeface="Calibri" pitchFamily="34" charset="-122"/>
                          <a:cs typeface="Calibri" pitchFamily="34" charset="-120"/>
                        </a:rPr>
                        <a:t>Buscar libros por título, autor o materia</a:t>
                      </a:r>
                      <a:endParaRPr lang="en-US" sz="1700" dirty="0">
                        <a:latin typeface="Calibri" charset="0"/>
                        <a:ea typeface="Calibri" charset="0"/>
                        <a:cs typeface="Calibri" charset="0"/>
                      </a:endParaRPr>
                    </a:p>
                  </a:txBody>
                  <a:tcPr marL="109728" marR="109728"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FFFFFF"/>
                    </a:solidFill>
                  </a:tcPr>
                </a:tc>
                <a:tc>
                  <a:txBody>
                    <a:bodyPr/>
                    <a:lstStyle/>
                    <a:p>
                      <a:pPr marL="0" indent="0">
                        <a:buNone/>
                      </a:pPr>
                      <a:r>
                        <a:rPr lang="en-US" sz="1700" dirty="0">
                          <a:solidFill>
                            <a:srgbClr val="1F2933"/>
                          </a:solidFill>
                          <a:latin typeface="Calibri" pitchFamily="34" charset="0"/>
                          <a:ea typeface="Calibri" pitchFamily="34" charset="-122"/>
                          <a:cs typeface="Calibri" pitchFamily="34" charset="-120"/>
                        </a:rPr>
                        <a:t>Funcional</a:t>
                      </a:r>
                      <a:endParaRPr lang="en-US" sz="1700" dirty="0">
                        <a:latin typeface="Calibri" charset="0"/>
                        <a:ea typeface="Calibri" charset="0"/>
                        <a:cs typeface="Calibri" charset="0"/>
                      </a:endParaRPr>
                    </a:p>
                  </a:txBody>
                  <a:tcPr marL="109728" marR="109728"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FFFFFF"/>
                    </a:solidFill>
                  </a:tcPr>
                </a:tc>
                <a:tc>
                  <a:txBody>
                    <a:bodyPr/>
                    <a:lstStyle/>
                    <a:p>
                      <a:pPr marL="0" indent="0">
                        <a:buNone/>
                      </a:pPr>
                      <a:r>
                        <a:rPr lang="en-US" sz="1700" b="1" dirty="0">
                          <a:solidFill>
                            <a:srgbClr val="D1495B"/>
                          </a:solidFill>
                          <a:latin typeface="Calibri" pitchFamily="34" charset="0"/>
                          <a:ea typeface="Calibri" pitchFamily="34" charset="-122"/>
                          <a:cs typeface="Calibri" pitchFamily="34" charset="-120"/>
                        </a:rPr>
                        <a:t>Debe</a:t>
                      </a:r>
                      <a:endParaRPr lang="en-US" sz="1700" dirty="0">
                        <a:latin typeface="Calibri" charset="0"/>
                        <a:ea typeface="Calibri" charset="0"/>
                        <a:cs typeface="Calibri" charset="0"/>
                      </a:endParaRPr>
                    </a:p>
                  </a:txBody>
                  <a:tcPr marL="109728" marR="109728"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21792">
                <a:tc>
                  <a:txBody>
                    <a:bodyPr/>
                    <a:lstStyle/>
                    <a:p>
                      <a:pPr marL="0" indent="0">
                        <a:buNone/>
                      </a:pPr>
                      <a:r>
                        <a:rPr lang="en-US" sz="1700" b="1" dirty="0">
                          <a:solidFill>
                            <a:srgbClr val="1F2933"/>
                          </a:solidFill>
                          <a:latin typeface="Calibri" pitchFamily="34" charset="0"/>
                          <a:ea typeface="Calibri" pitchFamily="34" charset="-122"/>
                          <a:cs typeface="Calibri" pitchFamily="34" charset="-120"/>
                        </a:rPr>
                        <a:t>RF-03</a:t>
                      </a:r>
                      <a:endParaRPr lang="en-US" sz="1700" dirty="0">
                        <a:latin typeface="Calibri" charset="0"/>
                        <a:ea typeface="Calibri" charset="0"/>
                        <a:cs typeface="Calibri" charset="0"/>
                      </a:endParaRPr>
                    </a:p>
                  </a:txBody>
                  <a:tcPr marL="109728" marR="109728"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EAF2F1"/>
                    </a:solidFill>
                  </a:tcPr>
                </a:tc>
                <a:tc>
                  <a:txBody>
                    <a:bodyPr/>
                    <a:lstStyle/>
                    <a:p>
                      <a:pPr marL="0" indent="0">
                        <a:buNone/>
                      </a:pPr>
                      <a:r>
                        <a:rPr lang="en-US" sz="1700" dirty="0">
                          <a:solidFill>
                            <a:srgbClr val="1F2933"/>
                          </a:solidFill>
                          <a:latin typeface="Calibri" pitchFamily="34" charset="0"/>
                          <a:ea typeface="Calibri" pitchFamily="34" charset="-122"/>
                          <a:cs typeface="Calibri" pitchFamily="34" charset="-120"/>
                        </a:rPr>
                        <a:t>Enviar recordatorio por correo dos días antes de la devolución</a:t>
                      </a:r>
                      <a:endParaRPr lang="en-US" sz="1700" dirty="0">
                        <a:latin typeface="Calibri" charset="0"/>
                        <a:ea typeface="Calibri" charset="0"/>
                        <a:cs typeface="Calibri" charset="0"/>
                      </a:endParaRPr>
                    </a:p>
                  </a:txBody>
                  <a:tcPr marL="109728" marR="109728"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EAF2F1"/>
                    </a:solidFill>
                  </a:tcPr>
                </a:tc>
                <a:tc>
                  <a:txBody>
                    <a:bodyPr/>
                    <a:lstStyle/>
                    <a:p>
                      <a:pPr marL="0" indent="0">
                        <a:buNone/>
                      </a:pPr>
                      <a:r>
                        <a:rPr lang="en-US" sz="1700" dirty="0">
                          <a:solidFill>
                            <a:srgbClr val="1F2933"/>
                          </a:solidFill>
                          <a:latin typeface="Calibri" pitchFamily="34" charset="0"/>
                          <a:ea typeface="Calibri" pitchFamily="34" charset="-122"/>
                          <a:cs typeface="Calibri" pitchFamily="34" charset="-120"/>
                        </a:rPr>
                        <a:t>Funcional</a:t>
                      </a:r>
                      <a:endParaRPr lang="en-US" sz="1700" dirty="0">
                        <a:latin typeface="Calibri" charset="0"/>
                        <a:ea typeface="Calibri" charset="0"/>
                        <a:cs typeface="Calibri" charset="0"/>
                      </a:endParaRPr>
                    </a:p>
                  </a:txBody>
                  <a:tcPr marL="109728" marR="109728"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EAF2F1"/>
                    </a:solidFill>
                  </a:tcPr>
                </a:tc>
                <a:tc>
                  <a:txBody>
                    <a:bodyPr/>
                    <a:lstStyle/>
                    <a:p>
                      <a:pPr marL="0" indent="0">
                        <a:buNone/>
                      </a:pPr>
                      <a:r>
                        <a:rPr lang="en-US" sz="1700" b="1" dirty="0">
                          <a:solidFill>
                            <a:srgbClr val="C77F14"/>
                          </a:solidFill>
                          <a:latin typeface="Calibri" pitchFamily="34" charset="0"/>
                          <a:ea typeface="Calibri" pitchFamily="34" charset="-122"/>
                          <a:cs typeface="Calibri" pitchFamily="34" charset="-120"/>
                        </a:rPr>
                        <a:t>Debería</a:t>
                      </a:r>
                      <a:endParaRPr lang="en-US" sz="1700" dirty="0">
                        <a:latin typeface="Calibri" charset="0"/>
                        <a:ea typeface="Calibri" charset="0"/>
                        <a:cs typeface="Calibri" charset="0"/>
                      </a:endParaRPr>
                    </a:p>
                  </a:txBody>
                  <a:tcPr marL="109728" marR="109728"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EAF2F1"/>
                    </a:solidFill>
                  </a:tcPr>
                </a:tc>
                <a:extLst>
                  <a:ext uri="{0D108BD9-81ED-4DB2-BD59-A6C34878D82A}">
                    <a16:rowId xmlns:a16="http://schemas.microsoft.com/office/drawing/2014/main" val="10003"/>
                  </a:ext>
                </a:extLst>
              </a:tr>
              <a:tr h="621792">
                <a:tc>
                  <a:txBody>
                    <a:bodyPr/>
                    <a:lstStyle/>
                    <a:p>
                      <a:pPr marL="0" indent="0">
                        <a:buNone/>
                      </a:pPr>
                      <a:r>
                        <a:rPr lang="en-US" sz="1700" b="1" dirty="0">
                          <a:solidFill>
                            <a:srgbClr val="1F2933"/>
                          </a:solidFill>
                          <a:latin typeface="Calibri" pitchFamily="34" charset="0"/>
                          <a:ea typeface="Calibri" pitchFamily="34" charset="-122"/>
                          <a:cs typeface="Calibri" pitchFamily="34" charset="-120"/>
                        </a:rPr>
                        <a:t>RNF-01</a:t>
                      </a:r>
                      <a:endParaRPr lang="en-US" sz="1700" dirty="0">
                        <a:latin typeface="Calibri" charset="0"/>
                        <a:ea typeface="Calibri" charset="0"/>
                        <a:cs typeface="Calibri" charset="0"/>
                      </a:endParaRPr>
                    </a:p>
                  </a:txBody>
                  <a:tcPr marL="109728" marR="109728"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FFFFFF"/>
                    </a:solidFill>
                  </a:tcPr>
                </a:tc>
                <a:tc>
                  <a:txBody>
                    <a:bodyPr/>
                    <a:lstStyle/>
                    <a:p>
                      <a:pPr marL="0" indent="0">
                        <a:buNone/>
                      </a:pPr>
                      <a:r>
                        <a:rPr lang="en-US" sz="1700" dirty="0">
                          <a:solidFill>
                            <a:srgbClr val="1F2933"/>
                          </a:solidFill>
                          <a:latin typeface="Calibri" pitchFamily="34" charset="0"/>
                          <a:ea typeface="Calibri" pitchFamily="34" charset="-122"/>
                          <a:cs typeface="Calibri" pitchFamily="34" charset="-120"/>
                        </a:rPr>
                        <a:t>Búsquedas en menos de 3 s con 200 usuarios simultáneos</a:t>
                      </a:r>
                      <a:endParaRPr lang="en-US" sz="1700" dirty="0">
                        <a:latin typeface="Calibri" charset="0"/>
                        <a:ea typeface="Calibri" charset="0"/>
                        <a:cs typeface="Calibri" charset="0"/>
                      </a:endParaRPr>
                    </a:p>
                  </a:txBody>
                  <a:tcPr marL="109728" marR="109728"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FFFFFF"/>
                    </a:solidFill>
                  </a:tcPr>
                </a:tc>
                <a:tc>
                  <a:txBody>
                    <a:bodyPr/>
                    <a:lstStyle/>
                    <a:p>
                      <a:pPr marL="0" indent="0">
                        <a:buNone/>
                      </a:pPr>
                      <a:r>
                        <a:rPr lang="en-US" sz="1700" dirty="0">
                          <a:solidFill>
                            <a:srgbClr val="1F2933"/>
                          </a:solidFill>
                          <a:latin typeface="Calibri" pitchFamily="34" charset="0"/>
                          <a:ea typeface="Calibri" pitchFamily="34" charset="-122"/>
                          <a:cs typeface="Calibri" pitchFamily="34" charset="-120"/>
                        </a:rPr>
                        <a:t>No funcional</a:t>
                      </a:r>
                      <a:endParaRPr lang="en-US" sz="1700" dirty="0">
                        <a:latin typeface="Calibri" charset="0"/>
                        <a:ea typeface="Calibri" charset="0"/>
                        <a:cs typeface="Calibri" charset="0"/>
                      </a:endParaRPr>
                    </a:p>
                  </a:txBody>
                  <a:tcPr marL="109728" marR="109728"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FFFFFF"/>
                    </a:solidFill>
                  </a:tcPr>
                </a:tc>
                <a:tc>
                  <a:txBody>
                    <a:bodyPr/>
                    <a:lstStyle/>
                    <a:p>
                      <a:pPr marL="0" indent="0">
                        <a:buNone/>
                      </a:pPr>
                      <a:r>
                        <a:rPr lang="en-US" sz="1700" b="1" dirty="0">
                          <a:solidFill>
                            <a:srgbClr val="C77F14"/>
                          </a:solidFill>
                          <a:latin typeface="Calibri" pitchFamily="34" charset="0"/>
                          <a:ea typeface="Calibri" pitchFamily="34" charset="-122"/>
                          <a:cs typeface="Calibri" pitchFamily="34" charset="-120"/>
                        </a:rPr>
                        <a:t>Debería</a:t>
                      </a:r>
                      <a:endParaRPr lang="en-US" sz="1700" dirty="0">
                        <a:latin typeface="Calibri" charset="0"/>
                        <a:ea typeface="Calibri" charset="0"/>
                        <a:cs typeface="Calibri" charset="0"/>
                      </a:endParaRPr>
                    </a:p>
                  </a:txBody>
                  <a:tcPr marL="109728" marR="109728"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621792">
                <a:tc>
                  <a:txBody>
                    <a:bodyPr/>
                    <a:lstStyle/>
                    <a:p>
                      <a:pPr marL="0" indent="0">
                        <a:buNone/>
                      </a:pPr>
                      <a:r>
                        <a:rPr lang="en-US" sz="1700" b="1" dirty="0">
                          <a:solidFill>
                            <a:srgbClr val="1F2933"/>
                          </a:solidFill>
                          <a:latin typeface="Calibri" pitchFamily="34" charset="0"/>
                          <a:ea typeface="Calibri" pitchFamily="34" charset="-122"/>
                          <a:cs typeface="Calibri" pitchFamily="34" charset="-120"/>
                        </a:rPr>
                        <a:t>RNF-02</a:t>
                      </a:r>
                      <a:endParaRPr lang="en-US" sz="1700" dirty="0">
                        <a:latin typeface="Calibri" charset="0"/>
                        <a:ea typeface="Calibri" charset="0"/>
                        <a:cs typeface="Calibri" charset="0"/>
                      </a:endParaRPr>
                    </a:p>
                  </a:txBody>
                  <a:tcPr marL="109728" marR="109728"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EAF2F1"/>
                    </a:solidFill>
                  </a:tcPr>
                </a:tc>
                <a:tc>
                  <a:txBody>
                    <a:bodyPr/>
                    <a:lstStyle/>
                    <a:p>
                      <a:pPr marL="0" indent="0">
                        <a:buNone/>
                      </a:pPr>
                      <a:r>
                        <a:rPr lang="en-US" sz="1700" dirty="0">
                          <a:solidFill>
                            <a:srgbClr val="1F2933"/>
                          </a:solidFill>
                          <a:latin typeface="Calibri" pitchFamily="34" charset="0"/>
                          <a:ea typeface="Calibri" pitchFamily="34" charset="-122"/>
                          <a:cs typeface="Calibri" pitchFamily="34" charset="-120"/>
                        </a:rPr>
                        <a:t>Acceso de administración con usuario y contraseña</a:t>
                      </a:r>
                      <a:endParaRPr lang="en-US" sz="1700" dirty="0">
                        <a:latin typeface="Calibri" charset="0"/>
                        <a:ea typeface="Calibri" charset="0"/>
                        <a:cs typeface="Calibri" charset="0"/>
                      </a:endParaRPr>
                    </a:p>
                  </a:txBody>
                  <a:tcPr marL="109728" marR="109728"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EAF2F1"/>
                    </a:solidFill>
                  </a:tcPr>
                </a:tc>
                <a:tc>
                  <a:txBody>
                    <a:bodyPr/>
                    <a:lstStyle/>
                    <a:p>
                      <a:pPr marL="0" indent="0">
                        <a:buNone/>
                      </a:pPr>
                      <a:r>
                        <a:rPr lang="en-US" sz="1700" dirty="0">
                          <a:solidFill>
                            <a:srgbClr val="1F2933"/>
                          </a:solidFill>
                          <a:latin typeface="Calibri" pitchFamily="34" charset="0"/>
                          <a:ea typeface="Calibri" pitchFamily="34" charset="-122"/>
                          <a:cs typeface="Calibri" pitchFamily="34" charset="-120"/>
                        </a:rPr>
                        <a:t>No funcional</a:t>
                      </a:r>
                      <a:endParaRPr lang="en-US" sz="1700" dirty="0">
                        <a:latin typeface="Calibri" charset="0"/>
                        <a:ea typeface="Calibri" charset="0"/>
                        <a:cs typeface="Calibri" charset="0"/>
                      </a:endParaRPr>
                    </a:p>
                  </a:txBody>
                  <a:tcPr marL="109728" marR="109728"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EAF2F1"/>
                    </a:solidFill>
                  </a:tcPr>
                </a:tc>
                <a:tc>
                  <a:txBody>
                    <a:bodyPr/>
                    <a:lstStyle/>
                    <a:p>
                      <a:pPr marL="0" indent="0">
                        <a:buNone/>
                      </a:pPr>
                      <a:r>
                        <a:rPr lang="en-US" sz="1700" b="1" dirty="0">
                          <a:solidFill>
                            <a:srgbClr val="D1495B"/>
                          </a:solidFill>
                          <a:latin typeface="Calibri" pitchFamily="34" charset="0"/>
                          <a:ea typeface="Calibri" pitchFamily="34" charset="-122"/>
                          <a:cs typeface="Calibri" pitchFamily="34" charset="-120"/>
                        </a:rPr>
                        <a:t>Debe</a:t>
                      </a:r>
                      <a:endParaRPr lang="en-US" sz="1700" dirty="0">
                        <a:latin typeface="Calibri" charset="0"/>
                        <a:ea typeface="Calibri" charset="0"/>
                        <a:cs typeface="Calibri" charset="0"/>
                      </a:endParaRPr>
                    </a:p>
                  </a:txBody>
                  <a:tcPr marL="109728" marR="109728"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EAF2F1"/>
                    </a:solidFill>
                  </a:tcPr>
                </a:tc>
                <a:extLst>
                  <a:ext uri="{0D108BD9-81ED-4DB2-BD59-A6C34878D82A}">
                    <a16:rowId xmlns:a16="http://schemas.microsoft.com/office/drawing/2014/main" val="10005"/>
                  </a:ext>
                </a:extLst>
              </a:tr>
              <a:tr h="621792">
                <a:tc>
                  <a:txBody>
                    <a:bodyPr/>
                    <a:lstStyle/>
                    <a:p>
                      <a:pPr marL="0" indent="0">
                        <a:buNone/>
                      </a:pPr>
                      <a:r>
                        <a:rPr lang="en-US" sz="1700" b="1" dirty="0">
                          <a:solidFill>
                            <a:srgbClr val="1F2933"/>
                          </a:solidFill>
                          <a:latin typeface="Calibri" pitchFamily="34" charset="0"/>
                          <a:ea typeface="Calibri" pitchFamily="34" charset="-122"/>
                          <a:cs typeface="Calibri" pitchFamily="34" charset="-120"/>
                        </a:rPr>
                        <a:t>RNF-03</a:t>
                      </a:r>
                      <a:endParaRPr lang="en-US" sz="1700" dirty="0">
                        <a:latin typeface="Calibri" charset="0"/>
                        <a:ea typeface="Calibri" charset="0"/>
                        <a:cs typeface="Calibri" charset="0"/>
                      </a:endParaRPr>
                    </a:p>
                  </a:txBody>
                  <a:tcPr marL="109728" marR="109728"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FFFFFF"/>
                    </a:solidFill>
                  </a:tcPr>
                </a:tc>
                <a:tc>
                  <a:txBody>
                    <a:bodyPr/>
                    <a:lstStyle/>
                    <a:p>
                      <a:pPr marL="0" indent="0">
                        <a:buNone/>
                      </a:pPr>
                      <a:r>
                        <a:rPr lang="en-US" sz="1700" dirty="0">
                          <a:solidFill>
                            <a:srgbClr val="1F2933"/>
                          </a:solidFill>
                          <a:latin typeface="Calibri" pitchFamily="34" charset="0"/>
                          <a:ea typeface="Calibri" pitchFamily="34" charset="-122"/>
                          <a:cs typeface="Calibri" pitchFamily="34" charset="-120"/>
                        </a:rPr>
                        <a:t>Interfaz utilizable desde computadoras y móviles</a:t>
                      </a:r>
                      <a:endParaRPr lang="en-US" sz="1700" dirty="0">
                        <a:latin typeface="Calibri" charset="0"/>
                        <a:ea typeface="Calibri" charset="0"/>
                        <a:cs typeface="Calibri" charset="0"/>
                      </a:endParaRPr>
                    </a:p>
                  </a:txBody>
                  <a:tcPr marL="109728" marR="109728"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FFFFFF"/>
                    </a:solidFill>
                  </a:tcPr>
                </a:tc>
                <a:tc>
                  <a:txBody>
                    <a:bodyPr/>
                    <a:lstStyle/>
                    <a:p>
                      <a:pPr marL="0" indent="0">
                        <a:buNone/>
                      </a:pPr>
                      <a:r>
                        <a:rPr lang="en-US" sz="1700" dirty="0">
                          <a:solidFill>
                            <a:srgbClr val="1F2933"/>
                          </a:solidFill>
                          <a:latin typeface="Calibri" pitchFamily="34" charset="0"/>
                          <a:ea typeface="Calibri" pitchFamily="34" charset="-122"/>
                          <a:cs typeface="Calibri" pitchFamily="34" charset="-120"/>
                        </a:rPr>
                        <a:t>No funcional</a:t>
                      </a:r>
                      <a:endParaRPr lang="en-US" sz="1700" dirty="0">
                        <a:latin typeface="Calibri" charset="0"/>
                        <a:ea typeface="Calibri" charset="0"/>
                        <a:cs typeface="Calibri" charset="0"/>
                      </a:endParaRPr>
                    </a:p>
                  </a:txBody>
                  <a:tcPr marL="109728" marR="109728"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FFFFFF"/>
                    </a:solidFill>
                  </a:tcPr>
                </a:tc>
                <a:tc>
                  <a:txBody>
                    <a:bodyPr/>
                    <a:lstStyle/>
                    <a:p>
                      <a:pPr marL="0" indent="0">
                        <a:buNone/>
                      </a:pPr>
                      <a:r>
                        <a:rPr lang="en-US" sz="1700" b="1" dirty="0">
                          <a:solidFill>
                            <a:srgbClr val="C77F14"/>
                          </a:solidFill>
                          <a:latin typeface="Calibri" pitchFamily="34" charset="0"/>
                          <a:ea typeface="Calibri" pitchFamily="34" charset="-122"/>
                          <a:cs typeface="Calibri" pitchFamily="34" charset="-120"/>
                        </a:rPr>
                        <a:t>Debería</a:t>
                      </a:r>
                      <a:endParaRPr lang="en-US" sz="1700" dirty="0">
                        <a:latin typeface="Calibri" charset="0"/>
                        <a:ea typeface="Calibri" charset="0"/>
                        <a:cs typeface="Calibri" charset="0"/>
                      </a:endParaRPr>
                    </a:p>
                  </a:txBody>
                  <a:tcPr marL="109728" marR="109728"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4" name="Text 1"/>
          <p:cNvSpPr txBox="1"/>
          <p:nvPr/>
        </p:nvSpPr>
        <p:spPr>
          <a:xfrm>
            <a:off x="548640" y="5852160"/>
            <a:ext cx="11064240" cy="411480"/>
          </a:xfrm>
          <a:prstGeom prst="rect">
            <a:avLst/>
          </a:prstGeom>
          <a:noFill/>
          <a:ln/>
        </p:spPr>
        <p:txBody>
          <a:bodyPr wrap="square" lIns="0" tIns="0" rIns="0" bIns="0" rtlCol="0" anchor="t"/>
          <a:lstStyle/>
          <a:p>
            <a:pPr marL="0" indent="0">
              <a:buNone/>
            </a:pPr>
            <a:r>
              <a:rPr lang="en-US" sz="1600" i="1" dirty="0">
                <a:solidFill>
                  <a:srgbClr val="5B6770"/>
                </a:solidFill>
                <a:latin typeface="Calibri" pitchFamily="34" charset="0"/>
                <a:ea typeface="Calibri" pitchFamily="34" charset="-122"/>
                <a:cs typeface="Calibri" pitchFamily="34" charset="-120"/>
              </a:rPr>
              <a:t>Cada requerimiento tiene identificador, redacción singular y verificable, tipo y prioridad.</a:t>
            </a:r>
            <a:endParaRPr lang="en-US" sz="1600" dirty="0"/>
          </a:p>
        </p:txBody>
      </p:sp>
      <p:sp>
        <p:nvSpPr>
          <p:cNvPr id="5" name="Text 2"/>
          <p:cNvSpPr txBox="1"/>
          <p:nvPr/>
        </p:nvSpPr>
        <p:spPr>
          <a:xfrm>
            <a:off x="11155680" y="6355080"/>
            <a:ext cx="548640" cy="274320"/>
          </a:xfrm>
          <a:prstGeom prst="rect">
            <a:avLst/>
          </a:prstGeom>
          <a:noFill/>
          <a:ln/>
        </p:spPr>
        <p:txBody>
          <a:bodyPr wrap="square" lIns="0" tIns="0" rIns="0" bIns="0" rtlCol="0" anchor="ctr"/>
          <a:lstStyle/>
          <a:p>
            <a:pPr marL="0" indent="0" algn="r">
              <a:buNone/>
            </a:pPr>
            <a:r>
              <a:rPr lang="en-US" sz="1100" dirty="0">
                <a:solidFill>
                  <a:srgbClr val="5B6770"/>
                </a:solidFill>
                <a:latin typeface="Calibri" pitchFamily="34" charset="0"/>
                <a:ea typeface="Calibri" pitchFamily="34" charset="-122"/>
                <a:cs typeface="Calibri" pitchFamily="34" charset="-120"/>
              </a:rPr>
              <a:t>14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777240"/>
          </a:xfrm>
          <a:prstGeom prst="rect">
            <a:avLst/>
          </a:prstGeom>
          <a:noFill/>
          <a:ln/>
        </p:spPr>
        <p:txBody>
          <a:bodyPr wrap="square" lIns="0" tIns="0" rIns="0" bIns="0" rtlCol="0" anchor="ctr"/>
          <a:lstStyle/>
          <a:p>
            <a:pPr marL="0" indent="0">
              <a:buNone/>
            </a:pPr>
            <a:r>
              <a:rPr lang="en-US" sz="3400" b="1" dirty="0">
                <a:solidFill>
                  <a:srgbClr val="0B2545"/>
                </a:solidFill>
                <a:latin typeface="Cambria" pitchFamily="34" charset="0"/>
                <a:ea typeface="Cambria" pitchFamily="34" charset="-122"/>
                <a:cs typeface="Cambria" pitchFamily="34" charset="-120"/>
              </a:rPr>
              <a:t>Priorización con la técnica MoSCoW</a:t>
            </a:r>
            <a:endParaRPr lang="en-US" sz="3400" dirty="0"/>
          </a:p>
        </p:txBody>
      </p:sp>
      <p:sp>
        <p:nvSpPr>
          <p:cNvPr id="3" name="Shape 1"/>
          <p:cNvSpPr/>
          <p:nvPr/>
        </p:nvSpPr>
        <p:spPr>
          <a:xfrm>
            <a:off x="548640" y="1371600"/>
            <a:ext cx="5440680" cy="2057400"/>
          </a:xfrm>
          <a:prstGeom prst="roundRect">
            <a:avLst>
              <a:gd name="adj" fmla="val 5333"/>
            </a:avLst>
          </a:prstGeom>
          <a:solidFill>
            <a:srgbClr val="D1495B"/>
          </a:solidFill>
          <a:ln w="9525">
            <a:solidFill>
              <a:srgbClr val="D1495B"/>
            </a:solidFill>
            <a:prstDash val="solid"/>
          </a:ln>
        </p:spPr>
      </p:sp>
      <p:sp>
        <p:nvSpPr>
          <p:cNvPr id="4" name="Text 2"/>
          <p:cNvSpPr txBox="1"/>
          <p:nvPr/>
        </p:nvSpPr>
        <p:spPr>
          <a:xfrm>
            <a:off x="868680" y="1554480"/>
            <a:ext cx="4754880" cy="54864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Must have</a:t>
            </a:r>
            <a:endParaRPr lang="en-US" sz="2800" dirty="0"/>
          </a:p>
        </p:txBody>
      </p:sp>
      <p:sp>
        <p:nvSpPr>
          <p:cNvPr id="5" name="Text 3"/>
          <p:cNvSpPr txBox="1"/>
          <p:nvPr/>
        </p:nvSpPr>
        <p:spPr>
          <a:xfrm>
            <a:off x="868680" y="2103120"/>
            <a:ext cx="4754880" cy="365760"/>
          </a:xfrm>
          <a:prstGeom prst="rect">
            <a:avLst/>
          </a:prstGeom>
          <a:noFill/>
          <a:ln/>
        </p:spPr>
        <p:txBody>
          <a:bodyPr wrap="square" lIns="0" tIns="0" rIns="0" bIns="0" rtlCol="0" anchor="t"/>
          <a:lstStyle/>
          <a:p>
            <a:pPr marL="0" indent="0">
              <a:buNone/>
            </a:pPr>
            <a:r>
              <a:rPr lang="en-US" sz="1600" i="1" dirty="0">
                <a:solidFill>
                  <a:srgbClr val="FFFFFF"/>
                </a:solidFill>
                <a:latin typeface="Calibri" pitchFamily="34" charset="0"/>
                <a:ea typeface="Calibri" pitchFamily="34" charset="-122"/>
                <a:cs typeface="Calibri" pitchFamily="34" charset="-120"/>
              </a:rPr>
              <a:t>Debe tener</a:t>
            </a:r>
            <a:endParaRPr lang="en-US" sz="1600" dirty="0"/>
          </a:p>
        </p:txBody>
      </p:sp>
      <p:sp>
        <p:nvSpPr>
          <p:cNvPr id="6" name="Text 4"/>
          <p:cNvSpPr txBox="1"/>
          <p:nvPr/>
        </p:nvSpPr>
        <p:spPr>
          <a:xfrm>
            <a:off x="868680" y="2514600"/>
            <a:ext cx="4754880" cy="777240"/>
          </a:xfrm>
          <a:prstGeom prst="rect">
            <a:avLst/>
          </a:prstGeom>
          <a:noFill/>
          <a:ln/>
        </p:spPr>
        <p:txBody>
          <a:bodyPr wrap="square" lIns="0" tIns="0" rIns="0" bIns="0" rtlCol="0" anchor="t"/>
          <a:lstStyle/>
          <a:p>
            <a:pPr marL="0" indent="0">
              <a:buNone/>
            </a:pPr>
            <a:r>
              <a:rPr lang="en-US" sz="2000" dirty="0">
                <a:solidFill>
                  <a:srgbClr val="FFFFFF"/>
                </a:solidFill>
                <a:latin typeface="Calibri" pitchFamily="34" charset="0"/>
                <a:ea typeface="Calibri" pitchFamily="34" charset="-122"/>
                <a:cs typeface="Calibri" pitchFamily="34" charset="-120"/>
              </a:rPr>
              <a:t>Indispensable: registrar préstamos y devoluciones</a:t>
            </a:r>
            <a:endParaRPr lang="en-US" sz="2000" dirty="0"/>
          </a:p>
        </p:txBody>
      </p:sp>
      <p:sp>
        <p:nvSpPr>
          <p:cNvPr id="7" name="Shape 5"/>
          <p:cNvSpPr/>
          <p:nvPr/>
        </p:nvSpPr>
        <p:spPr>
          <a:xfrm>
            <a:off x="6172200" y="1371600"/>
            <a:ext cx="5440680" cy="2057400"/>
          </a:xfrm>
          <a:prstGeom prst="roundRect">
            <a:avLst>
              <a:gd name="adj" fmla="val 5333"/>
            </a:avLst>
          </a:prstGeom>
          <a:solidFill>
            <a:srgbClr val="F2A541"/>
          </a:solidFill>
          <a:ln w="9525">
            <a:solidFill>
              <a:srgbClr val="F2A541"/>
            </a:solidFill>
            <a:prstDash val="solid"/>
          </a:ln>
        </p:spPr>
      </p:sp>
      <p:sp>
        <p:nvSpPr>
          <p:cNvPr id="8" name="Text 6"/>
          <p:cNvSpPr txBox="1"/>
          <p:nvPr/>
        </p:nvSpPr>
        <p:spPr>
          <a:xfrm>
            <a:off x="6492240" y="1554480"/>
            <a:ext cx="4754880" cy="548640"/>
          </a:xfrm>
          <a:prstGeom prst="rect">
            <a:avLst/>
          </a:prstGeom>
          <a:noFill/>
          <a:ln/>
        </p:spPr>
        <p:txBody>
          <a:bodyPr wrap="square" lIns="0" tIns="0" rIns="0" bIns="0" rtlCol="0" anchor="ctr"/>
          <a:lstStyle/>
          <a:p>
            <a:pPr marL="0" indent="0">
              <a:buNone/>
            </a:pPr>
            <a:r>
              <a:rPr lang="en-US" sz="2800" b="1" dirty="0">
                <a:solidFill>
                  <a:srgbClr val="0B2545"/>
                </a:solidFill>
                <a:latin typeface="Cambria" pitchFamily="34" charset="0"/>
                <a:ea typeface="Cambria" pitchFamily="34" charset="-122"/>
                <a:cs typeface="Cambria" pitchFamily="34" charset="-120"/>
              </a:rPr>
              <a:t>Should have</a:t>
            </a:r>
            <a:endParaRPr lang="en-US" sz="2800" dirty="0"/>
          </a:p>
        </p:txBody>
      </p:sp>
      <p:sp>
        <p:nvSpPr>
          <p:cNvPr id="9" name="Text 7"/>
          <p:cNvSpPr txBox="1"/>
          <p:nvPr/>
        </p:nvSpPr>
        <p:spPr>
          <a:xfrm>
            <a:off x="6492240" y="2103120"/>
            <a:ext cx="4754880" cy="365760"/>
          </a:xfrm>
          <a:prstGeom prst="rect">
            <a:avLst/>
          </a:prstGeom>
          <a:noFill/>
          <a:ln/>
        </p:spPr>
        <p:txBody>
          <a:bodyPr wrap="square" lIns="0" tIns="0" rIns="0" bIns="0" rtlCol="0" anchor="t"/>
          <a:lstStyle/>
          <a:p>
            <a:pPr marL="0" indent="0">
              <a:buNone/>
            </a:pPr>
            <a:r>
              <a:rPr lang="en-US" sz="1600" i="1" dirty="0">
                <a:solidFill>
                  <a:srgbClr val="0B2545"/>
                </a:solidFill>
                <a:latin typeface="Calibri" pitchFamily="34" charset="0"/>
                <a:ea typeface="Calibri" pitchFamily="34" charset="-122"/>
                <a:cs typeface="Calibri" pitchFamily="34" charset="-120"/>
              </a:rPr>
              <a:t>Debería tener</a:t>
            </a:r>
            <a:endParaRPr lang="en-US" sz="1600" dirty="0"/>
          </a:p>
        </p:txBody>
      </p:sp>
      <p:sp>
        <p:nvSpPr>
          <p:cNvPr id="10" name="Text 8"/>
          <p:cNvSpPr txBox="1"/>
          <p:nvPr/>
        </p:nvSpPr>
        <p:spPr>
          <a:xfrm>
            <a:off x="6492240" y="2514600"/>
            <a:ext cx="4754880" cy="777240"/>
          </a:xfrm>
          <a:prstGeom prst="rect">
            <a:avLst/>
          </a:prstGeom>
          <a:noFill/>
          <a:ln/>
        </p:spPr>
        <p:txBody>
          <a:bodyPr wrap="square" lIns="0" tIns="0" rIns="0" bIns="0" rtlCol="0" anchor="t"/>
          <a:lstStyle/>
          <a:p>
            <a:pPr marL="0" indent="0">
              <a:buNone/>
            </a:pPr>
            <a:r>
              <a:rPr lang="en-US" sz="2000" dirty="0">
                <a:solidFill>
                  <a:srgbClr val="0B2545"/>
                </a:solidFill>
                <a:latin typeface="Calibri" pitchFamily="34" charset="0"/>
                <a:ea typeface="Calibri" pitchFamily="34" charset="-122"/>
                <a:cs typeface="Calibri" pitchFamily="34" charset="-120"/>
              </a:rPr>
              <a:t>Importante: recordatorios por correo electrónico</a:t>
            </a:r>
            <a:endParaRPr lang="en-US" sz="2000" dirty="0"/>
          </a:p>
        </p:txBody>
      </p:sp>
      <p:sp>
        <p:nvSpPr>
          <p:cNvPr id="11" name="Shape 9"/>
          <p:cNvSpPr/>
          <p:nvPr/>
        </p:nvSpPr>
        <p:spPr>
          <a:xfrm>
            <a:off x="548640" y="3611880"/>
            <a:ext cx="5440680" cy="2057400"/>
          </a:xfrm>
          <a:prstGeom prst="roundRect">
            <a:avLst>
              <a:gd name="adj" fmla="val 5333"/>
            </a:avLst>
          </a:prstGeom>
          <a:solidFill>
            <a:srgbClr val="1B7F79"/>
          </a:solidFill>
          <a:ln w="9525">
            <a:solidFill>
              <a:srgbClr val="1B7F79"/>
            </a:solidFill>
            <a:prstDash val="solid"/>
          </a:ln>
        </p:spPr>
      </p:sp>
      <p:sp>
        <p:nvSpPr>
          <p:cNvPr id="12" name="Text 10"/>
          <p:cNvSpPr txBox="1"/>
          <p:nvPr/>
        </p:nvSpPr>
        <p:spPr>
          <a:xfrm>
            <a:off x="868680" y="3794760"/>
            <a:ext cx="4754880" cy="54864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Could have</a:t>
            </a:r>
            <a:endParaRPr lang="en-US" sz="2800" dirty="0"/>
          </a:p>
        </p:txBody>
      </p:sp>
      <p:sp>
        <p:nvSpPr>
          <p:cNvPr id="13" name="Text 11"/>
          <p:cNvSpPr txBox="1"/>
          <p:nvPr/>
        </p:nvSpPr>
        <p:spPr>
          <a:xfrm>
            <a:off x="868680" y="4343400"/>
            <a:ext cx="4754880" cy="365760"/>
          </a:xfrm>
          <a:prstGeom prst="rect">
            <a:avLst/>
          </a:prstGeom>
          <a:noFill/>
          <a:ln/>
        </p:spPr>
        <p:txBody>
          <a:bodyPr wrap="square" lIns="0" tIns="0" rIns="0" bIns="0" rtlCol="0" anchor="t"/>
          <a:lstStyle/>
          <a:p>
            <a:pPr marL="0" indent="0">
              <a:buNone/>
            </a:pPr>
            <a:r>
              <a:rPr lang="en-US" sz="1600" i="1" dirty="0">
                <a:solidFill>
                  <a:srgbClr val="FFFFFF"/>
                </a:solidFill>
                <a:latin typeface="Calibri" pitchFamily="34" charset="0"/>
                <a:ea typeface="Calibri" pitchFamily="34" charset="-122"/>
                <a:cs typeface="Calibri" pitchFamily="34" charset="-120"/>
              </a:rPr>
              <a:t>Podría tener</a:t>
            </a:r>
            <a:endParaRPr lang="en-US" sz="1600" dirty="0"/>
          </a:p>
        </p:txBody>
      </p:sp>
      <p:sp>
        <p:nvSpPr>
          <p:cNvPr id="14" name="Text 12"/>
          <p:cNvSpPr txBox="1"/>
          <p:nvPr/>
        </p:nvSpPr>
        <p:spPr>
          <a:xfrm>
            <a:off x="868680" y="4754880"/>
            <a:ext cx="4754880" cy="777240"/>
          </a:xfrm>
          <a:prstGeom prst="rect">
            <a:avLst/>
          </a:prstGeom>
          <a:noFill/>
          <a:ln/>
        </p:spPr>
        <p:txBody>
          <a:bodyPr wrap="square" lIns="0" tIns="0" rIns="0" bIns="0" rtlCol="0" anchor="t"/>
          <a:lstStyle/>
          <a:p>
            <a:pPr marL="0" indent="0">
              <a:buNone/>
            </a:pPr>
            <a:r>
              <a:rPr lang="en-US" sz="2000" dirty="0">
                <a:solidFill>
                  <a:srgbClr val="FFFFFF"/>
                </a:solidFill>
                <a:latin typeface="Calibri" pitchFamily="34" charset="0"/>
                <a:ea typeface="Calibri" pitchFamily="34" charset="-122"/>
                <a:cs typeface="Calibri" pitchFamily="34" charset="-120"/>
              </a:rPr>
              <a:t>Deseable: cálculo automático de multas</a:t>
            </a:r>
            <a:endParaRPr lang="en-US" sz="2000" dirty="0"/>
          </a:p>
        </p:txBody>
      </p:sp>
      <p:sp>
        <p:nvSpPr>
          <p:cNvPr id="15" name="Shape 13"/>
          <p:cNvSpPr/>
          <p:nvPr/>
        </p:nvSpPr>
        <p:spPr>
          <a:xfrm>
            <a:off x="6172200" y="3611880"/>
            <a:ext cx="5440680" cy="2057400"/>
          </a:xfrm>
          <a:prstGeom prst="roundRect">
            <a:avLst>
              <a:gd name="adj" fmla="val 5333"/>
            </a:avLst>
          </a:prstGeom>
          <a:solidFill>
            <a:srgbClr val="5B6770"/>
          </a:solidFill>
          <a:ln w="9525">
            <a:solidFill>
              <a:srgbClr val="5B6770"/>
            </a:solidFill>
            <a:prstDash val="solid"/>
          </a:ln>
        </p:spPr>
      </p:sp>
      <p:sp>
        <p:nvSpPr>
          <p:cNvPr id="16" name="Text 14"/>
          <p:cNvSpPr txBox="1"/>
          <p:nvPr/>
        </p:nvSpPr>
        <p:spPr>
          <a:xfrm>
            <a:off x="6492240" y="3794760"/>
            <a:ext cx="4754880" cy="54864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Won’t have</a:t>
            </a:r>
            <a:endParaRPr lang="en-US" sz="2800" dirty="0"/>
          </a:p>
        </p:txBody>
      </p:sp>
      <p:sp>
        <p:nvSpPr>
          <p:cNvPr id="17" name="Text 15"/>
          <p:cNvSpPr txBox="1"/>
          <p:nvPr/>
        </p:nvSpPr>
        <p:spPr>
          <a:xfrm>
            <a:off x="6492240" y="4343400"/>
            <a:ext cx="4754880" cy="365760"/>
          </a:xfrm>
          <a:prstGeom prst="rect">
            <a:avLst/>
          </a:prstGeom>
          <a:noFill/>
          <a:ln/>
        </p:spPr>
        <p:txBody>
          <a:bodyPr wrap="square" lIns="0" tIns="0" rIns="0" bIns="0" rtlCol="0" anchor="t"/>
          <a:lstStyle/>
          <a:p>
            <a:pPr marL="0" indent="0">
              <a:buNone/>
            </a:pPr>
            <a:r>
              <a:rPr lang="en-US" sz="1600" i="1" dirty="0">
                <a:solidFill>
                  <a:srgbClr val="FFFFFF"/>
                </a:solidFill>
                <a:latin typeface="Calibri" pitchFamily="34" charset="0"/>
                <a:ea typeface="Calibri" pitchFamily="34" charset="-122"/>
                <a:cs typeface="Calibri" pitchFamily="34" charset="-120"/>
              </a:rPr>
              <a:t>No por ahora</a:t>
            </a:r>
            <a:endParaRPr lang="en-US" sz="1600" dirty="0"/>
          </a:p>
        </p:txBody>
      </p:sp>
      <p:sp>
        <p:nvSpPr>
          <p:cNvPr id="18" name="Text 16"/>
          <p:cNvSpPr txBox="1"/>
          <p:nvPr/>
        </p:nvSpPr>
        <p:spPr>
          <a:xfrm>
            <a:off x="6492240" y="4754880"/>
            <a:ext cx="4754880" cy="777240"/>
          </a:xfrm>
          <a:prstGeom prst="rect">
            <a:avLst/>
          </a:prstGeom>
          <a:noFill/>
          <a:ln/>
        </p:spPr>
        <p:txBody>
          <a:bodyPr wrap="square" lIns="0" tIns="0" rIns="0" bIns="0" rtlCol="0" anchor="t"/>
          <a:lstStyle/>
          <a:p>
            <a:pPr marL="0" indent="0">
              <a:buNone/>
            </a:pPr>
            <a:r>
              <a:rPr lang="en-US" sz="2000" dirty="0">
                <a:solidFill>
                  <a:srgbClr val="FFFFFF"/>
                </a:solidFill>
                <a:latin typeface="Calibri" pitchFamily="34" charset="0"/>
                <a:ea typeface="Calibri" pitchFamily="34" charset="-122"/>
                <a:cs typeface="Calibri" pitchFamily="34" charset="-120"/>
              </a:rPr>
              <a:t>Fuera de esta entrega: aplicación móvil nativa</a:t>
            </a:r>
            <a:endParaRPr lang="en-US" sz="2000" dirty="0"/>
          </a:p>
        </p:txBody>
      </p:sp>
      <p:sp>
        <p:nvSpPr>
          <p:cNvPr id="19" name="Text 17"/>
          <p:cNvSpPr txBox="1"/>
          <p:nvPr/>
        </p:nvSpPr>
        <p:spPr>
          <a:xfrm>
            <a:off x="548640" y="6355080"/>
            <a:ext cx="10424160" cy="274320"/>
          </a:xfrm>
          <a:prstGeom prst="rect">
            <a:avLst/>
          </a:prstGeom>
          <a:noFill/>
          <a:ln/>
        </p:spPr>
        <p:txBody>
          <a:bodyPr wrap="square" lIns="0" tIns="0" rIns="0" bIns="0" rtlCol="0" anchor="ctr"/>
          <a:lstStyle/>
          <a:p>
            <a:pPr marL="0" indent="0">
              <a:buNone/>
            </a:pPr>
            <a:endParaRPr lang="en-US" sz="1050" dirty="0"/>
          </a:p>
        </p:txBody>
      </p:sp>
      <p:sp>
        <p:nvSpPr>
          <p:cNvPr id="20" name="Text 18"/>
          <p:cNvSpPr txBox="1"/>
          <p:nvPr/>
        </p:nvSpPr>
        <p:spPr>
          <a:xfrm>
            <a:off x="11155680" y="6355080"/>
            <a:ext cx="548640" cy="274320"/>
          </a:xfrm>
          <a:prstGeom prst="rect">
            <a:avLst/>
          </a:prstGeom>
          <a:noFill/>
          <a:ln/>
        </p:spPr>
        <p:txBody>
          <a:bodyPr wrap="square" lIns="0" tIns="0" rIns="0" bIns="0" rtlCol="0" anchor="ctr"/>
          <a:lstStyle/>
          <a:p>
            <a:pPr marL="0" indent="0" algn="r">
              <a:buNone/>
            </a:pPr>
            <a:r>
              <a:rPr lang="en-US" sz="1100" dirty="0">
                <a:solidFill>
                  <a:srgbClr val="5B6770"/>
                </a:solidFill>
                <a:latin typeface="Calibri" pitchFamily="34" charset="0"/>
                <a:ea typeface="Calibri" pitchFamily="34" charset="-122"/>
                <a:cs typeface="Calibri" pitchFamily="34" charset="-120"/>
              </a:rPr>
              <a:t>15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777240"/>
          </a:xfrm>
          <a:prstGeom prst="rect">
            <a:avLst/>
          </a:prstGeom>
          <a:noFill/>
          <a:ln/>
        </p:spPr>
        <p:txBody>
          <a:bodyPr wrap="square" lIns="0" tIns="0" rIns="0" bIns="0" rtlCol="0" anchor="ctr"/>
          <a:lstStyle/>
          <a:p>
            <a:pPr marL="0" indent="0">
              <a:buNone/>
            </a:pPr>
            <a:r>
              <a:rPr lang="en-US" sz="3400" b="1" dirty="0">
                <a:solidFill>
                  <a:srgbClr val="0B2545"/>
                </a:solidFill>
                <a:latin typeface="Cambria" pitchFamily="34" charset="0"/>
                <a:ea typeface="Cambria" pitchFamily="34" charset="-122"/>
                <a:cs typeface="Cambria" pitchFamily="34" charset="-120"/>
              </a:rPr>
              <a:t>Validar y controlar los cambios</a:t>
            </a:r>
            <a:endParaRPr lang="en-US" sz="3400" dirty="0"/>
          </a:p>
        </p:txBody>
      </p:sp>
      <p:sp>
        <p:nvSpPr>
          <p:cNvPr id="3" name="Shape 1"/>
          <p:cNvSpPr/>
          <p:nvPr/>
        </p:nvSpPr>
        <p:spPr>
          <a:xfrm>
            <a:off x="548640" y="1371600"/>
            <a:ext cx="5394960" cy="4754880"/>
          </a:xfrm>
          <a:prstGeom prst="roundRect">
            <a:avLst>
              <a:gd name="adj" fmla="val 2308"/>
            </a:avLst>
          </a:prstGeom>
          <a:solidFill>
            <a:srgbClr val="EAF2F1"/>
          </a:solidFill>
          <a:ln w="9525">
            <a:solidFill>
              <a:srgbClr val="D5E3E1"/>
            </a:solidFill>
            <a:prstDash val="solid"/>
          </a:ln>
        </p:spPr>
      </p:sp>
      <p:sp>
        <p:nvSpPr>
          <p:cNvPr id="4" name="Shape 2"/>
          <p:cNvSpPr/>
          <p:nvPr/>
        </p:nvSpPr>
        <p:spPr>
          <a:xfrm>
            <a:off x="868680" y="1645920"/>
            <a:ext cx="914400" cy="914400"/>
          </a:xfrm>
          <a:prstGeom prst="ellipse">
            <a:avLst/>
          </a:prstGeom>
          <a:solidFill>
            <a:srgbClr val="1B7F79"/>
          </a:solidFill>
          <a:ln w="12700">
            <a:solidFill>
              <a:srgbClr val="1B7F79"/>
            </a:solidFill>
            <a:prstDash val="solid"/>
          </a:ln>
        </p:spPr>
      </p:sp>
      <p:pic>
        <p:nvPicPr>
          <p:cNvPr id="5" name="Image 0" descr="preencoded.png"/>
          <p:cNvPicPr>
            <a:picLocks noChangeAspect="1"/>
          </p:cNvPicPr>
          <p:nvPr/>
        </p:nvPicPr>
        <p:blipFill>
          <a:blip r:embed="rId3"/>
          <a:stretch>
            <a:fillRect/>
          </a:stretch>
        </p:blipFill>
        <p:spPr>
          <a:xfrm>
            <a:off x="1088136" y="1865376"/>
            <a:ext cx="475488" cy="475488"/>
          </a:xfrm>
          <a:prstGeom prst="rect">
            <a:avLst/>
          </a:prstGeom>
        </p:spPr>
      </p:pic>
      <p:sp>
        <p:nvSpPr>
          <p:cNvPr id="6" name="Text 3"/>
          <p:cNvSpPr txBox="1"/>
          <p:nvPr/>
        </p:nvSpPr>
        <p:spPr>
          <a:xfrm>
            <a:off x="1965960" y="1645920"/>
            <a:ext cx="3749040" cy="914400"/>
          </a:xfrm>
          <a:prstGeom prst="rect">
            <a:avLst/>
          </a:prstGeom>
          <a:noFill/>
          <a:ln/>
        </p:spPr>
        <p:txBody>
          <a:bodyPr wrap="square" lIns="0" tIns="0" rIns="0" bIns="0" rtlCol="0" anchor="ctr"/>
          <a:lstStyle/>
          <a:p>
            <a:pPr marL="0" indent="0">
              <a:buNone/>
            </a:pPr>
            <a:r>
              <a:rPr lang="en-US" sz="2000" b="1" dirty="0">
                <a:solidFill>
                  <a:srgbClr val="0B2545"/>
                </a:solidFill>
                <a:latin typeface="Calibri" pitchFamily="34" charset="0"/>
                <a:ea typeface="Calibri" pitchFamily="34" charset="-122"/>
                <a:cs typeface="Calibri" pitchFamily="34" charset="-120"/>
              </a:rPr>
              <a:t>Validación: ¿es el sistema correcto?</a:t>
            </a:r>
            <a:endParaRPr lang="en-US" sz="2000" dirty="0"/>
          </a:p>
        </p:txBody>
      </p:sp>
      <p:sp>
        <p:nvSpPr>
          <p:cNvPr id="7" name="Text 4"/>
          <p:cNvSpPr txBox="1"/>
          <p:nvPr/>
        </p:nvSpPr>
        <p:spPr>
          <a:xfrm>
            <a:off x="960120" y="2926080"/>
            <a:ext cx="4663440" cy="3017520"/>
          </a:xfrm>
          <a:prstGeom prst="rect">
            <a:avLst/>
          </a:prstGeom>
          <a:noFill/>
          <a:ln/>
        </p:spPr>
        <p:txBody>
          <a:bodyPr wrap="square" lIns="0" tIns="0" rIns="0" bIns="0" rtlCol="0" anchor="t"/>
          <a:lstStyle/>
          <a:p>
            <a:pPr marL="203200" indent="-203200">
              <a:spcAft>
                <a:spcPts val="1800"/>
              </a:spcAft>
              <a:buSzPct val="100000"/>
              <a:buChar char="•"/>
            </a:pPr>
            <a:r>
              <a:rPr lang="en-US" sz="2100" dirty="0">
                <a:solidFill>
                  <a:srgbClr val="1F2933"/>
                </a:solidFill>
                <a:latin typeface="Calibri" pitchFamily="34" charset="0"/>
                <a:ea typeface="Calibri" pitchFamily="34" charset="-122"/>
                <a:cs typeface="Calibri" pitchFamily="34" charset="-120"/>
              </a:rPr>
              <a:t>Revisiones e inspecciones con los actores</a:t>
            </a:r>
            <a:endParaRPr lang="en-US" sz="2100" dirty="0"/>
          </a:p>
          <a:p>
            <a:pPr marL="203200" indent="-203200">
              <a:spcAft>
                <a:spcPts val="1800"/>
              </a:spcAft>
              <a:buSzPct val="100000"/>
              <a:buChar char="•"/>
            </a:pPr>
            <a:r>
              <a:rPr lang="en-US" sz="2100" dirty="0">
                <a:solidFill>
                  <a:srgbClr val="1F2933"/>
                </a:solidFill>
                <a:latin typeface="Calibri" pitchFamily="34" charset="0"/>
                <a:ea typeface="Calibri" pitchFamily="34" charset="-122"/>
                <a:cs typeface="Calibri" pitchFamily="34" charset="-120"/>
              </a:rPr>
              <a:t>Prototipos para probar la idea</a:t>
            </a:r>
            <a:endParaRPr lang="en-US" sz="2100" dirty="0"/>
          </a:p>
          <a:p>
            <a:pPr marL="203200" indent="-203200">
              <a:spcAft>
                <a:spcPts val="1800"/>
              </a:spcAft>
              <a:buSzPct val="100000"/>
              <a:buChar char="•"/>
            </a:pPr>
            <a:r>
              <a:rPr lang="en-US" sz="2100" dirty="0">
                <a:solidFill>
                  <a:srgbClr val="1F2933"/>
                </a:solidFill>
                <a:latin typeface="Calibri" pitchFamily="34" charset="0"/>
                <a:ea typeface="Calibri" pitchFamily="34" charset="-122"/>
                <a:cs typeface="Calibri" pitchFamily="34" charset="-120"/>
              </a:rPr>
              <a:t>Casos de prueba desde el inicio</a:t>
            </a:r>
            <a:endParaRPr lang="en-US" sz="2100" dirty="0"/>
          </a:p>
          <a:p>
            <a:pPr marL="203200" indent="-203200">
              <a:spcAft>
                <a:spcPts val="1800"/>
              </a:spcAft>
              <a:buSzPct val="100000"/>
              <a:buChar char="•"/>
            </a:pPr>
            <a:r>
              <a:rPr lang="en-US" sz="2100" dirty="0">
                <a:solidFill>
                  <a:srgbClr val="1F2933"/>
                </a:solidFill>
                <a:latin typeface="Calibri" pitchFamily="34" charset="0"/>
                <a:ea typeface="Calibri" pitchFamily="34" charset="-122"/>
                <a:cs typeface="Calibri" pitchFamily="34" charset="-120"/>
              </a:rPr>
              <a:t>Recorridos de casos de uso</a:t>
            </a:r>
            <a:endParaRPr lang="en-US" sz="2100" dirty="0"/>
          </a:p>
        </p:txBody>
      </p:sp>
      <p:sp>
        <p:nvSpPr>
          <p:cNvPr id="8" name="Shape 5"/>
          <p:cNvSpPr/>
          <p:nvPr/>
        </p:nvSpPr>
        <p:spPr>
          <a:xfrm>
            <a:off x="6217920" y="1371600"/>
            <a:ext cx="5394960" cy="4754880"/>
          </a:xfrm>
          <a:prstGeom prst="roundRect">
            <a:avLst>
              <a:gd name="adj" fmla="val 2308"/>
            </a:avLst>
          </a:prstGeom>
          <a:solidFill>
            <a:srgbClr val="EAF2F1"/>
          </a:solidFill>
          <a:ln w="9525">
            <a:solidFill>
              <a:srgbClr val="D5E3E1"/>
            </a:solidFill>
            <a:prstDash val="solid"/>
          </a:ln>
        </p:spPr>
      </p:sp>
      <p:sp>
        <p:nvSpPr>
          <p:cNvPr id="9" name="Shape 6"/>
          <p:cNvSpPr/>
          <p:nvPr/>
        </p:nvSpPr>
        <p:spPr>
          <a:xfrm>
            <a:off x="6537960" y="1645920"/>
            <a:ext cx="914400" cy="914400"/>
          </a:xfrm>
          <a:prstGeom prst="ellipse">
            <a:avLst/>
          </a:prstGeom>
          <a:solidFill>
            <a:srgbClr val="0B2545"/>
          </a:solidFill>
          <a:ln w="12700">
            <a:solidFill>
              <a:srgbClr val="0B2545"/>
            </a:solidFill>
            <a:prstDash val="solid"/>
          </a:ln>
        </p:spPr>
      </p:sp>
      <p:pic>
        <p:nvPicPr>
          <p:cNvPr id="10" name="Image 1" descr="preencoded.png"/>
          <p:cNvPicPr>
            <a:picLocks noChangeAspect="1"/>
          </p:cNvPicPr>
          <p:nvPr/>
        </p:nvPicPr>
        <p:blipFill>
          <a:blip r:embed="rId4"/>
          <a:stretch>
            <a:fillRect/>
          </a:stretch>
        </p:blipFill>
        <p:spPr>
          <a:xfrm>
            <a:off x="6757416" y="1865376"/>
            <a:ext cx="475488" cy="475488"/>
          </a:xfrm>
          <a:prstGeom prst="rect">
            <a:avLst/>
          </a:prstGeom>
        </p:spPr>
      </p:pic>
      <p:sp>
        <p:nvSpPr>
          <p:cNvPr id="11" name="Text 7"/>
          <p:cNvSpPr txBox="1"/>
          <p:nvPr/>
        </p:nvSpPr>
        <p:spPr>
          <a:xfrm>
            <a:off x="7635240" y="1645920"/>
            <a:ext cx="3749040" cy="914400"/>
          </a:xfrm>
          <a:prstGeom prst="rect">
            <a:avLst/>
          </a:prstGeom>
          <a:noFill/>
          <a:ln/>
        </p:spPr>
        <p:txBody>
          <a:bodyPr wrap="square" lIns="0" tIns="0" rIns="0" bIns="0" rtlCol="0" anchor="ctr"/>
          <a:lstStyle/>
          <a:p>
            <a:pPr marL="0" indent="0">
              <a:buNone/>
            </a:pPr>
            <a:r>
              <a:rPr lang="en-US" sz="2000" b="1" dirty="0">
                <a:solidFill>
                  <a:srgbClr val="0B2545"/>
                </a:solidFill>
                <a:latin typeface="Calibri" pitchFamily="34" charset="0"/>
                <a:ea typeface="Calibri" pitchFamily="34" charset="-122"/>
                <a:cs typeface="Calibri" pitchFamily="34" charset="-120"/>
              </a:rPr>
              <a:t>Cambios: ordenados, no evitados</a:t>
            </a:r>
            <a:endParaRPr lang="en-US" sz="2000" dirty="0"/>
          </a:p>
        </p:txBody>
      </p:sp>
      <p:sp>
        <p:nvSpPr>
          <p:cNvPr id="12" name="Text 8"/>
          <p:cNvSpPr txBox="1"/>
          <p:nvPr/>
        </p:nvSpPr>
        <p:spPr>
          <a:xfrm>
            <a:off x="6629400" y="2926080"/>
            <a:ext cx="4663440" cy="3017520"/>
          </a:xfrm>
          <a:prstGeom prst="rect">
            <a:avLst/>
          </a:prstGeom>
          <a:noFill/>
          <a:ln/>
        </p:spPr>
        <p:txBody>
          <a:bodyPr wrap="square" lIns="0" tIns="0" rIns="0" bIns="0" rtlCol="0" anchor="t"/>
          <a:lstStyle/>
          <a:p>
            <a:pPr marL="203200" indent="-203200">
              <a:spcAft>
                <a:spcPts val="1800"/>
              </a:spcAft>
              <a:buSzPct val="100000"/>
              <a:buChar char="•"/>
            </a:pPr>
            <a:r>
              <a:rPr lang="en-US" sz="2100" dirty="0">
                <a:solidFill>
                  <a:srgbClr val="1F2933"/>
                </a:solidFill>
                <a:latin typeface="Calibri" pitchFamily="34" charset="0"/>
                <a:ea typeface="Calibri" pitchFamily="34" charset="-122"/>
                <a:cs typeface="Calibri" pitchFamily="34" charset="-120"/>
              </a:rPr>
              <a:t>Línea base de requerimientos aprobados</a:t>
            </a:r>
            <a:endParaRPr lang="en-US" sz="2100" dirty="0"/>
          </a:p>
          <a:p>
            <a:pPr marL="203200" indent="-203200">
              <a:spcAft>
                <a:spcPts val="1800"/>
              </a:spcAft>
              <a:buSzPct val="100000"/>
              <a:buChar char="•"/>
            </a:pPr>
            <a:r>
              <a:rPr lang="en-US" sz="2100" dirty="0">
                <a:solidFill>
                  <a:srgbClr val="1F2933"/>
                </a:solidFill>
                <a:latin typeface="Calibri" pitchFamily="34" charset="0"/>
                <a:ea typeface="Calibri" pitchFamily="34" charset="-122"/>
                <a:cs typeface="Calibri" pitchFamily="34" charset="-120"/>
              </a:rPr>
              <a:t>Procedimiento para proponer y aprobar cambios</a:t>
            </a:r>
            <a:endParaRPr lang="en-US" sz="2100" dirty="0"/>
          </a:p>
          <a:p>
            <a:pPr marL="203200" indent="-203200">
              <a:spcAft>
                <a:spcPts val="1800"/>
              </a:spcAft>
              <a:buSzPct val="100000"/>
              <a:buChar char="•"/>
            </a:pPr>
            <a:r>
              <a:rPr lang="en-US" sz="2100" dirty="0">
                <a:solidFill>
                  <a:srgbClr val="1F2933"/>
                </a:solidFill>
                <a:latin typeface="Calibri" pitchFamily="34" charset="0"/>
                <a:ea typeface="Calibri" pitchFamily="34" charset="-122"/>
                <a:cs typeface="Calibri" pitchFamily="34" charset="-120"/>
              </a:rPr>
              <a:t>Matriz de trazabilidad: origen → diseño → prueba</a:t>
            </a:r>
            <a:endParaRPr lang="en-US" sz="2100" dirty="0"/>
          </a:p>
        </p:txBody>
      </p:sp>
      <p:sp>
        <p:nvSpPr>
          <p:cNvPr id="13" name="Text 9"/>
          <p:cNvSpPr txBox="1"/>
          <p:nvPr/>
        </p:nvSpPr>
        <p:spPr>
          <a:xfrm>
            <a:off x="11155680" y="6355080"/>
            <a:ext cx="548640" cy="274320"/>
          </a:xfrm>
          <a:prstGeom prst="rect">
            <a:avLst/>
          </a:prstGeom>
          <a:noFill/>
          <a:ln/>
        </p:spPr>
        <p:txBody>
          <a:bodyPr wrap="square" lIns="0" tIns="0" rIns="0" bIns="0" rtlCol="0" anchor="ctr"/>
          <a:lstStyle/>
          <a:p>
            <a:pPr marL="0" indent="0" algn="r">
              <a:buNone/>
            </a:pPr>
            <a:r>
              <a:rPr lang="en-US" sz="1100" dirty="0">
                <a:solidFill>
                  <a:srgbClr val="5B6770"/>
                </a:solidFill>
                <a:latin typeface="Calibri" pitchFamily="34" charset="0"/>
                <a:ea typeface="Calibri" pitchFamily="34" charset="-122"/>
                <a:cs typeface="Calibri" pitchFamily="34" charset="-120"/>
              </a:rPr>
              <a:t>16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777240"/>
          </a:xfrm>
          <a:prstGeom prst="rect">
            <a:avLst/>
          </a:prstGeom>
          <a:noFill/>
          <a:ln/>
        </p:spPr>
        <p:txBody>
          <a:bodyPr wrap="square" lIns="0" tIns="0" rIns="0" bIns="0" rtlCol="0" anchor="ctr"/>
          <a:lstStyle/>
          <a:p>
            <a:pPr marL="0" indent="0">
              <a:buNone/>
            </a:pPr>
            <a:r>
              <a:rPr lang="en-US" sz="3400" b="1" dirty="0">
                <a:solidFill>
                  <a:srgbClr val="0B2545"/>
                </a:solidFill>
                <a:latin typeface="Cambria" pitchFamily="34" charset="0"/>
                <a:ea typeface="Cambria" pitchFamily="34" charset="-122"/>
                <a:cs typeface="Cambria" pitchFamily="34" charset="-120"/>
              </a:rPr>
              <a:t>Enfoque tradicional vs. enfoque ágil</a:t>
            </a:r>
            <a:endParaRPr lang="en-US" sz="34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3840480"/>
        </p:xfrm>
        <a:graphic>
          <a:graphicData uri="http://schemas.openxmlformats.org/drawingml/2006/table">
            <a:tbl>
              <a:tblPr/>
              <a:tblGrid>
                <a:gridCol w="2286000">
                  <a:extLst>
                    <a:ext uri="{9D8B030D-6E8A-4147-A177-3AD203B41FA5}">
                      <a16:colId xmlns:a16="http://schemas.microsoft.com/office/drawing/2014/main" val="20000"/>
                    </a:ext>
                  </a:extLst>
                </a:gridCol>
                <a:gridCol w="4389120">
                  <a:extLst>
                    <a:ext uri="{9D8B030D-6E8A-4147-A177-3AD203B41FA5}">
                      <a16:colId xmlns:a16="http://schemas.microsoft.com/office/drawing/2014/main" val="20001"/>
                    </a:ext>
                  </a:extLst>
                </a:gridCol>
                <a:gridCol w="4389120">
                  <a:extLst>
                    <a:ext uri="{9D8B030D-6E8A-4147-A177-3AD203B41FA5}">
                      <a16:colId xmlns:a16="http://schemas.microsoft.com/office/drawing/2014/main" val="20002"/>
                    </a:ext>
                  </a:extLst>
                </a:gridCol>
              </a:tblGrid>
              <a:tr h="548640">
                <a:tc>
                  <a:txBody>
                    <a:bodyPr/>
                    <a:lstStyle/>
                    <a:p>
                      <a:pPr marL="0" indent="0">
                        <a:buNone/>
                      </a:pPr>
                      <a:r>
                        <a:rPr lang="en-US" sz="1700" b="1" dirty="0">
                          <a:solidFill>
                            <a:srgbClr val="FFFFFF"/>
                          </a:solidFill>
                          <a:latin typeface="Calibri" pitchFamily="34" charset="0"/>
                          <a:ea typeface="Calibri" pitchFamily="34" charset="-122"/>
                          <a:cs typeface="Calibri" pitchFamily="34" charset="-120"/>
                        </a:rPr>
                        <a:t>Aspecto</a:t>
                      </a:r>
                      <a:endParaRPr lang="en-US" sz="1700" dirty="0">
                        <a:latin typeface="Calibri" charset="0"/>
                        <a:ea typeface="Calibri" charset="0"/>
                        <a:cs typeface="Calibri" charset="0"/>
                      </a:endParaRPr>
                    </a:p>
                  </a:txBody>
                  <a:tcPr marL="109728" marR="109728"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0B2545"/>
                    </a:solidFill>
                  </a:tcPr>
                </a:tc>
                <a:tc>
                  <a:txBody>
                    <a:bodyPr/>
                    <a:lstStyle/>
                    <a:p>
                      <a:pPr marL="0" indent="0">
                        <a:buNone/>
                      </a:pPr>
                      <a:r>
                        <a:rPr lang="en-US" sz="1700" b="1" dirty="0">
                          <a:solidFill>
                            <a:srgbClr val="FFFFFF"/>
                          </a:solidFill>
                          <a:latin typeface="Calibri" pitchFamily="34" charset="0"/>
                          <a:ea typeface="Calibri" pitchFamily="34" charset="-122"/>
                          <a:cs typeface="Calibri" pitchFamily="34" charset="-120"/>
                        </a:rPr>
                        <a:t>Tradicional (cascada)</a:t>
                      </a:r>
                      <a:endParaRPr lang="en-US" sz="1700" dirty="0">
                        <a:latin typeface="Calibri" charset="0"/>
                        <a:ea typeface="Calibri" charset="0"/>
                        <a:cs typeface="Calibri" charset="0"/>
                      </a:endParaRPr>
                    </a:p>
                  </a:txBody>
                  <a:tcPr marL="109728" marR="109728"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0B2545"/>
                    </a:solidFill>
                  </a:tcPr>
                </a:tc>
                <a:tc>
                  <a:txBody>
                    <a:bodyPr/>
                    <a:lstStyle/>
                    <a:p>
                      <a:pPr marL="0" indent="0">
                        <a:buNone/>
                      </a:pPr>
                      <a:r>
                        <a:rPr lang="en-US" sz="1700" b="1" dirty="0">
                          <a:solidFill>
                            <a:srgbClr val="FFFFFF"/>
                          </a:solidFill>
                          <a:latin typeface="Calibri" pitchFamily="34" charset="0"/>
                          <a:ea typeface="Calibri" pitchFamily="34" charset="-122"/>
                          <a:cs typeface="Calibri" pitchFamily="34" charset="-120"/>
                        </a:rPr>
                        <a:t>Ágil</a:t>
                      </a:r>
                      <a:endParaRPr lang="en-US" sz="1700" dirty="0">
                        <a:latin typeface="Calibri" charset="0"/>
                        <a:ea typeface="Calibri" charset="0"/>
                        <a:cs typeface="Calibri" charset="0"/>
                      </a:endParaRPr>
                    </a:p>
                  </a:txBody>
                  <a:tcPr marL="109728" marR="109728"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0B2545"/>
                    </a:solidFill>
                  </a:tcPr>
                </a:tc>
                <a:extLst>
                  <a:ext uri="{0D108BD9-81ED-4DB2-BD59-A6C34878D82A}">
                    <a16:rowId xmlns:a16="http://schemas.microsoft.com/office/drawing/2014/main" val="10000"/>
                  </a:ext>
                </a:extLst>
              </a:tr>
              <a:tr h="658368">
                <a:tc>
                  <a:txBody>
                    <a:bodyPr/>
                    <a:lstStyle/>
                    <a:p>
                      <a:pPr marL="0" indent="0">
                        <a:buNone/>
                      </a:pPr>
                      <a:r>
                        <a:rPr lang="en-US" sz="1700" b="1" dirty="0">
                          <a:solidFill>
                            <a:srgbClr val="1F2933"/>
                          </a:solidFill>
                          <a:latin typeface="Calibri" pitchFamily="34" charset="0"/>
                          <a:ea typeface="Calibri" pitchFamily="34" charset="-122"/>
                          <a:cs typeface="Calibri" pitchFamily="34" charset="-120"/>
                        </a:rPr>
                        <a:t>Momento</a:t>
                      </a:r>
                      <a:endParaRPr lang="en-US" sz="1700" dirty="0">
                        <a:latin typeface="Calibri" charset="0"/>
                        <a:ea typeface="Calibri" charset="0"/>
                        <a:cs typeface="Calibri" charset="0"/>
                      </a:endParaRPr>
                    </a:p>
                  </a:txBody>
                  <a:tcPr marL="109728" marR="109728"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EAF2F1"/>
                    </a:solidFill>
                  </a:tcPr>
                </a:tc>
                <a:tc>
                  <a:txBody>
                    <a:bodyPr/>
                    <a:lstStyle/>
                    <a:p>
                      <a:pPr marL="0" indent="0">
                        <a:buNone/>
                      </a:pPr>
                      <a:r>
                        <a:rPr lang="en-US" sz="1700" dirty="0">
                          <a:solidFill>
                            <a:srgbClr val="1F2933"/>
                          </a:solidFill>
                          <a:latin typeface="Calibri" pitchFamily="34" charset="0"/>
                          <a:ea typeface="Calibri" pitchFamily="34" charset="-122"/>
                          <a:cs typeface="Calibri" pitchFamily="34" charset="-120"/>
                        </a:rPr>
                        <a:t>Concentrado al inicio</a:t>
                      </a:r>
                      <a:endParaRPr lang="en-US" sz="1700" dirty="0">
                        <a:latin typeface="Calibri" charset="0"/>
                        <a:ea typeface="Calibri" charset="0"/>
                        <a:cs typeface="Calibri" charset="0"/>
                      </a:endParaRPr>
                    </a:p>
                  </a:txBody>
                  <a:tcPr marL="109728" marR="109728"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EAF2F1"/>
                    </a:solidFill>
                  </a:tcPr>
                </a:tc>
                <a:tc>
                  <a:txBody>
                    <a:bodyPr/>
                    <a:lstStyle/>
                    <a:p>
                      <a:pPr marL="0" indent="0">
                        <a:buNone/>
                      </a:pPr>
                      <a:r>
                        <a:rPr lang="en-US" sz="1700" dirty="0">
                          <a:solidFill>
                            <a:srgbClr val="1F2933"/>
                          </a:solidFill>
                          <a:latin typeface="Calibri" pitchFamily="34" charset="0"/>
                          <a:ea typeface="Calibri" pitchFamily="34" charset="-122"/>
                          <a:cs typeface="Calibri" pitchFamily="34" charset="-120"/>
                        </a:rPr>
                        <a:t>Continuo, en cada iteración</a:t>
                      </a:r>
                      <a:endParaRPr lang="en-US" sz="1700" dirty="0">
                        <a:latin typeface="Calibri" charset="0"/>
                        <a:ea typeface="Calibri" charset="0"/>
                        <a:cs typeface="Calibri" charset="0"/>
                      </a:endParaRPr>
                    </a:p>
                  </a:txBody>
                  <a:tcPr marL="109728" marR="109728"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EAF2F1"/>
                    </a:solidFill>
                  </a:tcPr>
                </a:tc>
                <a:extLst>
                  <a:ext uri="{0D108BD9-81ED-4DB2-BD59-A6C34878D82A}">
                    <a16:rowId xmlns:a16="http://schemas.microsoft.com/office/drawing/2014/main" val="10001"/>
                  </a:ext>
                </a:extLst>
              </a:tr>
              <a:tr h="658368">
                <a:tc>
                  <a:txBody>
                    <a:bodyPr/>
                    <a:lstStyle/>
                    <a:p>
                      <a:pPr marL="0" indent="0">
                        <a:buNone/>
                      </a:pPr>
                      <a:r>
                        <a:rPr lang="en-US" sz="1700" b="1" dirty="0">
                          <a:solidFill>
                            <a:srgbClr val="1F2933"/>
                          </a:solidFill>
                          <a:latin typeface="Calibri" pitchFamily="34" charset="0"/>
                          <a:ea typeface="Calibri" pitchFamily="34" charset="-122"/>
                          <a:cs typeface="Calibri" pitchFamily="34" charset="-120"/>
                        </a:rPr>
                        <a:t>Documentación</a:t>
                      </a:r>
                      <a:endParaRPr lang="en-US" sz="1700" dirty="0">
                        <a:latin typeface="Calibri" charset="0"/>
                        <a:ea typeface="Calibri" charset="0"/>
                        <a:cs typeface="Calibri" charset="0"/>
                      </a:endParaRPr>
                    </a:p>
                  </a:txBody>
                  <a:tcPr marL="109728" marR="109728"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FFFFFF"/>
                    </a:solidFill>
                  </a:tcPr>
                </a:tc>
                <a:tc>
                  <a:txBody>
                    <a:bodyPr/>
                    <a:lstStyle/>
                    <a:p>
                      <a:pPr marL="0" indent="0">
                        <a:buNone/>
                      </a:pPr>
                      <a:r>
                        <a:rPr lang="en-US" sz="1700" dirty="0">
                          <a:solidFill>
                            <a:srgbClr val="1F2933"/>
                          </a:solidFill>
                          <a:latin typeface="Calibri" pitchFamily="34" charset="0"/>
                          <a:ea typeface="Calibri" pitchFamily="34" charset="-122"/>
                          <a:cs typeface="Calibri" pitchFamily="34" charset="-120"/>
                        </a:rPr>
                        <a:t>ERS extenso y formal</a:t>
                      </a:r>
                      <a:endParaRPr lang="en-US" sz="1700" dirty="0">
                        <a:latin typeface="Calibri" charset="0"/>
                        <a:ea typeface="Calibri" charset="0"/>
                        <a:cs typeface="Calibri" charset="0"/>
                      </a:endParaRPr>
                    </a:p>
                  </a:txBody>
                  <a:tcPr marL="109728" marR="109728"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FFFFFF"/>
                    </a:solidFill>
                  </a:tcPr>
                </a:tc>
                <a:tc>
                  <a:txBody>
                    <a:bodyPr/>
                    <a:lstStyle/>
                    <a:p>
                      <a:pPr marL="0" indent="0">
                        <a:buNone/>
                      </a:pPr>
                      <a:r>
                        <a:rPr lang="en-US" sz="1700" dirty="0">
                          <a:solidFill>
                            <a:srgbClr val="1F2933"/>
                          </a:solidFill>
                          <a:latin typeface="Calibri" pitchFamily="34" charset="0"/>
                          <a:ea typeface="Calibri" pitchFamily="34" charset="-122"/>
                          <a:cs typeface="Calibri" pitchFamily="34" charset="-120"/>
                        </a:rPr>
                        <a:t>Historias de usuario y backlog</a:t>
                      </a:r>
                      <a:endParaRPr lang="en-US" sz="1700" dirty="0">
                        <a:latin typeface="Calibri" charset="0"/>
                        <a:ea typeface="Calibri" charset="0"/>
                        <a:cs typeface="Calibri" charset="0"/>
                      </a:endParaRPr>
                    </a:p>
                  </a:txBody>
                  <a:tcPr marL="109728" marR="109728"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58368">
                <a:tc>
                  <a:txBody>
                    <a:bodyPr/>
                    <a:lstStyle/>
                    <a:p>
                      <a:pPr marL="0" indent="0">
                        <a:buNone/>
                      </a:pPr>
                      <a:r>
                        <a:rPr lang="en-US" sz="1700" b="1" dirty="0">
                          <a:solidFill>
                            <a:srgbClr val="1F2933"/>
                          </a:solidFill>
                          <a:latin typeface="Calibri" pitchFamily="34" charset="0"/>
                          <a:ea typeface="Calibri" pitchFamily="34" charset="-122"/>
                          <a:cs typeface="Calibri" pitchFamily="34" charset="-120"/>
                        </a:rPr>
                        <a:t>Cambios</a:t>
                      </a:r>
                      <a:endParaRPr lang="en-US" sz="1700" dirty="0">
                        <a:latin typeface="Calibri" charset="0"/>
                        <a:ea typeface="Calibri" charset="0"/>
                        <a:cs typeface="Calibri" charset="0"/>
                      </a:endParaRPr>
                    </a:p>
                  </a:txBody>
                  <a:tcPr marL="109728" marR="109728"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EAF2F1"/>
                    </a:solidFill>
                  </a:tcPr>
                </a:tc>
                <a:tc>
                  <a:txBody>
                    <a:bodyPr/>
                    <a:lstStyle/>
                    <a:p>
                      <a:pPr marL="0" indent="0">
                        <a:buNone/>
                      </a:pPr>
                      <a:r>
                        <a:rPr lang="en-US" sz="1700" dirty="0">
                          <a:solidFill>
                            <a:srgbClr val="1F2933"/>
                          </a:solidFill>
                          <a:latin typeface="Calibri" pitchFamily="34" charset="0"/>
                          <a:ea typeface="Calibri" pitchFamily="34" charset="-122"/>
                          <a:cs typeface="Calibri" pitchFamily="34" charset="-120"/>
                        </a:rPr>
                        <a:t>Control formal</a:t>
                      </a:r>
                      <a:endParaRPr lang="en-US" sz="1700" dirty="0">
                        <a:latin typeface="Calibri" charset="0"/>
                        <a:ea typeface="Calibri" charset="0"/>
                        <a:cs typeface="Calibri" charset="0"/>
                      </a:endParaRPr>
                    </a:p>
                  </a:txBody>
                  <a:tcPr marL="109728" marR="109728"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EAF2F1"/>
                    </a:solidFill>
                  </a:tcPr>
                </a:tc>
                <a:tc>
                  <a:txBody>
                    <a:bodyPr/>
                    <a:lstStyle/>
                    <a:p>
                      <a:pPr marL="0" indent="0">
                        <a:buNone/>
                      </a:pPr>
                      <a:r>
                        <a:rPr lang="en-US" sz="1700" dirty="0">
                          <a:solidFill>
                            <a:srgbClr val="1F2933"/>
                          </a:solidFill>
                          <a:latin typeface="Calibri" pitchFamily="34" charset="0"/>
                          <a:ea typeface="Calibri" pitchFamily="34" charset="-122"/>
                          <a:cs typeface="Calibri" pitchFamily="34" charset="-120"/>
                        </a:rPr>
                        <a:t>Bienvenidos y priorizados</a:t>
                      </a:r>
                      <a:endParaRPr lang="en-US" sz="1700" dirty="0">
                        <a:latin typeface="Calibri" charset="0"/>
                        <a:ea typeface="Calibri" charset="0"/>
                        <a:cs typeface="Calibri" charset="0"/>
                      </a:endParaRPr>
                    </a:p>
                  </a:txBody>
                  <a:tcPr marL="109728" marR="109728"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EAF2F1"/>
                    </a:solidFill>
                  </a:tcPr>
                </a:tc>
                <a:extLst>
                  <a:ext uri="{0D108BD9-81ED-4DB2-BD59-A6C34878D82A}">
                    <a16:rowId xmlns:a16="http://schemas.microsoft.com/office/drawing/2014/main" val="10003"/>
                  </a:ext>
                </a:extLst>
              </a:tr>
              <a:tr h="658368">
                <a:tc>
                  <a:txBody>
                    <a:bodyPr/>
                    <a:lstStyle/>
                    <a:p>
                      <a:pPr marL="0" indent="0">
                        <a:buNone/>
                      </a:pPr>
                      <a:r>
                        <a:rPr lang="en-US" sz="1700" b="1" dirty="0">
                          <a:solidFill>
                            <a:srgbClr val="1F2933"/>
                          </a:solidFill>
                          <a:latin typeface="Calibri" pitchFamily="34" charset="0"/>
                          <a:ea typeface="Calibri" pitchFamily="34" charset="-122"/>
                          <a:cs typeface="Calibri" pitchFamily="34" charset="-120"/>
                        </a:rPr>
                        <a:t>Cliente</a:t>
                      </a:r>
                      <a:endParaRPr lang="en-US" sz="1700" dirty="0">
                        <a:latin typeface="Calibri" charset="0"/>
                        <a:ea typeface="Calibri" charset="0"/>
                        <a:cs typeface="Calibri" charset="0"/>
                      </a:endParaRPr>
                    </a:p>
                  </a:txBody>
                  <a:tcPr marL="109728" marR="109728"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FFFFFF"/>
                    </a:solidFill>
                  </a:tcPr>
                </a:tc>
                <a:tc>
                  <a:txBody>
                    <a:bodyPr/>
                    <a:lstStyle/>
                    <a:p>
                      <a:pPr marL="0" indent="0">
                        <a:buNone/>
                      </a:pPr>
                      <a:r>
                        <a:rPr lang="en-US" sz="1700" dirty="0">
                          <a:solidFill>
                            <a:srgbClr val="1F2933"/>
                          </a:solidFill>
                          <a:latin typeface="Calibri" pitchFamily="34" charset="0"/>
                          <a:ea typeface="Calibri" pitchFamily="34" charset="-122"/>
                          <a:cs typeface="Calibri" pitchFamily="34" charset="-120"/>
                        </a:rPr>
                        <a:t>Participa en hitos</a:t>
                      </a:r>
                      <a:endParaRPr lang="en-US" sz="1700" dirty="0">
                        <a:latin typeface="Calibri" charset="0"/>
                        <a:ea typeface="Calibri" charset="0"/>
                        <a:cs typeface="Calibri" charset="0"/>
                      </a:endParaRPr>
                    </a:p>
                  </a:txBody>
                  <a:tcPr marL="109728" marR="109728"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FFFFFF"/>
                    </a:solidFill>
                  </a:tcPr>
                </a:tc>
                <a:tc>
                  <a:txBody>
                    <a:bodyPr/>
                    <a:lstStyle/>
                    <a:p>
                      <a:pPr marL="0" indent="0">
                        <a:buNone/>
                      </a:pPr>
                      <a:r>
                        <a:rPr lang="en-US" sz="1700" dirty="0">
                          <a:solidFill>
                            <a:srgbClr val="1F2933"/>
                          </a:solidFill>
                          <a:latin typeface="Calibri" pitchFamily="34" charset="0"/>
                          <a:ea typeface="Calibri" pitchFamily="34" charset="-122"/>
                          <a:cs typeface="Calibri" pitchFamily="34" charset="-120"/>
                        </a:rPr>
                        <a:t>Colabora constantemente</a:t>
                      </a:r>
                      <a:endParaRPr lang="en-US" sz="1700" dirty="0">
                        <a:latin typeface="Calibri" charset="0"/>
                        <a:ea typeface="Calibri" charset="0"/>
                        <a:cs typeface="Calibri" charset="0"/>
                      </a:endParaRPr>
                    </a:p>
                  </a:txBody>
                  <a:tcPr marL="109728" marR="109728"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658368">
                <a:tc>
                  <a:txBody>
                    <a:bodyPr/>
                    <a:lstStyle/>
                    <a:p>
                      <a:pPr marL="0" indent="0">
                        <a:buNone/>
                      </a:pPr>
                      <a:r>
                        <a:rPr lang="en-US" sz="1700" b="1" dirty="0">
                          <a:solidFill>
                            <a:srgbClr val="1F2933"/>
                          </a:solidFill>
                          <a:latin typeface="Calibri" pitchFamily="34" charset="0"/>
                          <a:ea typeface="Calibri" pitchFamily="34" charset="-122"/>
                          <a:cs typeface="Calibri" pitchFamily="34" charset="-120"/>
                        </a:rPr>
                        <a:t>Ideal para</a:t>
                      </a:r>
                      <a:endParaRPr lang="en-US" sz="1700" dirty="0">
                        <a:latin typeface="Calibri" charset="0"/>
                        <a:ea typeface="Calibri" charset="0"/>
                        <a:cs typeface="Calibri" charset="0"/>
                      </a:endParaRPr>
                    </a:p>
                  </a:txBody>
                  <a:tcPr marL="109728" marR="109728"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EAF2F1"/>
                    </a:solidFill>
                  </a:tcPr>
                </a:tc>
                <a:tc>
                  <a:txBody>
                    <a:bodyPr/>
                    <a:lstStyle/>
                    <a:p>
                      <a:pPr marL="0" indent="0">
                        <a:buNone/>
                      </a:pPr>
                      <a:r>
                        <a:rPr lang="en-US" sz="1700" dirty="0">
                          <a:solidFill>
                            <a:srgbClr val="1F2933"/>
                          </a:solidFill>
                          <a:latin typeface="Calibri" pitchFamily="34" charset="0"/>
                          <a:ea typeface="Calibri" pitchFamily="34" charset="-122"/>
                          <a:cs typeface="Calibri" pitchFamily="34" charset="-120"/>
                        </a:rPr>
                        <a:t>Requerimientos estables o regulados</a:t>
                      </a:r>
                      <a:endParaRPr lang="en-US" sz="1700" dirty="0">
                        <a:latin typeface="Calibri" charset="0"/>
                        <a:ea typeface="Calibri" charset="0"/>
                        <a:cs typeface="Calibri" charset="0"/>
                      </a:endParaRPr>
                    </a:p>
                  </a:txBody>
                  <a:tcPr marL="109728" marR="109728"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EAF2F1"/>
                    </a:solidFill>
                  </a:tcPr>
                </a:tc>
                <a:tc>
                  <a:txBody>
                    <a:bodyPr/>
                    <a:lstStyle/>
                    <a:p>
                      <a:pPr marL="0" indent="0">
                        <a:buNone/>
                      </a:pPr>
                      <a:r>
                        <a:rPr lang="en-US" sz="1700" dirty="0">
                          <a:solidFill>
                            <a:srgbClr val="1F2933"/>
                          </a:solidFill>
                          <a:latin typeface="Calibri" pitchFamily="34" charset="0"/>
                          <a:ea typeface="Calibri" pitchFamily="34" charset="-122"/>
                          <a:cs typeface="Calibri" pitchFamily="34" charset="-120"/>
                        </a:rPr>
                        <a:t>Requerimientos cambiantes o inciertos</a:t>
                      </a:r>
                      <a:endParaRPr lang="en-US" sz="1700" dirty="0">
                        <a:latin typeface="Calibri" charset="0"/>
                        <a:ea typeface="Calibri" charset="0"/>
                        <a:cs typeface="Calibri" charset="0"/>
                      </a:endParaRPr>
                    </a:p>
                  </a:txBody>
                  <a:tcPr marL="109728" marR="109728"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EAF2F1"/>
                    </a:solidFill>
                  </a:tcPr>
                </a:tc>
                <a:extLst>
                  <a:ext uri="{0D108BD9-81ED-4DB2-BD59-A6C34878D82A}">
                    <a16:rowId xmlns:a16="http://schemas.microsoft.com/office/drawing/2014/main" val="10005"/>
                  </a:ext>
                </a:extLst>
              </a:tr>
            </a:tbl>
          </a:graphicData>
        </a:graphic>
      </p:graphicFrame>
      <p:sp>
        <p:nvSpPr>
          <p:cNvPr id="4" name="Text 1"/>
          <p:cNvSpPr txBox="1"/>
          <p:nvPr/>
        </p:nvSpPr>
        <p:spPr>
          <a:xfrm>
            <a:off x="548640" y="5577840"/>
            <a:ext cx="11064240" cy="457200"/>
          </a:xfrm>
          <a:prstGeom prst="rect">
            <a:avLst/>
          </a:prstGeom>
          <a:noFill/>
          <a:ln/>
        </p:spPr>
        <p:txBody>
          <a:bodyPr wrap="square" lIns="0" tIns="0" rIns="0" bIns="0" rtlCol="0" anchor="t"/>
          <a:lstStyle/>
          <a:p>
            <a:pPr marL="0" indent="0">
              <a:buNone/>
            </a:pPr>
            <a:r>
              <a:rPr lang="en-US" sz="1700" i="1" dirty="0">
                <a:solidFill>
                  <a:srgbClr val="5B6770"/>
                </a:solidFill>
                <a:latin typeface="Calibri" pitchFamily="34" charset="0"/>
                <a:ea typeface="Calibri" pitchFamily="34" charset="-122"/>
                <a:cs typeface="Calibri" pitchFamily="34" charset="-120"/>
              </a:rPr>
              <a:t>En la práctica muchas organizaciones combinan ambos enfoques.</a:t>
            </a:r>
            <a:endParaRPr lang="en-US" sz="1700" dirty="0"/>
          </a:p>
        </p:txBody>
      </p:sp>
      <p:sp>
        <p:nvSpPr>
          <p:cNvPr id="5" name="Text 2"/>
          <p:cNvSpPr txBox="1"/>
          <p:nvPr/>
        </p:nvSpPr>
        <p:spPr>
          <a:xfrm>
            <a:off x="548640" y="6355080"/>
            <a:ext cx="10424160" cy="274320"/>
          </a:xfrm>
          <a:prstGeom prst="rect">
            <a:avLst/>
          </a:prstGeom>
          <a:noFill/>
          <a:ln/>
        </p:spPr>
        <p:txBody>
          <a:bodyPr wrap="square" lIns="0" tIns="0" rIns="0" bIns="0" rtlCol="0" anchor="ctr"/>
          <a:lstStyle/>
          <a:p>
            <a:pPr marL="0" indent="0">
              <a:buNone/>
            </a:pPr>
            <a:endParaRPr lang="en-US" sz="1050" dirty="0"/>
          </a:p>
        </p:txBody>
      </p:sp>
      <p:sp>
        <p:nvSpPr>
          <p:cNvPr id="6" name="Text 3"/>
          <p:cNvSpPr txBox="1"/>
          <p:nvPr/>
        </p:nvSpPr>
        <p:spPr>
          <a:xfrm>
            <a:off x="11155680" y="6355080"/>
            <a:ext cx="548640" cy="274320"/>
          </a:xfrm>
          <a:prstGeom prst="rect">
            <a:avLst/>
          </a:prstGeom>
          <a:noFill/>
          <a:ln/>
        </p:spPr>
        <p:txBody>
          <a:bodyPr wrap="square" lIns="0" tIns="0" rIns="0" bIns="0" rtlCol="0" anchor="ctr"/>
          <a:lstStyle/>
          <a:p>
            <a:pPr marL="0" indent="0" algn="r">
              <a:buNone/>
            </a:pPr>
            <a:r>
              <a:rPr lang="en-US" sz="1100" dirty="0">
                <a:solidFill>
                  <a:srgbClr val="5B6770"/>
                </a:solidFill>
                <a:latin typeface="Calibri" pitchFamily="34" charset="0"/>
                <a:ea typeface="Calibri" pitchFamily="34" charset="-122"/>
                <a:cs typeface="Calibri" pitchFamily="34" charset="-120"/>
              </a:rPr>
              <a:t>17</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777240"/>
          </a:xfrm>
          <a:prstGeom prst="rect">
            <a:avLst/>
          </a:prstGeom>
          <a:noFill/>
          <a:ln/>
        </p:spPr>
        <p:txBody>
          <a:bodyPr wrap="square" lIns="0" tIns="0" rIns="0" bIns="0" rtlCol="0" anchor="ctr"/>
          <a:lstStyle/>
          <a:p>
            <a:pPr marL="0" indent="0">
              <a:buNone/>
            </a:pPr>
            <a:r>
              <a:rPr lang="en-US" sz="3400" b="1" dirty="0">
                <a:solidFill>
                  <a:srgbClr val="0B2545"/>
                </a:solidFill>
                <a:latin typeface="Cambria" pitchFamily="34" charset="0"/>
                <a:ea typeface="Cambria" pitchFamily="34" charset="-122"/>
                <a:cs typeface="Cambria" pitchFamily="34" charset="-120"/>
              </a:rPr>
              <a:t>Problemas frecuentes y buenas prácticas</a:t>
            </a:r>
            <a:endParaRPr lang="en-US" sz="3400" dirty="0"/>
          </a:p>
        </p:txBody>
      </p:sp>
      <p:sp>
        <p:nvSpPr>
          <p:cNvPr id="3" name="Shape 1"/>
          <p:cNvSpPr/>
          <p:nvPr/>
        </p:nvSpPr>
        <p:spPr>
          <a:xfrm>
            <a:off x="548640" y="1371600"/>
            <a:ext cx="5394960" cy="4754880"/>
          </a:xfrm>
          <a:prstGeom prst="roundRect">
            <a:avLst>
              <a:gd name="adj" fmla="val 2308"/>
            </a:avLst>
          </a:prstGeom>
          <a:solidFill>
            <a:srgbClr val="FBECEE"/>
          </a:solidFill>
          <a:ln w="9525">
            <a:solidFill>
              <a:srgbClr val="D1495B"/>
            </a:solidFill>
            <a:prstDash val="solid"/>
          </a:ln>
        </p:spPr>
      </p:sp>
      <p:sp>
        <p:nvSpPr>
          <p:cNvPr id="4" name="Text 2"/>
          <p:cNvSpPr txBox="1"/>
          <p:nvPr/>
        </p:nvSpPr>
        <p:spPr>
          <a:xfrm>
            <a:off x="868680" y="1554480"/>
            <a:ext cx="4754880" cy="548640"/>
          </a:xfrm>
          <a:prstGeom prst="rect">
            <a:avLst/>
          </a:prstGeom>
          <a:noFill/>
          <a:ln/>
        </p:spPr>
        <p:txBody>
          <a:bodyPr wrap="square" lIns="0" tIns="0" rIns="0" bIns="0" rtlCol="0" anchor="ctr"/>
          <a:lstStyle/>
          <a:p>
            <a:pPr marL="0" indent="0">
              <a:buNone/>
            </a:pPr>
            <a:r>
              <a:rPr lang="en-US" sz="2600" b="1" dirty="0">
                <a:solidFill>
                  <a:srgbClr val="D1495B"/>
                </a:solidFill>
                <a:latin typeface="Cambria" pitchFamily="34" charset="0"/>
                <a:ea typeface="Cambria" pitchFamily="34" charset="-122"/>
                <a:cs typeface="Cambria" pitchFamily="34" charset="-120"/>
              </a:rPr>
              <a:t>Problemas</a:t>
            </a:r>
            <a:endParaRPr lang="en-US" sz="2600" dirty="0"/>
          </a:p>
        </p:txBody>
      </p:sp>
      <p:pic>
        <p:nvPicPr>
          <p:cNvPr id="5" name="Image 0" descr="preencoded.png"/>
          <p:cNvPicPr>
            <a:picLocks noChangeAspect="1"/>
          </p:cNvPicPr>
          <p:nvPr/>
        </p:nvPicPr>
        <p:blipFill>
          <a:blip r:embed="rId3"/>
          <a:stretch>
            <a:fillRect/>
          </a:stretch>
        </p:blipFill>
        <p:spPr>
          <a:xfrm>
            <a:off x="868680" y="2368296"/>
            <a:ext cx="384048" cy="384048"/>
          </a:xfrm>
          <a:prstGeom prst="rect">
            <a:avLst/>
          </a:prstGeom>
        </p:spPr>
      </p:pic>
      <p:sp>
        <p:nvSpPr>
          <p:cNvPr id="6" name="Text 3"/>
          <p:cNvSpPr txBox="1"/>
          <p:nvPr/>
        </p:nvSpPr>
        <p:spPr>
          <a:xfrm>
            <a:off x="1417320" y="2286000"/>
            <a:ext cx="4297680" cy="548640"/>
          </a:xfrm>
          <a:prstGeom prst="rect">
            <a:avLst/>
          </a:prstGeom>
          <a:noFill/>
          <a:ln/>
        </p:spPr>
        <p:txBody>
          <a:bodyPr wrap="square" lIns="0" tIns="0" rIns="0" bIns="0" rtlCol="0" anchor="ctr"/>
          <a:lstStyle/>
          <a:p>
            <a:pPr marL="0" indent="0">
              <a:buNone/>
            </a:pPr>
            <a:r>
              <a:rPr lang="en-US" sz="1800" dirty="0">
                <a:solidFill>
                  <a:srgbClr val="1F2933"/>
                </a:solidFill>
                <a:latin typeface="Calibri" pitchFamily="34" charset="0"/>
                <a:ea typeface="Calibri" pitchFamily="34" charset="-122"/>
                <a:cs typeface="Calibri" pitchFamily="34" charset="-120"/>
              </a:rPr>
              <a:t>Ambigüedad en la redacción</a:t>
            </a:r>
            <a:endParaRPr lang="en-US" sz="1800" dirty="0"/>
          </a:p>
        </p:txBody>
      </p:sp>
      <p:pic>
        <p:nvPicPr>
          <p:cNvPr id="7" name="Image 1" descr="preencoded.png"/>
          <p:cNvPicPr>
            <a:picLocks noChangeAspect="1"/>
          </p:cNvPicPr>
          <p:nvPr/>
        </p:nvPicPr>
        <p:blipFill>
          <a:blip r:embed="rId3"/>
          <a:stretch>
            <a:fillRect/>
          </a:stretch>
        </p:blipFill>
        <p:spPr>
          <a:xfrm>
            <a:off x="868680" y="3145536"/>
            <a:ext cx="384048" cy="384048"/>
          </a:xfrm>
          <a:prstGeom prst="rect">
            <a:avLst/>
          </a:prstGeom>
        </p:spPr>
      </p:pic>
      <p:sp>
        <p:nvSpPr>
          <p:cNvPr id="8" name="Text 4"/>
          <p:cNvSpPr txBox="1"/>
          <p:nvPr/>
        </p:nvSpPr>
        <p:spPr>
          <a:xfrm>
            <a:off x="1417320" y="3063240"/>
            <a:ext cx="4297680" cy="548640"/>
          </a:xfrm>
          <a:prstGeom prst="rect">
            <a:avLst/>
          </a:prstGeom>
          <a:noFill/>
          <a:ln/>
        </p:spPr>
        <p:txBody>
          <a:bodyPr wrap="square" lIns="0" tIns="0" rIns="0" bIns="0" rtlCol="0" anchor="ctr"/>
          <a:lstStyle/>
          <a:p>
            <a:pPr marL="0" indent="0">
              <a:buNone/>
            </a:pPr>
            <a:r>
              <a:rPr lang="en-US" sz="1800" dirty="0">
                <a:solidFill>
                  <a:srgbClr val="1F2933"/>
                </a:solidFill>
                <a:latin typeface="Calibri" pitchFamily="34" charset="0"/>
                <a:ea typeface="Calibri" pitchFamily="34" charset="-122"/>
                <a:cs typeface="Calibri" pitchFamily="34" charset="-120"/>
              </a:rPr>
              <a:t>Alcance que crece sin control</a:t>
            </a:r>
            <a:endParaRPr lang="en-US" sz="1800" dirty="0"/>
          </a:p>
        </p:txBody>
      </p:sp>
      <p:pic>
        <p:nvPicPr>
          <p:cNvPr id="9" name="Image 2" descr="preencoded.png"/>
          <p:cNvPicPr>
            <a:picLocks noChangeAspect="1"/>
          </p:cNvPicPr>
          <p:nvPr/>
        </p:nvPicPr>
        <p:blipFill>
          <a:blip r:embed="rId3"/>
          <a:stretch>
            <a:fillRect/>
          </a:stretch>
        </p:blipFill>
        <p:spPr>
          <a:xfrm>
            <a:off x="868680" y="3922776"/>
            <a:ext cx="384048" cy="384048"/>
          </a:xfrm>
          <a:prstGeom prst="rect">
            <a:avLst/>
          </a:prstGeom>
        </p:spPr>
      </p:pic>
      <p:sp>
        <p:nvSpPr>
          <p:cNvPr id="10" name="Text 5"/>
          <p:cNvSpPr txBox="1"/>
          <p:nvPr/>
        </p:nvSpPr>
        <p:spPr>
          <a:xfrm>
            <a:off x="1417320" y="3840480"/>
            <a:ext cx="4297680" cy="548640"/>
          </a:xfrm>
          <a:prstGeom prst="rect">
            <a:avLst/>
          </a:prstGeom>
          <a:noFill/>
          <a:ln/>
        </p:spPr>
        <p:txBody>
          <a:bodyPr wrap="square" lIns="0" tIns="0" rIns="0" bIns="0" rtlCol="0" anchor="ctr"/>
          <a:lstStyle/>
          <a:p>
            <a:pPr marL="0" indent="0">
              <a:buNone/>
            </a:pPr>
            <a:r>
              <a:rPr lang="en-US" sz="1800" dirty="0">
                <a:solidFill>
                  <a:srgbClr val="1F2933"/>
                </a:solidFill>
                <a:latin typeface="Calibri" pitchFamily="34" charset="0"/>
                <a:ea typeface="Calibri" pitchFamily="34" charset="-122"/>
                <a:cs typeface="Calibri" pitchFamily="34" charset="-120"/>
              </a:rPr>
              <a:t>Requerimientos tácitos no expresados</a:t>
            </a:r>
            <a:endParaRPr lang="en-US" sz="1800" dirty="0"/>
          </a:p>
        </p:txBody>
      </p:sp>
      <p:pic>
        <p:nvPicPr>
          <p:cNvPr id="11" name="Image 3" descr="preencoded.png"/>
          <p:cNvPicPr>
            <a:picLocks noChangeAspect="1"/>
          </p:cNvPicPr>
          <p:nvPr/>
        </p:nvPicPr>
        <p:blipFill>
          <a:blip r:embed="rId3"/>
          <a:stretch>
            <a:fillRect/>
          </a:stretch>
        </p:blipFill>
        <p:spPr>
          <a:xfrm>
            <a:off x="868680" y="4700016"/>
            <a:ext cx="384048" cy="384048"/>
          </a:xfrm>
          <a:prstGeom prst="rect">
            <a:avLst/>
          </a:prstGeom>
        </p:spPr>
      </p:pic>
      <p:sp>
        <p:nvSpPr>
          <p:cNvPr id="12" name="Text 6"/>
          <p:cNvSpPr txBox="1"/>
          <p:nvPr/>
        </p:nvSpPr>
        <p:spPr>
          <a:xfrm>
            <a:off x="1417320" y="4617720"/>
            <a:ext cx="4297680" cy="548640"/>
          </a:xfrm>
          <a:prstGeom prst="rect">
            <a:avLst/>
          </a:prstGeom>
          <a:noFill/>
          <a:ln/>
        </p:spPr>
        <p:txBody>
          <a:bodyPr wrap="square" lIns="0" tIns="0" rIns="0" bIns="0" rtlCol="0" anchor="ctr"/>
          <a:lstStyle/>
          <a:p>
            <a:pPr marL="0" indent="0">
              <a:buNone/>
            </a:pPr>
            <a:r>
              <a:rPr lang="en-US" sz="1800" dirty="0">
                <a:solidFill>
                  <a:srgbClr val="1F2933"/>
                </a:solidFill>
                <a:latin typeface="Calibri" pitchFamily="34" charset="0"/>
                <a:ea typeface="Calibri" pitchFamily="34" charset="-122"/>
                <a:cs typeface="Calibri" pitchFamily="34" charset="-120"/>
              </a:rPr>
              <a:t>Poca disponibilidad de los usuarios</a:t>
            </a:r>
            <a:endParaRPr lang="en-US" sz="1800" dirty="0"/>
          </a:p>
        </p:txBody>
      </p:sp>
      <p:pic>
        <p:nvPicPr>
          <p:cNvPr id="13" name="Image 4" descr="preencoded.png"/>
          <p:cNvPicPr>
            <a:picLocks noChangeAspect="1"/>
          </p:cNvPicPr>
          <p:nvPr/>
        </p:nvPicPr>
        <p:blipFill>
          <a:blip r:embed="rId3"/>
          <a:stretch>
            <a:fillRect/>
          </a:stretch>
        </p:blipFill>
        <p:spPr>
          <a:xfrm>
            <a:off x="868680" y="5477256"/>
            <a:ext cx="384048" cy="384048"/>
          </a:xfrm>
          <a:prstGeom prst="rect">
            <a:avLst/>
          </a:prstGeom>
        </p:spPr>
      </p:pic>
      <p:sp>
        <p:nvSpPr>
          <p:cNvPr id="14" name="Text 7"/>
          <p:cNvSpPr txBox="1"/>
          <p:nvPr/>
        </p:nvSpPr>
        <p:spPr>
          <a:xfrm>
            <a:off x="1417320" y="5394960"/>
            <a:ext cx="4297680" cy="548640"/>
          </a:xfrm>
          <a:prstGeom prst="rect">
            <a:avLst/>
          </a:prstGeom>
          <a:noFill/>
          <a:ln/>
        </p:spPr>
        <p:txBody>
          <a:bodyPr wrap="square" lIns="0" tIns="0" rIns="0" bIns="0" rtlCol="0" anchor="ctr"/>
          <a:lstStyle/>
          <a:p>
            <a:pPr marL="0" indent="0">
              <a:buNone/>
            </a:pPr>
            <a:r>
              <a:rPr lang="en-US" sz="1800" dirty="0">
                <a:solidFill>
                  <a:srgbClr val="1F2933"/>
                </a:solidFill>
                <a:latin typeface="Calibri" pitchFamily="34" charset="0"/>
                <a:ea typeface="Calibri" pitchFamily="34" charset="-122"/>
                <a:cs typeface="Calibri" pitchFamily="34" charset="-120"/>
              </a:rPr>
              <a:t>Falta de trazabilidad</a:t>
            </a:r>
            <a:endParaRPr lang="en-US" sz="1800" dirty="0"/>
          </a:p>
        </p:txBody>
      </p:sp>
      <p:sp>
        <p:nvSpPr>
          <p:cNvPr id="15" name="Shape 8"/>
          <p:cNvSpPr/>
          <p:nvPr/>
        </p:nvSpPr>
        <p:spPr>
          <a:xfrm>
            <a:off x="6217920" y="1371600"/>
            <a:ext cx="5394960" cy="4754880"/>
          </a:xfrm>
          <a:prstGeom prst="roundRect">
            <a:avLst>
              <a:gd name="adj" fmla="val 2308"/>
            </a:avLst>
          </a:prstGeom>
          <a:solidFill>
            <a:srgbClr val="E8F4EC"/>
          </a:solidFill>
          <a:ln w="9525">
            <a:solidFill>
              <a:srgbClr val="3B8E5A"/>
            </a:solidFill>
            <a:prstDash val="solid"/>
          </a:ln>
        </p:spPr>
      </p:sp>
      <p:sp>
        <p:nvSpPr>
          <p:cNvPr id="16" name="Text 9"/>
          <p:cNvSpPr txBox="1"/>
          <p:nvPr/>
        </p:nvSpPr>
        <p:spPr>
          <a:xfrm>
            <a:off x="6537960" y="1554480"/>
            <a:ext cx="4754880" cy="548640"/>
          </a:xfrm>
          <a:prstGeom prst="rect">
            <a:avLst/>
          </a:prstGeom>
          <a:noFill/>
          <a:ln/>
        </p:spPr>
        <p:txBody>
          <a:bodyPr wrap="square" lIns="0" tIns="0" rIns="0" bIns="0" rtlCol="0" anchor="ctr"/>
          <a:lstStyle/>
          <a:p>
            <a:pPr marL="0" indent="0">
              <a:buNone/>
            </a:pPr>
            <a:r>
              <a:rPr lang="en-US" sz="2600" b="1" dirty="0">
                <a:solidFill>
                  <a:srgbClr val="3B8E5A"/>
                </a:solidFill>
                <a:latin typeface="Cambria" pitchFamily="34" charset="0"/>
                <a:ea typeface="Cambria" pitchFamily="34" charset="-122"/>
                <a:cs typeface="Cambria" pitchFamily="34" charset="-120"/>
              </a:rPr>
              <a:t>Buenas prácticas</a:t>
            </a:r>
            <a:endParaRPr lang="en-US" sz="2600" dirty="0"/>
          </a:p>
        </p:txBody>
      </p:sp>
      <p:pic>
        <p:nvPicPr>
          <p:cNvPr id="17" name="Image 5" descr="preencoded.png"/>
          <p:cNvPicPr>
            <a:picLocks noChangeAspect="1"/>
          </p:cNvPicPr>
          <p:nvPr/>
        </p:nvPicPr>
        <p:blipFill>
          <a:blip r:embed="rId4"/>
          <a:stretch>
            <a:fillRect/>
          </a:stretch>
        </p:blipFill>
        <p:spPr>
          <a:xfrm>
            <a:off x="6537960" y="2368296"/>
            <a:ext cx="384048" cy="384048"/>
          </a:xfrm>
          <a:prstGeom prst="rect">
            <a:avLst/>
          </a:prstGeom>
        </p:spPr>
      </p:pic>
      <p:sp>
        <p:nvSpPr>
          <p:cNvPr id="18" name="Text 10"/>
          <p:cNvSpPr txBox="1"/>
          <p:nvPr/>
        </p:nvSpPr>
        <p:spPr>
          <a:xfrm>
            <a:off x="7086600" y="2286000"/>
            <a:ext cx="4297680" cy="548640"/>
          </a:xfrm>
          <a:prstGeom prst="rect">
            <a:avLst/>
          </a:prstGeom>
          <a:noFill/>
          <a:ln/>
        </p:spPr>
        <p:txBody>
          <a:bodyPr wrap="square" lIns="0" tIns="0" rIns="0" bIns="0" rtlCol="0" anchor="ctr"/>
          <a:lstStyle/>
          <a:p>
            <a:pPr marL="0" indent="0">
              <a:buNone/>
            </a:pPr>
            <a:r>
              <a:rPr lang="en-US" sz="1800" dirty="0">
                <a:solidFill>
                  <a:srgbClr val="1F2933"/>
                </a:solidFill>
                <a:latin typeface="Calibri" pitchFamily="34" charset="0"/>
                <a:ea typeface="Calibri" pitchFamily="34" charset="-122"/>
                <a:cs typeface="Calibri" pitchFamily="34" charset="-120"/>
              </a:rPr>
              <a:t>Involucrar a los usuarios desde el inicio</a:t>
            </a:r>
            <a:endParaRPr lang="en-US" sz="1800" dirty="0"/>
          </a:p>
        </p:txBody>
      </p:sp>
      <p:pic>
        <p:nvPicPr>
          <p:cNvPr id="19" name="Image 6" descr="preencoded.png"/>
          <p:cNvPicPr>
            <a:picLocks noChangeAspect="1"/>
          </p:cNvPicPr>
          <p:nvPr/>
        </p:nvPicPr>
        <p:blipFill>
          <a:blip r:embed="rId4"/>
          <a:stretch>
            <a:fillRect/>
          </a:stretch>
        </p:blipFill>
        <p:spPr>
          <a:xfrm>
            <a:off x="6537960" y="3145536"/>
            <a:ext cx="384048" cy="384048"/>
          </a:xfrm>
          <a:prstGeom prst="rect">
            <a:avLst/>
          </a:prstGeom>
        </p:spPr>
      </p:pic>
      <p:sp>
        <p:nvSpPr>
          <p:cNvPr id="20" name="Text 11"/>
          <p:cNvSpPr txBox="1"/>
          <p:nvPr/>
        </p:nvSpPr>
        <p:spPr>
          <a:xfrm>
            <a:off x="7086600" y="3063240"/>
            <a:ext cx="4297680" cy="548640"/>
          </a:xfrm>
          <a:prstGeom prst="rect">
            <a:avLst/>
          </a:prstGeom>
          <a:noFill/>
          <a:ln/>
        </p:spPr>
        <p:txBody>
          <a:bodyPr wrap="square" lIns="0" tIns="0" rIns="0" bIns="0" rtlCol="0" anchor="ctr"/>
          <a:lstStyle/>
          <a:p>
            <a:pPr marL="0" indent="0">
              <a:buNone/>
            </a:pPr>
            <a:r>
              <a:rPr lang="en-US" sz="1800" dirty="0">
                <a:solidFill>
                  <a:srgbClr val="1F2933"/>
                </a:solidFill>
                <a:latin typeface="Calibri" pitchFamily="34" charset="0"/>
                <a:ea typeface="Calibri" pitchFamily="34" charset="-122"/>
                <a:cs typeface="Calibri" pitchFamily="34" charset="-120"/>
              </a:rPr>
              <a:t>Crear un glosario compartido</a:t>
            </a:r>
            <a:endParaRPr lang="en-US" sz="1800" dirty="0"/>
          </a:p>
        </p:txBody>
      </p:sp>
      <p:pic>
        <p:nvPicPr>
          <p:cNvPr id="21" name="Image 7" descr="preencoded.png"/>
          <p:cNvPicPr>
            <a:picLocks noChangeAspect="1"/>
          </p:cNvPicPr>
          <p:nvPr/>
        </p:nvPicPr>
        <p:blipFill>
          <a:blip r:embed="rId4"/>
          <a:stretch>
            <a:fillRect/>
          </a:stretch>
        </p:blipFill>
        <p:spPr>
          <a:xfrm>
            <a:off x="6537960" y="3922776"/>
            <a:ext cx="384048" cy="384048"/>
          </a:xfrm>
          <a:prstGeom prst="rect">
            <a:avLst/>
          </a:prstGeom>
        </p:spPr>
      </p:pic>
      <p:sp>
        <p:nvSpPr>
          <p:cNvPr id="22" name="Text 12"/>
          <p:cNvSpPr txBox="1"/>
          <p:nvPr/>
        </p:nvSpPr>
        <p:spPr>
          <a:xfrm>
            <a:off x="7086600" y="3840480"/>
            <a:ext cx="4297680" cy="548640"/>
          </a:xfrm>
          <a:prstGeom prst="rect">
            <a:avLst/>
          </a:prstGeom>
          <a:noFill/>
          <a:ln/>
        </p:spPr>
        <p:txBody>
          <a:bodyPr wrap="square" lIns="0" tIns="0" rIns="0" bIns="0" rtlCol="0" anchor="ctr"/>
          <a:lstStyle/>
          <a:p>
            <a:pPr marL="0" indent="0">
              <a:buNone/>
            </a:pPr>
            <a:r>
              <a:rPr lang="en-US" sz="1800" dirty="0">
                <a:solidFill>
                  <a:srgbClr val="1F2933"/>
                </a:solidFill>
                <a:latin typeface="Calibri" pitchFamily="34" charset="0"/>
                <a:ea typeface="Calibri" pitchFamily="34" charset="-122"/>
                <a:cs typeface="Calibri" pitchFamily="34" charset="-120"/>
              </a:rPr>
              <a:t>Combinar varias técnicas y fuentes</a:t>
            </a:r>
            <a:endParaRPr lang="en-US" sz="1800" dirty="0"/>
          </a:p>
        </p:txBody>
      </p:sp>
      <p:pic>
        <p:nvPicPr>
          <p:cNvPr id="23" name="Image 8" descr="preencoded.png"/>
          <p:cNvPicPr>
            <a:picLocks noChangeAspect="1"/>
          </p:cNvPicPr>
          <p:nvPr/>
        </p:nvPicPr>
        <p:blipFill>
          <a:blip r:embed="rId4"/>
          <a:stretch>
            <a:fillRect/>
          </a:stretch>
        </p:blipFill>
        <p:spPr>
          <a:xfrm>
            <a:off x="6537960" y="4700016"/>
            <a:ext cx="384048" cy="384048"/>
          </a:xfrm>
          <a:prstGeom prst="rect">
            <a:avLst/>
          </a:prstGeom>
        </p:spPr>
      </p:pic>
      <p:sp>
        <p:nvSpPr>
          <p:cNvPr id="24" name="Text 13"/>
          <p:cNvSpPr txBox="1"/>
          <p:nvPr/>
        </p:nvSpPr>
        <p:spPr>
          <a:xfrm>
            <a:off x="7086600" y="4617720"/>
            <a:ext cx="4297680" cy="548640"/>
          </a:xfrm>
          <a:prstGeom prst="rect">
            <a:avLst/>
          </a:prstGeom>
          <a:noFill/>
          <a:ln/>
        </p:spPr>
        <p:txBody>
          <a:bodyPr wrap="square" lIns="0" tIns="0" rIns="0" bIns="0" rtlCol="0" anchor="ctr"/>
          <a:lstStyle/>
          <a:p>
            <a:pPr marL="0" indent="0">
              <a:buNone/>
            </a:pPr>
            <a:r>
              <a:rPr lang="en-US" sz="1800" dirty="0">
                <a:solidFill>
                  <a:srgbClr val="1F2933"/>
                </a:solidFill>
                <a:latin typeface="Calibri" pitchFamily="34" charset="0"/>
                <a:ea typeface="Calibri" pitchFamily="34" charset="-122"/>
                <a:cs typeface="Calibri" pitchFamily="34" charset="-120"/>
              </a:rPr>
              <a:t>Definir criterios verificables y prioridad</a:t>
            </a:r>
            <a:endParaRPr lang="en-US" sz="1800" dirty="0"/>
          </a:p>
        </p:txBody>
      </p:sp>
      <p:pic>
        <p:nvPicPr>
          <p:cNvPr id="25" name="Image 9" descr="preencoded.png"/>
          <p:cNvPicPr>
            <a:picLocks noChangeAspect="1"/>
          </p:cNvPicPr>
          <p:nvPr/>
        </p:nvPicPr>
        <p:blipFill>
          <a:blip r:embed="rId4"/>
          <a:stretch>
            <a:fillRect/>
          </a:stretch>
        </p:blipFill>
        <p:spPr>
          <a:xfrm>
            <a:off x="6537960" y="5477256"/>
            <a:ext cx="384048" cy="384048"/>
          </a:xfrm>
          <a:prstGeom prst="rect">
            <a:avLst/>
          </a:prstGeom>
        </p:spPr>
      </p:pic>
      <p:sp>
        <p:nvSpPr>
          <p:cNvPr id="26" name="Text 14"/>
          <p:cNvSpPr txBox="1"/>
          <p:nvPr/>
        </p:nvSpPr>
        <p:spPr>
          <a:xfrm>
            <a:off x="7086600" y="5394960"/>
            <a:ext cx="4297680" cy="548640"/>
          </a:xfrm>
          <a:prstGeom prst="rect">
            <a:avLst/>
          </a:prstGeom>
          <a:noFill/>
          <a:ln/>
        </p:spPr>
        <p:txBody>
          <a:bodyPr wrap="square" lIns="0" tIns="0" rIns="0" bIns="0" rtlCol="0" anchor="ctr"/>
          <a:lstStyle/>
          <a:p>
            <a:pPr marL="0" indent="0">
              <a:buNone/>
            </a:pPr>
            <a:r>
              <a:rPr lang="en-US" sz="1800" dirty="0">
                <a:solidFill>
                  <a:srgbClr val="1F2933"/>
                </a:solidFill>
                <a:latin typeface="Calibri" pitchFamily="34" charset="0"/>
                <a:ea typeface="Calibri" pitchFamily="34" charset="-122"/>
                <a:cs typeface="Calibri" pitchFamily="34" charset="-120"/>
              </a:rPr>
              <a:t>Establecer línea base y control de cambios</a:t>
            </a:r>
            <a:endParaRPr lang="en-US" sz="1800" dirty="0"/>
          </a:p>
        </p:txBody>
      </p:sp>
      <p:sp>
        <p:nvSpPr>
          <p:cNvPr id="27" name="Text 15"/>
          <p:cNvSpPr txBox="1"/>
          <p:nvPr/>
        </p:nvSpPr>
        <p:spPr>
          <a:xfrm>
            <a:off x="548640" y="6355080"/>
            <a:ext cx="10424160" cy="274320"/>
          </a:xfrm>
          <a:prstGeom prst="rect">
            <a:avLst/>
          </a:prstGeom>
          <a:noFill/>
          <a:ln/>
        </p:spPr>
        <p:txBody>
          <a:bodyPr wrap="square" lIns="0" tIns="0" rIns="0" bIns="0" rtlCol="0" anchor="ctr"/>
          <a:lstStyle/>
          <a:p>
            <a:pPr marL="0" indent="0">
              <a:buNone/>
            </a:pPr>
            <a:r>
              <a:rPr lang="en-US" sz="1050" i="1" dirty="0">
                <a:solidFill>
                  <a:srgbClr val="5B6770"/>
                </a:solidFill>
                <a:latin typeface="Calibri" pitchFamily="34" charset="0"/>
                <a:ea typeface="Calibri" pitchFamily="34" charset="-122"/>
                <a:cs typeface="Calibri" pitchFamily="34" charset="-120"/>
              </a:rPr>
              <a:t>Pressman (2010); Sommerville y Sawyer (1997); Wiegers y Beatty (2013).</a:t>
            </a:r>
            <a:endParaRPr lang="en-US" sz="1050" dirty="0"/>
          </a:p>
        </p:txBody>
      </p:sp>
      <p:sp>
        <p:nvSpPr>
          <p:cNvPr id="28" name="Text 16"/>
          <p:cNvSpPr txBox="1"/>
          <p:nvPr/>
        </p:nvSpPr>
        <p:spPr>
          <a:xfrm>
            <a:off x="11155680" y="6355080"/>
            <a:ext cx="548640" cy="274320"/>
          </a:xfrm>
          <a:prstGeom prst="rect">
            <a:avLst/>
          </a:prstGeom>
          <a:noFill/>
          <a:ln/>
        </p:spPr>
        <p:txBody>
          <a:bodyPr wrap="square" lIns="0" tIns="0" rIns="0" bIns="0" rtlCol="0" anchor="ctr"/>
          <a:lstStyle/>
          <a:p>
            <a:pPr marL="0" indent="0" algn="r">
              <a:buNone/>
            </a:pPr>
            <a:r>
              <a:rPr lang="en-US" sz="1100" dirty="0">
                <a:solidFill>
                  <a:srgbClr val="5B6770"/>
                </a:solidFill>
                <a:latin typeface="Calibri" pitchFamily="34" charset="0"/>
                <a:ea typeface="Calibri" pitchFamily="34" charset="-122"/>
                <a:cs typeface="Calibri" pitchFamily="34" charset="-120"/>
              </a:rPr>
              <a:t>18</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B2545"/>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777240"/>
          </a:xfrm>
          <a:prstGeom prst="rect">
            <a:avLst/>
          </a:prstGeom>
          <a:noFill/>
          <a:ln/>
        </p:spPr>
        <p:txBody>
          <a:bodyPr wrap="square" lIns="0" tIns="0" rIns="0" bIns="0"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Conclusiones</a:t>
            </a:r>
            <a:endParaRPr lang="en-US" sz="3400" dirty="0"/>
          </a:p>
        </p:txBody>
      </p:sp>
      <p:sp>
        <p:nvSpPr>
          <p:cNvPr id="3" name="Shape 1"/>
          <p:cNvSpPr/>
          <p:nvPr/>
        </p:nvSpPr>
        <p:spPr>
          <a:xfrm>
            <a:off x="548640" y="1417320"/>
            <a:ext cx="502920" cy="502920"/>
          </a:xfrm>
          <a:prstGeom prst="ellipse">
            <a:avLst/>
          </a:prstGeom>
          <a:solidFill>
            <a:srgbClr val="F2A541"/>
          </a:solidFill>
          <a:ln w="12700">
            <a:solidFill>
              <a:srgbClr val="F2A541"/>
            </a:solidFill>
            <a:prstDash val="solid"/>
          </a:ln>
        </p:spPr>
      </p:sp>
      <p:sp>
        <p:nvSpPr>
          <p:cNvPr id="4" name="Text 2"/>
          <p:cNvSpPr txBox="1"/>
          <p:nvPr/>
        </p:nvSpPr>
        <p:spPr>
          <a:xfrm>
            <a:off x="548640" y="1417320"/>
            <a:ext cx="502920" cy="502920"/>
          </a:xfrm>
          <a:prstGeom prst="rect">
            <a:avLst/>
          </a:prstGeom>
          <a:noFill/>
          <a:ln/>
        </p:spPr>
        <p:txBody>
          <a:bodyPr wrap="square" lIns="0" tIns="0" rIns="0" bIns="0" rtlCol="0" anchor="ctr"/>
          <a:lstStyle/>
          <a:p>
            <a:pPr marL="0" indent="0" algn="ctr">
              <a:buNone/>
            </a:pPr>
            <a:r>
              <a:rPr lang="en-US" sz="1800" b="1" dirty="0">
                <a:solidFill>
                  <a:srgbClr val="0B2545"/>
                </a:solidFill>
                <a:latin typeface="Calibri" pitchFamily="34" charset="0"/>
                <a:ea typeface="Calibri" pitchFamily="34" charset="-122"/>
                <a:cs typeface="Calibri" pitchFamily="34" charset="-120"/>
              </a:rPr>
              <a:t>1</a:t>
            </a:r>
            <a:endParaRPr lang="en-US" sz="1800" dirty="0"/>
          </a:p>
        </p:txBody>
      </p:sp>
      <p:sp>
        <p:nvSpPr>
          <p:cNvPr id="5" name="Text 3"/>
          <p:cNvSpPr txBox="1"/>
          <p:nvPr/>
        </p:nvSpPr>
        <p:spPr>
          <a:xfrm>
            <a:off x="1280160" y="1371600"/>
            <a:ext cx="10332720" cy="603504"/>
          </a:xfrm>
          <a:prstGeom prst="rect">
            <a:avLst/>
          </a:prstGeom>
          <a:noFill/>
          <a:ln/>
        </p:spPr>
        <p:txBody>
          <a:bodyPr wrap="square" lIns="0" tIns="0" rIns="0" bIns="0" rtlCol="0" anchor="ctr"/>
          <a:lstStyle/>
          <a:p>
            <a:pPr marL="0" indent="0">
              <a:buNone/>
            </a:pPr>
            <a:r>
              <a:rPr lang="en-US" sz="1900" dirty="0">
                <a:solidFill>
                  <a:srgbClr val="FFFFFF"/>
                </a:solidFill>
                <a:latin typeface="Calibri" pitchFamily="34" charset="0"/>
                <a:ea typeface="Calibri" pitchFamily="34" charset="-122"/>
                <a:cs typeface="Calibri" pitchFamily="34" charset="-120"/>
              </a:rPr>
              <a:t>El levantamiento define el rumbo del proyecto: de él dependen el diseño, las pruebas y la satisfacción del usuario.</a:t>
            </a:r>
            <a:endParaRPr lang="en-US" sz="1900" dirty="0"/>
          </a:p>
        </p:txBody>
      </p:sp>
      <p:sp>
        <p:nvSpPr>
          <p:cNvPr id="6" name="Shape 4"/>
          <p:cNvSpPr/>
          <p:nvPr/>
        </p:nvSpPr>
        <p:spPr>
          <a:xfrm>
            <a:off x="548640" y="2203704"/>
            <a:ext cx="502920" cy="502920"/>
          </a:xfrm>
          <a:prstGeom prst="ellipse">
            <a:avLst/>
          </a:prstGeom>
          <a:solidFill>
            <a:srgbClr val="F2A541"/>
          </a:solidFill>
          <a:ln w="12700">
            <a:solidFill>
              <a:srgbClr val="F2A541"/>
            </a:solidFill>
            <a:prstDash val="solid"/>
          </a:ln>
        </p:spPr>
      </p:sp>
      <p:sp>
        <p:nvSpPr>
          <p:cNvPr id="7" name="Text 5"/>
          <p:cNvSpPr txBox="1"/>
          <p:nvPr/>
        </p:nvSpPr>
        <p:spPr>
          <a:xfrm>
            <a:off x="548640" y="2203704"/>
            <a:ext cx="502920" cy="502920"/>
          </a:xfrm>
          <a:prstGeom prst="rect">
            <a:avLst/>
          </a:prstGeom>
          <a:noFill/>
          <a:ln/>
        </p:spPr>
        <p:txBody>
          <a:bodyPr wrap="square" lIns="0" tIns="0" rIns="0" bIns="0" rtlCol="0" anchor="ctr"/>
          <a:lstStyle/>
          <a:p>
            <a:pPr marL="0" indent="0" algn="ctr">
              <a:buNone/>
            </a:pPr>
            <a:r>
              <a:rPr lang="en-US" sz="1800" b="1" dirty="0">
                <a:solidFill>
                  <a:srgbClr val="0B2545"/>
                </a:solidFill>
                <a:latin typeface="Calibri" pitchFamily="34" charset="0"/>
                <a:ea typeface="Calibri" pitchFamily="34" charset="-122"/>
                <a:cs typeface="Calibri" pitchFamily="34" charset="-120"/>
              </a:rPr>
              <a:t>2</a:t>
            </a:r>
            <a:endParaRPr lang="en-US" sz="1800" dirty="0"/>
          </a:p>
        </p:txBody>
      </p:sp>
      <p:sp>
        <p:nvSpPr>
          <p:cNvPr id="8" name="Text 6"/>
          <p:cNvSpPr txBox="1"/>
          <p:nvPr/>
        </p:nvSpPr>
        <p:spPr>
          <a:xfrm>
            <a:off x="1280160" y="2157984"/>
            <a:ext cx="10332720" cy="603504"/>
          </a:xfrm>
          <a:prstGeom prst="rect">
            <a:avLst/>
          </a:prstGeom>
          <a:noFill/>
          <a:ln/>
        </p:spPr>
        <p:txBody>
          <a:bodyPr wrap="square" lIns="0" tIns="0" rIns="0" bIns="0" rtlCol="0" anchor="ctr"/>
          <a:lstStyle/>
          <a:p>
            <a:pPr marL="0" indent="0">
              <a:buNone/>
            </a:pPr>
            <a:r>
              <a:rPr lang="en-US" sz="1900" dirty="0">
                <a:solidFill>
                  <a:srgbClr val="FFFFFF"/>
                </a:solidFill>
                <a:latin typeface="Calibri" pitchFamily="34" charset="0"/>
                <a:ea typeface="Calibri" pitchFamily="34" charset="-122"/>
                <a:cs typeface="Calibri" pitchFamily="34" charset="-120"/>
              </a:rPr>
              <a:t>Consiste en descubrir, analizar y acordar necesidades, no solo recolectar solicitudes.</a:t>
            </a:r>
            <a:endParaRPr lang="en-US" sz="1900" dirty="0"/>
          </a:p>
        </p:txBody>
      </p:sp>
      <p:sp>
        <p:nvSpPr>
          <p:cNvPr id="9" name="Shape 7"/>
          <p:cNvSpPr/>
          <p:nvPr/>
        </p:nvSpPr>
        <p:spPr>
          <a:xfrm>
            <a:off x="548640" y="2990088"/>
            <a:ext cx="502920" cy="502920"/>
          </a:xfrm>
          <a:prstGeom prst="ellipse">
            <a:avLst/>
          </a:prstGeom>
          <a:solidFill>
            <a:srgbClr val="F2A541"/>
          </a:solidFill>
          <a:ln w="12700">
            <a:solidFill>
              <a:srgbClr val="F2A541"/>
            </a:solidFill>
            <a:prstDash val="solid"/>
          </a:ln>
        </p:spPr>
      </p:sp>
      <p:sp>
        <p:nvSpPr>
          <p:cNvPr id="10" name="Text 8"/>
          <p:cNvSpPr txBox="1"/>
          <p:nvPr/>
        </p:nvSpPr>
        <p:spPr>
          <a:xfrm>
            <a:off x="548640" y="2990088"/>
            <a:ext cx="502920" cy="502920"/>
          </a:xfrm>
          <a:prstGeom prst="rect">
            <a:avLst/>
          </a:prstGeom>
          <a:noFill/>
          <a:ln/>
        </p:spPr>
        <p:txBody>
          <a:bodyPr wrap="square" lIns="0" tIns="0" rIns="0" bIns="0" rtlCol="0" anchor="ctr"/>
          <a:lstStyle/>
          <a:p>
            <a:pPr marL="0" indent="0" algn="ctr">
              <a:buNone/>
            </a:pPr>
            <a:r>
              <a:rPr lang="en-US" sz="1800" b="1" dirty="0">
                <a:solidFill>
                  <a:srgbClr val="0B2545"/>
                </a:solidFill>
                <a:latin typeface="Calibri" pitchFamily="34" charset="0"/>
                <a:ea typeface="Calibri" pitchFamily="34" charset="-122"/>
                <a:cs typeface="Calibri" pitchFamily="34" charset="-120"/>
              </a:rPr>
              <a:t>3</a:t>
            </a:r>
            <a:endParaRPr lang="en-US" sz="1800" dirty="0"/>
          </a:p>
        </p:txBody>
      </p:sp>
      <p:sp>
        <p:nvSpPr>
          <p:cNvPr id="11" name="Text 9"/>
          <p:cNvSpPr txBox="1"/>
          <p:nvPr/>
        </p:nvSpPr>
        <p:spPr>
          <a:xfrm>
            <a:off x="1280160" y="2944368"/>
            <a:ext cx="10332720" cy="603504"/>
          </a:xfrm>
          <a:prstGeom prst="rect">
            <a:avLst/>
          </a:prstGeom>
          <a:noFill/>
          <a:ln/>
        </p:spPr>
        <p:txBody>
          <a:bodyPr wrap="square" lIns="0" tIns="0" rIns="0" bIns="0" rtlCol="0" anchor="ctr"/>
          <a:lstStyle/>
          <a:p>
            <a:pPr marL="0" indent="0">
              <a:buNone/>
            </a:pPr>
            <a:r>
              <a:rPr lang="en-US" sz="1900" dirty="0">
                <a:solidFill>
                  <a:srgbClr val="FFFFFF"/>
                </a:solidFill>
                <a:latin typeface="Calibri" pitchFamily="34" charset="0"/>
                <a:ea typeface="Calibri" pitchFamily="34" charset="-122"/>
                <a:cs typeface="Calibri" pitchFamily="34" charset="-120"/>
              </a:rPr>
              <a:t>Ninguna técnica sirve para todo: se combinan según el contexto.</a:t>
            </a:r>
            <a:endParaRPr lang="en-US" sz="1900" dirty="0"/>
          </a:p>
        </p:txBody>
      </p:sp>
      <p:sp>
        <p:nvSpPr>
          <p:cNvPr id="12" name="Shape 10"/>
          <p:cNvSpPr/>
          <p:nvPr/>
        </p:nvSpPr>
        <p:spPr>
          <a:xfrm>
            <a:off x="548640" y="3776472"/>
            <a:ext cx="502920" cy="502920"/>
          </a:xfrm>
          <a:prstGeom prst="ellipse">
            <a:avLst/>
          </a:prstGeom>
          <a:solidFill>
            <a:srgbClr val="F2A541"/>
          </a:solidFill>
          <a:ln w="12700">
            <a:solidFill>
              <a:srgbClr val="F2A541"/>
            </a:solidFill>
            <a:prstDash val="solid"/>
          </a:ln>
        </p:spPr>
      </p:sp>
      <p:sp>
        <p:nvSpPr>
          <p:cNvPr id="13" name="Text 11"/>
          <p:cNvSpPr txBox="1"/>
          <p:nvPr/>
        </p:nvSpPr>
        <p:spPr>
          <a:xfrm>
            <a:off x="548640" y="3776472"/>
            <a:ext cx="502920" cy="502920"/>
          </a:xfrm>
          <a:prstGeom prst="rect">
            <a:avLst/>
          </a:prstGeom>
          <a:noFill/>
          <a:ln/>
        </p:spPr>
        <p:txBody>
          <a:bodyPr wrap="square" lIns="0" tIns="0" rIns="0" bIns="0" rtlCol="0" anchor="ctr"/>
          <a:lstStyle/>
          <a:p>
            <a:pPr marL="0" indent="0" algn="ctr">
              <a:buNone/>
            </a:pPr>
            <a:r>
              <a:rPr lang="en-US" sz="1800" b="1" dirty="0">
                <a:solidFill>
                  <a:srgbClr val="0B2545"/>
                </a:solidFill>
                <a:latin typeface="Calibri" pitchFamily="34" charset="0"/>
                <a:ea typeface="Calibri" pitchFamily="34" charset="-122"/>
                <a:cs typeface="Calibri" pitchFamily="34" charset="-120"/>
              </a:rPr>
              <a:t>4</a:t>
            </a:r>
            <a:endParaRPr lang="en-US" sz="1800" dirty="0"/>
          </a:p>
        </p:txBody>
      </p:sp>
      <p:sp>
        <p:nvSpPr>
          <p:cNvPr id="14" name="Text 12"/>
          <p:cNvSpPr txBox="1"/>
          <p:nvPr/>
        </p:nvSpPr>
        <p:spPr>
          <a:xfrm>
            <a:off x="1280160" y="3730752"/>
            <a:ext cx="10332720" cy="603504"/>
          </a:xfrm>
          <a:prstGeom prst="rect">
            <a:avLst/>
          </a:prstGeom>
          <a:noFill/>
          <a:ln/>
        </p:spPr>
        <p:txBody>
          <a:bodyPr wrap="square" lIns="0" tIns="0" rIns="0" bIns="0" rtlCol="0" anchor="ctr"/>
          <a:lstStyle/>
          <a:p>
            <a:pPr marL="0" indent="0">
              <a:buNone/>
            </a:pPr>
            <a:r>
              <a:rPr lang="en-US" sz="1900" dirty="0">
                <a:solidFill>
                  <a:srgbClr val="FFFFFF"/>
                </a:solidFill>
                <a:latin typeface="Calibri" pitchFamily="34" charset="0"/>
                <a:ea typeface="Calibri" pitchFamily="34" charset="-122"/>
                <a:cs typeface="Calibri" pitchFamily="34" charset="-120"/>
              </a:rPr>
              <a:t>Los requerimientos deben ser claros, verificables, priorizados y trazables.</a:t>
            </a:r>
            <a:endParaRPr lang="en-US" sz="1900" dirty="0"/>
          </a:p>
        </p:txBody>
      </p:sp>
      <p:sp>
        <p:nvSpPr>
          <p:cNvPr id="15" name="Shape 13"/>
          <p:cNvSpPr/>
          <p:nvPr/>
        </p:nvSpPr>
        <p:spPr>
          <a:xfrm>
            <a:off x="548640" y="4562856"/>
            <a:ext cx="502920" cy="502920"/>
          </a:xfrm>
          <a:prstGeom prst="ellipse">
            <a:avLst/>
          </a:prstGeom>
          <a:solidFill>
            <a:srgbClr val="F2A541"/>
          </a:solidFill>
          <a:ln w="12700">
            <a:solidFill>
              <a:srgbClr val="F2A541"/>
            </a:solidFill>
            <a:prstDash val="solid"/>
          </a:ln>
        </p:spPr>
      </p:sp>
      <p:sp>
        <p:nvSpPr>
          <p:cNvPr id="16" name="Text 14"/>
          <p:cNvSpPr txBox="1"/>
          <p:nvPr/>
        </p:nvSpPr>
        <p:spPr>
          <a:xfrm>
            <a:off x="548640" y="4562856"/>
            <a:ext cx="502920" cy="502920"/>
          </a:xfrm>
          <a:prstGeom prst="rect">
            <a:avLst/>
          </a:prstGeom>
          <a:noFill/>
          <a:ln/>
        </p:spPr>
        <p:txBody>
          <a:bodyPr wrap="square" lIns="0" tIns="0" rIns="0" bIns="0" rtlCol="0" anchor="ctr"/>
          <a:lstStyle/>
          <a:p>
            <a:pPr marL="0" indent="0" algn="ctr">
              <a:buNone/>
            </a:pPr>
            <a:r>
              <a:rPr lang="en-US" sz="1800" b="1" dirty="0">
                <a:solidFill>
                  <a:srgbClr val="0B2545"/>
                </a:solidFill>
                <a:latin typeface="Calibri" pitchFamily="34" charset="0"/>
                <a:ea typeface="Calibri" pitchFamily="34" charset="-122"/>
                <a:cs typeface="Calibri" pitchFamily="34" charset="-120"/>
              </a:rPr>
              <a:t>5</a:t>
            </a:r>
            <a:endParaRPr lang="en-US" sz="1800" dirty="0"/>
          </a:p>
        </p:txBody>
      </p:sp>
      <p:sp>
        <p:nvSpPr>
          <p:cNvPr id="17" name="Text 15"/>
          <p:cNvSpPr txBox="1"/>
          <p:nvPr/>
        </p:nvSpPr>
        <p:spPr>
          <a:xfrm>
            <a:off x="1280160" y="4517136"/>
            <a:ext cx="10332720" cy="603504"/>
          </a:xfrm>
          <a:prstGeom prst="rect">
            <a:avLst/>
          </a:prstGeom>
          <a:noFill/>
          <a:ln/>
        </p:spPr>
        <p:txBody>
          <a:bodyPr wrap="square" lIns="0" tIns="0" rIns="0" bIns="0" rtlCol="0" anchor="ctr"/>
          <a:lstStyle/>
          <a:p>
            <a:pPr marL="0" indent="0">
              <a:buNone/>
            </a:pPr>
            <a:r>
              <a:rPr lang="en-US" sz="1900" dirty="0">
                <a:solidFill>
                  <a:srgbClr val="FFFFFF"/>
                </a:solidFill>
                <a:latin typeface="Calibri" pitchFamily="34" charset="0"/>
                <a:ea typeface="Calibri" pitchFamily="34" charset="-122"/>
                <a:cs typeface="Calibri" pitchFamily="34" charset="-120"/>
              </a:rPr>
              <a:t>Tanto en enfoques tradicionales como ágiles, gestionar los cambios es clave.</a:t>
            </a:r>
            <a:endParaRPr lang="en-US" sz="1900" dirty="0"/>
          </a:p>
        </p:txBody>
      </p:sp>
      <p:sp>
        <p:nvSpPr>
          <p:cNvPr id="18" name="Shape 16"/>
          <p:cNvSpPr/>
          <p:nvPr/>
        </p:nvSpPr>
        <p:spPr>
          <a:xfrm>
            <a:off x="548640" y="5440680"/>
            <a:ext cx="11064240" cy="777240"/>
          </a:xfrm>
          <a:prstGeom prst="roundRect">
            <a:avLst>
              <a:gd name="adj" fmla="val 14118"/>
            </a:avLst>
          </a:prstGeom>
          <a:solidFill>
            <a:srgbClr val="1B7F79"/>
          </a:solidFill>
          <a:ln w="9525">
            <a:solidFill>
              <a:srgbClr val="1B7F79"/>
            </a:solidFill>
            <a:prstDash val="solid"/>
          </a:ln>
        </p:spPr>
      </p:sp>
      <p:sp>
        <p:nvSpPr>
          <p:cNvPr id="19" name="Text 17"/>
          <p:cNvSpPr txBox="1"/>
          <p:nvPr/>
        </p:nvSpPr>
        <p:spPr>
          <a:xfrm>
            <a:off x="548640" y="5440680"/>
            <a:ext cx="11064240" cy="777240"/>
          </a:xfrm>
          <a:prstGeom prst="rect">
            <a:avLst/>
          </a:prstGeom>
          <a:noFill/>
          <a:ln/>
        </p:spPr>
        <p:txBody>
          <a:bodyPr wrap="square" lIns="0" tIns="0" rIns="0" bIns="0" rtlCol="0" anchor="ctr"/>
          <a:lstStyle/>
          <a:p>
            <a:pPr marL="0" indent="0" algn="ctr">
              <a:buNone/>
            </a:pPr>
            <a:r>
              <a:rPr lang="en-US" sz="3000" b="1" dirty="0">
                <a:solidFill>
                  <a:srgbClr val="FFFFFF"/>
                </a:solidFill>
                <a:latin typeface="Cambria" pitchFamily="34" charset="0"/>
                <a:ea typeface="Cambria" pitchFamily="34" charset="-122"/>
                <a:cs typeface="Cambria" pitchFamily="34" charset="-120"/>
              </a:rPr>
              <a:t>¿Preguntas?</a:t>
            </a:r>
            <a:endParaRPr lang="en-US" sz="3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TotalTime>
  <Words>2423</Words>
  <Application>Microsoft Office PowerPoint</Application>
  <PresentationFormat>Widescreen</PresentationFormat>
  <Paragraphs>324</Paragraphs>
  <Slides>19</Slides>
  <Notes>19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Levantamiento de requerimientos</dc:title>
  <dc:subject>PptxGenJS Presentation</dc:subject>
  <dc:creator>PptxGenJS</dc:creator>
  <cp:lastModifiedBy>JOSE SOUSA</cp:lastModifiedBy>
  <cp:revision>2</cp:revision>
  <dcterms:created xsi:type="dcterms:W3CDTF">2026-09-21T05:29:14Z</dcterms:created>
  <dcterms:modified xsi:type="dcterms:W3CDTF">2026-09-21T06:56:10Z</dcterms:modified>
</cp:coreProperties>
</file>